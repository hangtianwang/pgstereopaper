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handoutMasterIdLst>
    <p:handoutMasterId r:id="rId15"/>
  </p:handoutMasterIdLst>
  <p:sldIdLst>
    <p:sldId id="260" r:id="rId2"/>
    <p:sldId id="545" r:id="rId3"/>
    <p:sldId id="590" r:id="rId4"/>
    <p:sldId id="621" r:id="rId5"/>
    <p:sldId id="761" r:id="rId6"/>
    <p:sldId id="635" r:id="rId7"/>
    <p:sldId id="760" r:id="rId8"/>
    <p:sldId id="758" r:id="rId9"/>
    <p:sldId id="759" r:id="rId10"/>
    <p:sldId id="751" r:id="rId11"/>
    <p:sldId id="629" r:id="rId12"/>
    <p:sldId id="597" r:id="rId13"/>
  </p:sldIdLst>
  <p:sldSz cx="12192000" cy="6858000"/>
  <p:notesSz cx="6858000" cy="9144000"/>
  <p:embeddedFontLst>
    <p:embeddedFont>
      <p:font typeface="思源黑体 CN Bold" panose="02010600030101010101" charset="-122"/>
      <p:bold r:id="rId16"/>
    </p:embeddedFont>
    <p:embeddedFont>
      <p:font typeface="Verdana" panose="020B0604030504040204" pitchFamily="34" charset="0"/>
      <p:regular r:id="rId17"/>
      <p:bold r:id="rId18"/>
      <p:italic r:id="rId19"/>
      <p:boldItalic r:id="rId20"/>
    </p:embeddedFont>
    <p:embeddedFont>
      <p:font typeface="等线" panose="02010600030101010101" pitchFamily="2" charset="-122"/>
      <p:regular r:id="rId21"/>
      <p:bold r:id="rId22"/>
    </p:embeddedFont>
    <p:embeddedFont>
      <p:font typeface="黑体" panose="02010609060101010101" pitchFamily="49" charset="-122"/>
      <p:regular r:id="rId23"/>
    </p:embeddedFont>
    <p:embeddedFont>
      <p:font typeface="华文楷体" panose="02010600040101010101" pitchFamily="2" charset="-122"/>
      <p:regular r:id="rId24"/>
    </p:embeddedFont>
    <p:embeddedFont>
      <p:font typeface="华文隶书" panose="02010800040101010101" pitchFamily="2" charset="-122"/>
      <p:regular r:id="rId25"/>
    </p:embeddedFont>
    <p:embeddedFont>
      <p:font typeface="华文细黑" panose="02010600040101010101" pitchFamily="2" charset="-122"/>
      <p:regular r:id="rId26"/>
    </p:embeddedFont>
    <p:embeddedFont>
      <p:font typeface="楷体" panose="02010609060101010101" pitchFamily="49" charset="-122"/>
      <p:regular r:id="rId27"/>
    </p:embeddedFont>
    <p:embeddedFont>
      <p:font typeface="微软雅黑" panose="020B0503020204020204" pitchFamily="34" charset="-122"/>
      <p:regular r:id="rId28"/>
      <p:bold r:id="rId2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937C2"/>
    <a:srgbClr val="FF99FF"/>
    <a:srgbClr val="916C94"/>
    <a:srgbClr val="4EA4DD"/>
    <a:srgbClr val="20517C"/>
    <a:srgbClr val="E8EAE9"/>
    <a:srgbClr val="FFFFFF"/>
    <a:srgbClr val="A5A5A5"/>
    <a:srgbClr val="16A2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5385" autoAdjust="0"/>
  </p:normalViewPr>
  <p:slideViewPr>
    <p:cSldViewPr>
      <p:cViewPr varScale="1">
        <p:scale>
          <a:sx n="104" d="100"/>
          <a:sy n="104" d="100"/>
        </p:scale>
        <p:origin x="792" y="108"/>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480FC4-C496-4F93-81C5-2794A775976F}" type="datetimeFigureOut">
              <a:rPr lang="zh-CN" altLang="en-US" smtClean="0"/>
              <a:t>2025/2/21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75ED9D-A359-47D3-9083-38E91EB725D2}"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C0BA0B-DAEA-4680-AAC1-9E8B91E60633}" type="datetimeFigureOut">
              <a:rPr lang="zh-CN" altLang="en-US" smtClean="0"/>
              <a:t>2025/2/21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BA15-3F6E-4149-9019-6609FD57F75E}"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C7DBA15-3F6E-4149-9019-6609FD57F7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C7DBA15-3F6E-4149-9019-6609FD57F75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indent="0" eaLnBrk="0" hangingPunct="0">
              <a:buFont typeface="Wingdings" panose="05000000000000000000" pitchFamily="2" charset="2"/>
              <a:buNone/>
            </a:pPr>
            <a:r>
              <a:rPr lang="zh-CN" altLang="en-US" sz="2800" dirty="0">
                <a:latin typeface="Arial" panose="020B0604020202020204" pitchFamily="34" charset="0"/>
                <a:cs typeface="Arial" panose="020B0604020202020204" pitchFamily="34" charset="0"/>
              </a:rPr>
              <a:t>文字稍微有点多</a:t>
            </a: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indent="0" eaLnBrk="0" hangingPunct="0">
              <a:buFont typeface="Wingdings" panose="05000000000000000000" pitchFamily="2" charset="2"/>
              <a:buNone/>
            </a:pPr>
            <a:r>
              <a:rPr lang="zh-CN" altLang="en-US" sz="2800" dirty="0">
                <a:latin typeface="Arial" panose="020B0604020202020204" pitchFamily="34" charset="0"/>
                <a:cs typeface="Arial" panose="020B0604020202020204" pitchFamily="34" charset="0"/>
              </a:rPr>
              <a:t>格式记得调整对齐</a:t>
            </a: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D60D8-9FE3-94A7-6A06-E956EDED83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BBA172-16B9-4F0A-622D-AE8D366FB9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29DF4E-D30C-3DB9-F470-DFCBAA6E07C0}"/>
              </a:ext>
            </a:extLst>
          </p:cNvPr>
          <p:cNvSpPr>
            <a:spLocks noGrp="1"/>
          </p:cNvSpPr>
          <p:nvPr>
            <p:ph type="body" idx="1"/>
          </p:nvPr>
        </p:nvSpPr>
        <p:spPr/>
        <p:txBody>
          <a:bodyPr>
            <a:normAutofit/>
          </a:bodyPr>
          <a:lstStyle/>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2F5385AC-6A10-0C26-055D-EB53454D8F30}"/>
              </a:ext>
            </a:extLst>
          </p:cNvPr>
          <p:cNvSpPr>
            <a:spLocks noGrp="1"/>
          </p:cNvSpPr>
          <p:nvPr>
            <p:ph type="sldNum" sz="quarter" idx="10"/>
          </p:nvPr>
        </p:nvSpPr>
        <p:spPr/>
        <p:txBody>
          <a:bodyPr/>
          <a:lstStyle/>
          <a:p>
            <a:fld id="{2C7DBA15-3F6E-4149-9019-6609FD57F75E}" type="slidenum">
              <a:rPr lang="zh-CN" altLang="en-US" smtClean="0"/>
              <a:t>5</a:t>
            </a:fld>
            <a:endParaRPr lang="zh-CN" altLang="en-US"/>
          </a:p>
        </p:txBody>
      </p:sp>
    </p:spTree>
    <p:extLst>
      <p:ext uri="{BB962C8B-B14F-4D97-AF65-F5344CB8AC3E}">
        <p14:creationId xmlns:p14="http://schemas.microsoft.com/office/powerpoint/2010/main" val="1438319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t>6</a:t>
            </a:fld>
            <a:endParaRPr lang="zh-CN" altLang="en-US"/>
          </a:p>
        </p:txBody>
      </p:sp>
    </p:spTree>
    <p:extLst>
      <p:ext uri="{BB962C8B-B14F-4D97-AF65-F5344CB8AC3E}">
        <p14:creationId xmlns:p14="http://schemas.microsoft.com/office/powerpoint/2010/main" val="212731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19C35-ADDA-C7CA-A11C-BF835ECC61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622E5A-1651-6A4C-2868-A5F78117DE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7F626A-A274-5AAF-2257-F1511B9365C0}"/>
              </a:ext>
            </a:extLst>
          </p:cNvPr>
          <p:cNvSpPr>
            <a:spLocks noGrp="1"/>
          </p:cNvSpPr>
          <p:nvPr>
            <p:ph type="body" idx="1"/>
          </p:nvPr>
        </p:nvSpPr>
        <p:spPr/>
        <p:txBody>
          <a:bodyPr>
            <a:normAutofit/>
          </a:bodyPr>
          <a:lstStyle/>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D1C9028D-C17A-369F-5085-88C60627C6A3}"/>
              </a:ext>
            </a:extLst>
          </p:cNvPr>
          <p:cNvSpPr>
            <a:spLocks noGrp="1"/>
          </p:cNvSpPr>
          <p:nvPr>
            <p:ph type="sldNum" sz="quarter" idx="10"/>
          </p:nvPr>
        </p:nvSpPr>
        <p:spPr/>
        <p:txBody>
          <a:bodyPr/>
          <a:lstStyle/>
          <a:p>
            <a:fld id="{2C7DBA15-3F6E-4149-9019-6609FD57F75E}" type="slidenum">
              <a:rPr lang="zh-CN" altLang="en-US" smtClean="0"/>
              <a:t>7</a:t>
            </a:fld>
            <a:endParaRPr lang="zh-CN" altLang="en-US"/>
          </a:p>
        </p:txBody>
      </p:sp>
    </p:spTree>
    <p:extLst>
      <p:ext uri="{BB962C8B-B14F-4D97-AF65-F5344CB8AC3E}">
        <p14:creationId xmlns:p14="http://schemas.microsoft.com/office/powerpoint/2010/main" val="575421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63923-624B-E8E4-ECE8-B05CC39FA2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0F3659-982D-56CF-800B-1D209B068B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A7A32D-C9A7-4580-3060-CA9D46EA20F5}"/>
              </a:ext>
            </a:extLst>
          </p:cNvPr>
          <p:cNvSpPr>
            <a:spLocks noGrp="1"/>
          </p:cNvSpPr>
          <p:nvPr>
            <p:ph type="body" idx="1"/>
          </p:nvPr>
        </p:nvSpPr>
        <p:spPr/>
        <p:txBody>
          <a:bodyPr>
            <a:normAutofit/>
          </a:bodyPr>
          <a:lstStyle/>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145ADDE7-6951-701F-CFF1-0764481CB089}"/>
              </a:ext>
            </a:extLst>
          </p:cNvPr>
          <p:cNvSpPr>
            <a:spLocks noGrp="1"/>
          </p:cNvSpPr>
          <p:nvPr>
            <p:ph type="sldNum" sz="quarter" idx="10"/>
          </p:nvPr>
        </p:nvSpPr>
        <p:spPr/>
        <p:txBody>
          <a:bodyPr/>
          <a:lstStyle/>
          <a:p>
            <a:fld id="{2C7DBA15-3F6E-4149-9019-6609FD57F75E}" type="slidenum">
              <a:rPr lang="zh-CN" altLang="en-US" smtClean="0"/>
              <a:t>8</a:t>
            </a:fld>
            <a:endParaRPr lang="zh-CN" altLang="en-US"/>
          </a:p>
        </p:txBody>
      </p:sp>
    </p:spTree>
    <p:extLst>
      <p:ext uri="{BB962C8B-B14F-4D97-AF65-F5344CB8AC3E}">
        <p14:creationId xmlns:p14="http://schemas.microsoft.com/office/powerpoint/2010/main" val="1415437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AA8D8-FA50-FF2F-B873-BA8F0C7BC2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163FF9-5D34-97CA-813B-E4AB0B1836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9ACE0B-460C-4220-EA5B-4760B8354A2F}"/>
              </a:ext>
            </a:extLst>
          </p:cNvPr>
          <p:cNvSpPr>
            <a:spLocks noGrp="1"/>
          </p:cNvSpPr>
          <p:nvPr>
            <p:ph type="body" idx="1"/>
          </p:nvPr>
        </p:nvSpPr>
        <p:spPr/>
        <p:txBody>
          <a:bodyPr>
            <a:normAutofit/>
          </a:bodyPr>
          <a:lstStyle/>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5C3C97E9-D5F4-1196-B693-4A9FC3869258}"/>
              </a:ext>
            </a:extLst>
          </p:cNvPr>
          <p:cNvSpPr>
            <a:spLocks noGrp="1"/>
          </p:cNvSpPr>
          <p:nvPr>
            <p:ph type="sldNum" sz="quarter" idx="10"/>
          </p:nvPr>
        </p:nvSpPr>
        <p:spPr/>
        <p:txBody>
          <a:bodyPr/>
          <a:lstStyle/>
          <a:p>
            <a:fld id="{2C7DBA15-3F6E-4149-9019-6609FD57F75E}" type="slidenum">
              <a:rPr lang="zh-CN" altLang="en-US" smtClean="0"/>
              <a:t>9</a:t>
            </a:fld>
            <a:endParaRPr lang="zh-CN" altLang="en-US"/>
          </a:p>
        </p:txBody>
      </p:sp>
    </p:spTree>
    <p:extLst>
      <p:ext uri="{BB962C8B-B14F-4D97-AF65-F5344CB8AC3E}">
        <p14:creationId xmlns:p14="http://schemas.microsoft.com/office/powerpoint/2010/main" val="557937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t>10</a:t>
            </a:fld>
            <a:endParaRPr lang="zh-CN" altLang="en-US"/>
          </a:p>
        </p:txBody>
      </p:sp>
    </p:spTree>
    <p:extLst>
      <p:ext uri="{BB962C8B-B14F-4D97-AF65-F5344CB8AC3E}">
        <p14:creationId xmlns:p14="http://schemas.microsoft.com/office/powerpoint/2010/main" val="3225350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t>11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
        <p:nvSpPr>
          <p:cNvPr id="4" name="矩形 3"/>
          <p:cNvSpPr/>
          <p:nvPr userDrawn="1"/>
        </p:nvSpPr>
        <p:spPr>
          <a:xfrm>
            <a:off x="-24680" y="0"/>
            <a:ext cx="12216680" cy="2132856"/>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p:cNvSpPr/>
          <p:nvPr userDrawn="1"/>
        </p:nvSpPr>
        <p:spPr>
          <a:xfrm>
            <a:off x="-24680" y="5301208"/>
            <a:ext cx="12216680" cy="1556792"/>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文本占位符 145"/>
          <p:cNvSpPr>
            <a:spLocks noGrp="1"/>
          </p:cNvSpPr>
          <p:nvPr>
            <p:ph type="body" sz="quarter" idx="10" hasCustomPrompt="1"/>
          </p:nvPr>
        </p:nvSpPr>
        <p:spPr>
          <a:xfrm>
            <a:off x="839416" y="2924944"/>
            <a:ext cx="6549312" cy="808633"/>
          </a:xfrm>
          <a:prstGeom prst="rect">
            <a:avLst/>
          </a:prstGeom>
        </p:spPr>
        <p:txBody>
          <a:bodyPr/>
          <a:lstStyle>
            <a:lvl1pPr marL="0" indent="0" algn="l">
              <a:buNone/>
              <a:defRPr sz="4800" b="1">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毕业论文答辩</a:t>
            </a:r>
            <a:r>
              <a:rPr lang="en-US" altLang="zh-CN" dirty="0"/>
              <a:t>PPT</a:t>
            </a:r>
            <a:r>
              <a:rPr lang="zh-CN" altLang="en-US" dirty="0"/>
              <a:t>模板</a:t>
            </a:r>
          </a:p>
        </p:txBody>
      </p:sp>
      <p:sp>
        <p:nvSpPr>
          <p:cNvPr id="149" name="文本占位符 148"/>
          <p:cNvSpPr>
            <a:spLocks noGrp="1"/>
          </p:cNvSpPr>
          <p:nvPr>
            <p:ph type="body" sz="quarter" idx="11" hasCustomPrompt="1"/>
          </p:nvPr>
        </p:nvSpPr>
        <p:spPr>
          <a:xfrm>
            <a:off x="839415" y="3958958"/>
            <a:ext cx="3379105" cy="503237"/>
          </a:xfrm>
          <a:prstGeom prst="rect">
            <a:avLst/>
          </a:prstGeom>
        </p:spPr>
        <p:txBody>
          <a:bodyPr/>
          <a:lstStyle>
            <a:lvl1pPr>
              <a:defRPr sz="2400" b="1">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学院：金融学院</a:t>
            </a:r>
          </a:p>
        </p:txBody>
      </p:sp>
      <p:sp>
        <p:nvSpPr>
          <p:cNvPr id="150" name="文本占位符 148"/>
          <p:cNvSpPr>
            <a:spLocks noGrp="1"/>
          </p:cNvSpPr>
          <p:nvPr>
            <p:ph type="body" sz="quarter" idx="12" hasCustomPrompt="1"/>
          </p:nvPr>
        </p:nvSpPr>
        <p:spPr>
          <a:xfrm>
            <a:off x="4362537" y="3958958"/>
            <a:ext cx="3389647" cy="503237"/>
          </a:xfrm>
          <a:prstGeom prst="rect">
            <a:avLst/>
          </a:prstGeom>
        </p:spPr>
        <p:txBody>
          <a:bodyPr/>
          <a:lstStyle>
            <a:lvl1pPr>
              <a:defRPr sz="2400" b="1">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专业：国际金融</a:t>
            </a:r>
          </a:p>
        </p:txBody>
      </p:sp>
      <p:sp>
        <p:nvSpPr>
          <p:cNvPr id="151" name="文本占位符 148"/>
          <p:cNvSpPr>
            <a:spLocks noGrp="1"/>
          </p:cNvSpPr>
          <p:nvPr>
            <p:ph type="body" sz="quarter" idx="13" hasCustomPrompt="1"/>
          </p:nvPr>
        </p:nvSpPr>
        <p:spPr>
          <a:xfrm>
            <a:off x="6717772" y="5950099"/>
            <a:ext cx="2618588" cy="503237"/>
          </a:xfrm>
          <a:prstGeom prst="rect">
            <a:avLst/>
          </a:prstGeom>
        </p:spPr>
        <p:txBody>
          <a:bodyPr/>
          <a:lstStyle>
            <a:lvl1pPr>
              <a:defRPr sz="24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答辩人：北纬君</a:t>
            </a:r>
          </a:p>
        </p:txBody>
      </p:sp>
      <p:sp>
        <p:nvSpPr>
          <p:cNvPr id="152" name="文本占位符 148"/>
          <p:cNvSpPr>
            <a:spLocks noGrp="1"/>
          </p:cNvSpPr>
          <p:nvPr>
            <p:ph type="body" sz="quarter" idx="14" hasCustomPrompt="1"/>
          </p:nvPr>
        </p:nvSpPr>
        <p:spPr>
          <a:xfrm>
            <a:off x="9475105" y="5950099"/>
            <a:ext cx="2716895" cy="503237"/>
          </a:xfrm>
          <a:prstGeom prst="rect">
            <a:avLst/>
          </a:prstGeom>
        </p:spPr>
        <p:txBody>
          <a:bodyPr/>
          <a:lstStyle>
            <a:lvl1pPr marL="0" indent="0">
              <a:buNone/>
              <a:defRPr sz="24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指导老师：北纬君</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2">
    <p:spTree>
      <p:nvGrpSpPr>
        <p:cNvPr id="1" name=""/>
        <p:cNvGrpSpPr/>
        <p:nvPr/>
      </p:nvGrpSpPr>
      <p:grpSpPr>
        <a:xfrm>
          <a:off x="0" y="0"/>
          <a:ext cx="0" cy="0"/>
          <a:chOff x="0" y="0"/>
          <a:chExt cx="0" cy="0"/>
        </a:xfrm>
      </p:grpSpPr>
      <p:sp>
        <p:nvSpPr>
          <p:cNvPr id="3" name="矩形 2"/>
          <p:cNvSpPr/>
          <p:nvPr userDrawn="1"/>
        </p:nvSpPr>
        <p:spPr>
          <a:xfrm>
            <a:off x="0" y="0"/>
            <a:ext cx="3359696" cy="685800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707740" y="692696"/>
            <a:ext cx="2003884" cy="1938992"/>
          </a:xfrm>
          <a:prstGeom prst="rect">
            <a:avLst/>
          </a:prstGeom>
          <a:noFill/>
        </p:spPr>
        <p:txBody>
          <a:bodyPr wrap="square" rtlCol="0">
            <a:spAutoFit/>
          </a:bodyPr>
          <a:lstStyle/>
          <a:p>
            <a:pPr algn="dist"/>
            <a:r>
              <a:rPr lang="zh-CN" altLang="en-US" sz="6000" b="0" dirty="0">
                <a:solidFill>
                  <a:schemeClr val="bg1"/>
                </a:solidFill>
                <a:latin typeface="微软雅黑" panose="020B0503020204020204" pitchFamily="34" charset="-122"/>
                <a:ea typeface="微软雅黑" panose="020B0503020204020204" pitchFamily="34" charset="-122"/>
              </a:rPr>
              <a:t>汇报提纲</a:t>
            </a:r>
          </a:p>
        </p:txBody>
      </p:sp>
      <p:sp>
        <p:nvSpPr>
          <p:cNvPr id="56" name="文本占位符 148"/>
          <p:cNvSpPr>
            <a:spLocks noGrp="1"/>
          </p:cNvSpPr>
          <p:nvPr>
            <p:ph type="body" sz="quarter" idx="11" hasCustomPrompt="1"/>
          </p:nvPr>
        </p:nvSpPr>
        <p:spPr>
          <a:xfrm>
            <a:off x="5159896"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01</a:t>
            </a:r>
            <a:endParaRPr lang="zh-CN" altLang="en-US" dirty="0"/>
          </a:p>
        </p:txBody>
      </p:sp>
      <p:sp>
        <p:nvSpPr>
          <p:cNvPr id="57" name="文本占位符 148"/>
          <p:cNvSpPr>
            <a:spLocks noGrp="1"/>
          </p:cNvSpPr>
          <p:nvPr>
            <p:ph type="body" sz="quarter" idx="12" hasCustomPrompt="1"/>
          </p:nvPr>
        </p:nvSpPr>
        <p:spPr>
          <a:xfrm>
            <a:off x="5159896" y="2650071"/>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02</a:t>
            </a:r>
            <a:endParaRPr lang="zh-CN" altLang="en-US" dirty="0"/>
          </a:p>
        </p:txBody>
      </p:sp>
      <p:sp>
        <p:nvSpPr>
          <p:cNvPr id="58" name="文本占位符 148"/>
          <p:cNvSpPr>
            <a:spLocks noGrp="1"/>
          </p:cNvSpPr>
          <p:nvPr>
            <p:ph type="body" sz="quarter" idx="13" hasCustomPrompt="1"/>
          </p:nvPr>
        </p:nvSpPr>
        <p:spPr>
          <a:xfrm>
            <a:off x="5159896" y="3414673"/>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03</a:t>
            </a:r>
            <a:endParaRPr lang="zh-CN" altLang="en-US" dirty="0"/>
          </a:p>
        </p:txBody>
      </p:sp>
      <p:sp>
        <p:nvSpPr>
          <p:cNvPr id="59" name="文本占位符 148"/>
          <p:cNvSpPr>
            <a:spLocks noGrp="1"/>
          </p:cNvSpPr>
          <p:nvPr>
            <p:ph type="body" sz="quarter" idx="14" hasCustomPrompt="1"/>
          </p:nvPr>
        </p:nvSpPr>
        <p:spPr>
          <a:xfrm>
            <a:off x="5159896" y="4179275"/>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04</a:t>
            </a:r>
            <a:endParaRPr lang="zh-CN" altLang="en-US" dirty="0"/>
          </a:p>
        </p:txBody>
      </p:sp>
      <p:sp>
        <p:nvSpPr>
          <p:cNvPr id="60" name="文本占位符 148"/>
          <p:cNvSpPr>
            <a:spLocks noGrp="1"/>
          </p:cNvSpPr>
          <p:nvPr>
            <p:ph type="body" sz="quarter" idx="15" hasCustomPrompt="1"/>
          </p:nvPr>
        </p:nvSpPr>
        <p:spPr>
          <a:xfrm>
            <a:off x="5159896" y="49438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05</a:t>
            </a:r>
            <a:endParaRPr lang="zh-CN" altLang="en-US" dirty="0"/>
          </a:p>
        </p:txBody>
      </p:sp>
      <p:sp>
        <p:nvSpPr>
          <p:cNvPr id="61" name="文本占位符 148"/>
          <p:cNvSpPr>
            <a:spLocks noGrp="1"/>
          </p:cNvSpPr>
          <p:nvPr>
            <p:ph type="body" sz="quarter" idx="16" hasCustomPrompt="1"/>
          </p:nvPr>
        </p:nvSpPr>
        <p:spPr>
          <a:xfrm>
            <a:off x="5159896" y="57084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06</a:t>
            </a:r>
            <a:endParaRPr lang="zh-CN" altLang="en-US" dirty="0"/>
          </a:p>
        </p:txBody>
      </p:sp>
      <p:sp>
        <p:nvSpPr>
          <p:cNvPr id="67" name="文本占位符 148"/>
          <p:cNvSpPr>
            <a:spLocks noGrp="1"/>
          </p:cNvSpPr>
          <p:nvPr>
            <p:ph type="body" sz="quarter" idx="17" hasCustomPrompt="1"/>
          </p:nvPr>
        </p:nvSpPr>
        <p:spPr>
          <a:xfrm>
            <a:off x="7392144"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绪论引言</a:t>
            </a:r>
          </a:p>
        </p:txBody>
      </p:sp>
      <p:sp>
        <p:nvSpPr>
          <p:cNvPr id="68" name="文本占位符 148"/>
          <p:cNvSpPr>
            <a:spLocks noGrp="1"/>
          </p:cNvSpPr>
          <p:nvPr>
            <p:ph type="body" sz="quarter" idx="18" hasCustomPrompt="1"/>
          </p:nvPr>
        </p:nvSpPr>
        <p:spPr>
          <a:xfrm>
            <a:off x="7392144" y="2656557"/>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研究思路与方法</a:t>
            </a:r>
          </a:p>
        </p:txBody>
      </p:sp>
      <p:sp>
        <p:nvSpPr>
          <p:cNvPr id="69" name="文本占位符 148"/>
          <p:cNvSpPr>
            <a:spLocks noGrp="1"/>
          </p:cNvSpPr>
          <p:nvPr>
            <p:ph type="body" sz="quarter" idx="19" hasCustomPrompt="1"/>
          </p:nvPr>
        </p:nvSpPr>
        <p:spPr>
          <a:xfrm>
            <a:off x="7392144" y="341141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研究难点</a:t>
            </a:r>
          </a:p>
        </p:txBody>
      </p:sp>
      <p:sp>
        <p:nvSpPr>
          <p:cNvPr id="70" name="文本占位符 148"/>
          <p:cNvSpPr>
            <a:spLocks noGrp="1"/>
          </p:cNvSpPr>
          <p:nvPr>
            <p:ph type="body" sz="quarter" idx="20" hasCustomPrompt="1"/>
          </p:nvPr>
        </p:nvSpPr>
        <p:spPr>
          <a:xfrm>
            <a:off x="7392144" y="417950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研究数据</a:t>
            </a:r>
          </a:p>
        </p:txBody>
      </p:sp>
      <p:sp>
        <p:nvSpPr>
          <p:cNvPr id="71" name="文本占位符 148"/>
          <p:cNvSpPr>
            <a:spLocks noGrp="1"/>
          </p:cNvSpPr>
          <p:nvPr>
            <p:ph type="body" sz="quarter" idx="21" hasCustomPrompt="1"/>
          </p:nvPr>
        </p:nvSpPr>
        <p:spPr>
          <a:xfrm>
            <a:off x="7392144" y="495667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研究应用与成果</a:t>
            </a:r>
          </a:p>
        </p:txBody>
      </p:sp>
      <p:sp>
        <p:nvSpPr>
          <p:cNvPr id="72" name="文本占位符 148"/>
          <p:cNvSpPr>
            <a:spLocks noGrp="1"/>
          </p:cNvSpPr>
          <p:nvPr>
            <p:ph type="body" sz="quarter" idx="22" hasCustomPrompt="1"/>
          </p:nvPr>
        </p:nvSpPr>
        <p:spPr>
          <a:xfrm>
            <a:off x="7392144" y="570914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研究结论</a:t>
            </a: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页3">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5612203" y="2421509"/>
            <a:ext cx="1044178" cy="1008063"/>
          </a:xfrm>
          <a:prstGeom prst="rect">
            <a:avLst/>
          </a:prstGeom>
        </p:spPr>
        <p:txBody>
          <a:bodyPr/>
          <a:lstStyle>
            <a:lvl1pPr marL="0" indent="0" algn="dist">
              <a:buNone/>
              <a:defRPr sz="6000">
                <a:solidFill>
                  <a:schemeClr val="tx1">
                    <a:lumMod val="85000"/>
                    <a:lumOff val="15000"/>
                  </a:schemeClr>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01</a:t>
            </a:r>
            <a:endParaRPr lang="zh-CN" altLang="en-US" dirty="0"/>
          </a:p>
        </p:txBody>
      </p:sp>
      <p:sp>
        <p:nvSpPr>
          <p:cNvPr id="55" name="文本占位符 6"/>
          <p:cNvSpPr>
            <a:spLocks noGrp="1"/>
          </p:cNvSpPr>
          <p:nvPr>
            <p:ph type="body" sz="quarter" idx="11" hasCustomPrompt="1"/>
          </p:nvPr>
        </p:nvSpPr>
        <p:spPr>
          <a:xfrm>
            <a:off x="5124013" y="3890952"/>
            <a:ext cx="1891640" cy="496824"/>
          </a:xfrm>
          <a:prstGeom prst="rect">
            <a:avLst/>
          </a:prstGeom>
        </p:spPr>
        <p:txBody>
          <a:bodyPr/>
          <a:lstStyle>
            <a:lvl1pPr marL="0" indent="0" algn="ctr">
              <a:buNone/>
              <a:defRPr sz="2400"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ONE</a:t>
            </a:r>
            <a:endParaRPr lang="zh-CN" altLang="en-US" dirty="0"/>
          </a:p>
        </p:txBody>
      </p:sp>
      <p:sp>
        <p:nvSpPr>
          <p:cNvPr id="56" name="文本占位符 6"/>
          <p:cNvSpPr>
            <a:spLocks noGrp="1"/>
          </p:cNvSpPr>
          <p:nvPr>
            <p:ph type="body" sz="quarter" idx="12" hasCustomPrompt="1"/>
          </p:nvPr>
        </p:nvSpPr>
        <p:spPr>
          <a:xfrm>
            <a:off x="3503712" y="4372336"/>
            <a:ext cx="5195640" cy="496824"/>
          </a:xfrm>
          <a:prstGeom prst="rect">
            <a:avLst/>
          </a:prstGeom>
        </p:spPr>
        <p:txBody>
          <a:bodyPr/>
          <a:lstStyle>
            <a:lvl1pPr marL="0" indent="0" algn="ctr">
              <a:buNone/>
              <a:defRPr sz="4000" baseline="0">
                <a:solidFill>
                  <a:srgbClr val="20517C"/>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绪论引言</a:t>
            </a:r>
          </a:p>
        </p:txBody>
      </p:sp>
      <p:sp>
        <p:nvSpPr>
          <p:cNvPr id="57" name="矩形 56"/>
          <p:cNvSpPr/>
          <p:nvPr userDrawn="1"/>
        </p:nvSpPr>
        <p:spPr>
          <a:xfrm>
            <a:off x="-24680" y="0"/>
            <a:ext cx="12216680" cy="126876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userDrawn="1"/>
        </p:nvSpPr>
        <p:spPr>
          <a:xfrm>
            <a:off x="-24680" y="5661248"/>
            <a:ext cx="12216680" cy="1195648"/>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3">
    <p:spTree>
      <p:nvGrpSpPr>
        <p:cNvPr id="1" name=""/>
        <p:cNvGrpSpPr/>
        <p:nvPr/>
      </p:nvGrpSpPr>
      <p:grpSpPr>
        <a:xfrm>
          <a:off x="0" y="0"/>
          <a:ext cx="0" cy="0"/>
          <a:chOff x="0" y="0"/>
          <a:chExt cx="0" cy="0"/>
        </a:xfrm>
      </p:grpSpPr>
      <p:sp>
        <p:nvSpPr>
          <p:cNvPr id="60" name="矩形 59"/>
          <p:cNvSpPr/>
          <p:nvPr userDrawn="1"/>
        </p:nvSpPr>
        <p:spPr>
          <a:xfrm>
            <a:off x="-24680" y="0"/>
            <a:ext cx="12216680" cy="1124744"/>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占位符 6"/>
          <p:cNvSpPr>
            <a:spLocks noGrp="1"/>
          </p:cNvSpPr>
          <p:nvPr>
            <p:ph type="body" sz="quarter" idx="10" hasCustomPrompt="1"/>
          </p:nvPr>
        </p:nvSpPr>
        <p:spPr>
          <a:xfrm>
            <a:off x="459944" y="278936"/>
            <a:ext cx="864096" cy="1008063"/>
          </a:xfrm>
          <a:prstGeom prst="rect">
            <a:avLst/>
          </a:prstGeom>
        </p:spPr>
        <p:txBody>
          <a:bodyPr/>
          <a:lstStyle>
            <a:lvl1pPr marL="0" indent="0" algn="dist">
              <a:buNone/>
              <a:defRPr sz="48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01</a:t>
            </a:r>
            <a:endParaRPr lang="zh-CN" altLang="en-US" dirty="0"/>
          </a:p>
        </p:txBody>
      </p:sp>
      <p:sp>
        <p:nvSpPr>
          <p:cNvPr id="63" name="文本占位符 6"/>
          <p:cNvSpPr>
            <a:spLocks noGrp="1"/>
          </p:cNvSpPr>
          <p:nvPr>
            <p:ph type="body" sz="quarter" idx="12" hasCustomPrompt="1"/>
          </p:nvPr>
        </p:nvSpPr>
        <p:spPr>
          <a:xfrm>
            <a:off x="1437592" y="348250"/>
            <a:ext cx="4586400" cy="496824"/>
          </a:xfrm>
          <a:prstGeom prst="rect">
            <a:avLst/>
          </a:prstGeom>
        </p:spPr>
        <p:txBody>
          <a:bodyPr/>
          <a:lstStyle>
            <a:lvl1pPr marL="0" indent="0" algn="l">
              <a:buNone/>
              <a:defRPr sz="4000" baseline="0">
                <a:solidFill>
                  <a:schemeClr val="bg1"/>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绪论引言</a:t>
            </a:r>
          </a:p>
        </p:txBody>
      </p:sp>
      <p:cxnSp>
        <p:nvCxnSpPr>
          <p:cNvPr id="64" name="直接连接符 63"/>
          <p:cNvCxnSpPr/>
          <p:nvPr userDrawn="1"/>
        </p:nvCxnSpPr>
        <p:spPr>
          <a:xfrm flipH="1">
            <a:off x="1102301" y="407372"/>
            <a:ext cx="307464" cy="4849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内容页3">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内容页3">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cstate="print">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26939666-0EDC-F770-6BEF-059E6A90995E}"/>
              </a:ext>
            </a:extLst>
          </p:cNvPr>
          <p:cNvPicPr>
            <a:picLocks noChangeAspect="1"/>
          </p:cNvPicPr>
          <p:nvPr/>
        </p:nvPicPr>
        <p:blipFill>
          <a:blip r:embed="rId3"/>
          <a:stretch>
            <a:fillRect/>
          </a:stretch>
        </p:blipFill>
        <p:spPr>
          <a:xfrm>
            <a:off x="798520" y="380587"/>
            <a:ext cx="838317" cy="552527"/>
          </a:xfrm>
          <a:prstGeom prst="rect">
            <a:avLst/>
          </a:prstGeom>
        </p:spPr>
      </p:pic>
      <p:pic>
        <p:nvPicPr>
          <p:cNvPr id="11" name="图片 10">
            <a:extLst>
              <a:ext uri="{FF2B5EF4-FFF2-40B4-BE49-F238E27FC236}">
                <a16:creationId xmlns:a16="http://schemas.microsoft.com/office/drawing/2014/main" id="{70E00BDC-7F27-4951-2F0B-9625C83511A5}"/>
              </a:ext>
            </a:extLst>
          </p:cNvPr>
          <p:cNvPicPr>
            <a:picLocks noChangeAspect="1"/>
          </p:cNvPicPr>
          <p:nvPr/>
        </p:nvPicPr>
        <p:blipFill>
          <a:blip r:embed="rId4"/>
          <a:stretch>
            <a:fillRect/>
          </a:stretch>
        </p:blipFill>
        <p:spPr>
          <a:xfrm>
            <a:off x="4852692" y="1890407"/>
            <a:ext cx="2486615" cy="1877444"/>
          </a:xfrm>
          <a:prstGeom prst="rect">
            <a:avLst/>
          </a:prstGeom>
        </p:spPr>
      </p:pic>
      <p:pic>
        <p:nvPicPr>
          <p:cNvPr id="59" name="图片 58" descr="huake.png"/>
          <p:cNvPicPr>
            <a:picLocks noChangeAspect="1"/>
          </p:cNvPicPr>
          <p:nvPr/>
        </p:nvPicPr>
        <p:blipFill>
          <a:blip r:embed="rId5" cstate="print"/>
          <a:stretch>
            <a:fillRect/>
          </a:stretch>
        </p:blipFill>
        <p:spPr>
          <a:xfrm>
            <a:off x="191344" y="218539"/>
            <a:ext cx="3886032" cy="785818"/>
          </a:xfrm>
          <a:prstGeom prst="rect">
            <a:avLst/>
          </a:prstGeom>
        </p:spPr>
      </p:pic>
      <p:grpSp>
        <p:nvGrpSpPr>
          <p:cNvPr id="6" name="组合 5">
            <a:extLst>
              <a:ext uri="{FF2B5EF4-FFF2-40B4-BE49-F238E27FC236}">
                <a16:creationId xmlns:a16="http://schemas.microsoft.com/office/drawing/2014/main" id="{18EEC93E-6DBD-FE05-0C5C-3C811D1F2AAB}"/>
              </a:ext>
            </a:extLst>
          </p:cNvPr>
          <p:cNvGrpSpPr/>
          <p:nvPr/>
        </p:nvGrpSpPr>
        <p:grpSpPr>
          <a:xfrm>
            <a:off x="7536160" y="75858"/>
            <a:ext cx="4586269" cy="904870"/>
            <a:chOff x="7605731" y="428604"/>
            <a:chExt cx="4586269" cy="904870"/>
          </a:xfrm>
        </p:grpSpPr>
        <p:pic>
          <p:nvPicPr>
            <p:cNvPr id="1026" name="Picture 2" descr="C:\Users\Administrator\Desktop\logo.png"/>
            <p:cNvPicPr>
              <a:picLocks noChangeAspect="1" noChangeArrowheads="1"/>
            </p:cNvPicPr>
            <p:nvPr/>
          </p:nvPicPr>
          <p:blipFill>
            <a:blip r:embed="rId6" cstate="print"/>
            <a:srcRect/>
            <a:stretch>
              <a:fillRect/>
            </a:stretch>
          </p:blipFill>
          <p:spPr bwMode="auto">
            <a:xfrm>
              <a:off x="7605731" y="428604"/>
              <a:ext cx="633409" cy="904870"/>
            </a:xfrm>
            <a:prstGeom prst="rect">
              <a:avLst/>
            </a:prstGeom>
            <a:noFill/>
          </p:spPr>
        </p:pic>
        <p:sp>
          <p:nvSpPr>
            <p:cNvPr id="62" name="TextBox 61"/>
            <p:cNvSpPr txBox="1"/>
            <p:nvPr/>
          </p:nvSpPr>
          <p:spPr>
            <a:xfrm>
              <a:off x="8239140" y="662612"/>
              <a:ext cx="3952860" cy="623248"/>
            </a:xfrm>
            <a:prstGeom prst="rect">
              <a:avLst/>
            </a:prstGeom>
            <a:noFill/>
          </p:spPr>
          <p:txBody>
            <a:bodyPr wrap="square" rtlCol="0">
              <a:spAutoFit/>
            </a:bodyPr>
            <a:lstStyle/>
            <a:p>
              <a:pPr algn="ctr"/>
              <a:r>
                <a:rPr lang="zh-CN" altLang="en-US" sz="2400" b="1" dirty="0">
                  <a:solidFill>
                    <a:schemeClr val="bg1"/>
                  </a:solidFill>
                </a:rPr>
                <a:t>国家防伪工程技术研究中心</a:t>
              </a:r>
              <a:endParaRPr lang="en-US" b="1" dirty="0">
                <a:solidFill>
                  <a:schemeClr val="bg1"/>
                </a:solidFill>
              </a:endParaRPr>
            </a:p>
            <a:p>
              <a:pPr algn="ctr"/>
              <a:r>
                <a:rPr lang="en-US" sz="1050" b="1" dirty="0">
                  <a:solidFill>
                    <a:schemeClr val="bg1"/>
                  </a:solidFill>
                </a:rPr>
                <a:t>National Anti-counterfeit Engineering Research Center</a:t>
              </a:r>
              <a:endParaRPr lang="zh-CN" altLang="en-US" b="1" dirty="0"/>
            </a:p>
          </p:txBody>
        </p:sp>
      </p:grpSp>
      <p:sp>
        <p:nvSpPr>
          <p:cNvPr id="12" name="文本框 11">
            <a:extLst>
              <a:ext uri="{FF2B5EF4-FFF2-40B4-BE49-F238E27FC236}">
                <a16:creationId xmlns:a16="http://schemas.microsoft.com/office/drawing/2014/main" id="{99CD707C-EF41-0CA9-2485-B817FE6F9925}"/>
              </a:ext>
            </a:extLst>
          </p:cNvPr>
          <p:cNvSpPr txBox="1"/>
          <p:nvPr/>
        </p:nvSpPr>
        <p:spPr>
          <a:xfrm>
            <a:off x="78968" y="1363415"/>
            <a:ext cx="12034064" cy="769441"/>
          </a:xfrm>
          <a:prstGeom prst="rect">
            <a:avLst/>
          </a:prstGeom>
          <a:noFill/>
        </p:spPr>
        <p:txBody>
          <a:bodyPr wrap="none" rtlCol="0">
            <a:spAutoFit/>
          </a:bodyPr>
          <a:lstStyle/>
          <a:p>
            <a:pPr algn="ctr"/>
            <a:r>
              <a:rPr lang="zh-CN" altLang="en-US" sz="4400" b="1" dirty="0">
                <a:latin typeface="华文楷体" panose="02010600040101010101" pitchFamily="2" charset="-122"/>
                <a:ea typeface="华文楷体" panose="02010600040101010101" pitchFamily="2" charset="-122"/>
              </a:rPr>
              <a:t>华中科技大学本科生毕业设计（论文）开题答辩</a:t>
            </a:r>
          </a:p>
        </p:txBody>
      </p:sp>
      <p:graphicFrame>
        <p:nvGraphicFramePr>
          <p:cNvPr id="15" name="表格 14">
            <a:extLst>
              <a:ext uri="{FF2B5EF4-FFF2-40B4-BE49-F238E27FC236}">
                <a16:creationId xmlns:a16="http://schemas.microsoft.com/office/drawing/2014/main" id="{58CFE81A-6163-F72B-9855-1195A3986EBC}"/>
              </a:ext>
            </a:extLst>
          </p:cNvPr>
          <p:cNvGraphicFramePr>
            <a:graphicFrameLocks noGrp="1"/>
          </p:cNvGraphicFramePr>
          <p:nvPr>
            <p:extLst>
              <p:ext uri="{D42A27DB-BD31-4B8C-83A1-F6EECF244321}">
                <p14:modId xmlns:p14="http://schemas.microsoft.com/office/powerpoint/2010/main" val="59495353"/>
              </p:ext>
            </p:extLst>
          </p:nvPr>
        </p:nvGraphicFramePr>
        <p:xfrm>
          <a:off x="3181158" y="4005064"/>
          <a:ext cx="5829684" cy="2590800"/>
        </p:xfrm>
        <a:graphic>
          <a:graphicData uri="http://schemas.openxmlformats.org/drawingml/2006/table">
            <a:tbl>
              <a:tblPr/>
              <a:tblGrid>
                <a:gridCol w="2016224">
                  <a:extLst>
                    <a:ext uri="{9D8B030D-6E8A-4147-A177-3AD203B41FA5}">
                      <a16:colId xmlns:a16="http://schemas.microsoft.com/office/drawing/2014/main" val="3190848510"/>
                    </a:ext>
                  </a:extLst>
                </a:gridCol>
                <a:gridCol w="3813460">
                  <a:extLst>
                    <a:ext uri="{9D8B030D-6E8A-4147-A177-3AD203B41FA5}">
                      <a16:colId xmlns:a16="http://schemas.microsoft.com/office/drawing/2014/main" val="2618010002"/>
                    </a:ext>
                  </a:extLst>
                </a:gridCol>
              </a:tblGrid>
              <a:tr h="368300">
                <a:tc>
                  <a:txBody>
                    <a:bodyPr/>
                    <a:lstStyle/>
                    <a:p>
                      <a:pPr algn="dist" fontAlgn="t"/>
                      <a:r>
                        <a:rPr lang="zh-CN" altLang="en-US" sz="2800" b="1" dirty="0">
                          <a:solidFill>
                            <a:schemeClr val="tx1">
                              <a:lumMod val="75000"/>
                            </a:schemeClr>
                          </a:solidFill>
                          <a:effectLst/>
                          <a:latin typeface="Verdana" panose="020B0604030504040204" pitchFamily="34" charset="0"/>
                        </a:rPr>
                        <a:t>院系</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电子信息与通信学院</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6637283"/>
                  </a:ext>
                </a:extLst>
              </a:tr>
              <a:tr h="368300">
                <a:tc>
                  <a:txBody>
                    <a:bodyPr/>
                    <a:lstStyle/>
                    <a:p>
                      <a:pPr algn="dist" fontAlgn="t"/>
                      <a:r>
                        <a:rPr lang="zh-CN" altLang="en-US" sz="2800" b="1" dirty="0">
                          <a:solidFill>
                            <a:schemeClr val="tx1">
                              <a:lumMod val="75000"/>
                            </a:schemeClr>
                          </a:solidFill>
                          <a:effectLst/>
                          <a:latin typeface="Verdana" panose="020B0604030504040204" pitchFamily="34" charset="0"/>
                        </a:rPr>
                        <a:t>专业班级</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种子</a:t>
                      </a:r>
                      <a:r>
                        <a:rPr lang="en-US" altLang="zh-CN" sz="2800" dirty="0">
                          <a:solidFill>
                            <a:srgbClr val="000000"/>
                          </a:solidFill>
                          <a:effectLst/>
                          <a:latin typeface="楷体" panose="02010609060101010101" pitchFamily="49" charset="-122"/>
                          <a:ea typeface="楷体" panose="02010609060101010101" pitchFamily="49" charset="-122"/>
                        </a:rPr>
                        <a:t>2101</a:t>
                      </a:r>
                      <a:r>
                        <a:rPr lang="zh-CN" altLang="en-US" sz="2800" dirty="0">
                          <a:solidFill>
                            <a:srgbClr val="000000"/>
                          </a:solidFill>
                          <a:effectLst/>
                          <a:latin typeface="楷体" panose="02010609060101010101" pitchFamily="49" charset="-122"/>
                          <a:ea typeface="楷体" panose="02010609060101010101" pitchFamily="49" charset="-122"/>
                        </a:rPr>
                        <a:t>班</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6602786"/>
                  </a:ext>
                </a:extLst>
              </a:tr>
              <a:tr h="368300">
                <a:tc>
                  <a:txBody>
                    <a:bodyPr/>
                    <a:lstStyle/>
                    <a:p>
                      <a:pPr algn="dist" fontAlgn="t"/>
                      <a:r>
                        <a:rPr lang="zh-CN" altLang="en-US" sz="2800" b="1" dirty="0">
                          <a:solidFill>
                            <a:schemeClr val="tx1">
                              <a:lumMod val="75000"/>
                            </a:schemeClr>
                          </a:solidFill>
                          <a:effectLst/>
                          <a:latin typeface="Verdana" panose="020B0604030504040204" pitchFamily="34" charset="0"/>
                        </a:rPr>
                        <a:t>汇报人</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罗畅</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385493"/>
                  </a:ext>
                </a:extLst>
              </a:tr>
              <a:tr h="368300">
                <a:tc>
                  <a:txBody>
                    <a:bodyPr/>
                    <a:lstStyle/>
                    <a:p>
                      <a:pPr algn="dist" fontAlgn="t"/>
                      <a:r>
                        <a:rPr lang="zh-CN" altLang="en-US" sz="2800" b="1" dirty="0">
                          <a:solidFill>
                            <a:schemeClr val="tx1">
                              <a:lumMod val="75000"/>
                            </a:schemeClr>
                          </a:solidFill>
                          <a:effectLst/>
                          <a:latin typeface="Verdana" panose="020B0604030504040204" pitchFamily="34" charset="0"/>
                        </a:rPr>
                        <a:t>指导老师</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袁巍</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1716906"/>
                  </a:ext>
                </a:extLst>
              </a:tr>
              <a:tr h="368300">
                <a:tc>
                  <a:txBody>
                    <a:bodyPr/>
                    <a:lstStyle/>
                    <a:p>
                      <a:pPr algn="dist" fontAlgn="t"/>
                      <a:r>
                        <a:rPr lang="zh-CN" altLang="en-US" sz="2800" b="1" dirty="0">
                          <a:solidFill>
                            <a:schemeClr val="tx1">
                              <a:lumMod val="75000"/>
                            </a:schemeClr>
                          </a:solidFill>
                          <a:effectLst/>
                          <a:latin typeface="Verdana" panose="020B0604030504040204" pitchFamily="34" charset="0"/>
                        </a:rPr>
                        <a:t>汇报时间</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fld id="{8C9B6095-A69F-4717-98CA-CA35EE376C25}" type="datetime2">
                        <a:rPr lang="zh-CN" altLang="en-US" sz="2800" smtClean="0">
                          <a:solidFill>
                            <a:srgbClr val="000000"/>
                          </a:solidFill>
                          <a:effectLst/>
                          <a:latin typeface="华文楷体" panose="02010600040101010101" pitchFamily="2" charset="-122"/>
                          <a:ea typeface="华文楷体" panose="02010600040101010101" pitchFamily="2" charset="-122"/>
                        </a:rPr>
                        <a:t>2025年2月21日</a:t>
                      </a:fld>
                      <a:endParaRPr lang="zh-CN" altLang="en-US" sz="2800" dirty="0">
                        <a:solidFill>
                          <a:srgbClr val="000000"/>
                        </a:solidFill>
                        <a:effectLst/>
                        <a:latin typeface="华文楷体" panose="02010600040101010101" pitchFamily="2" charset="-122"/>
                        <a:ea typeface="华文楷体" panose="0201060004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129240"/>
                  </a:ext>
                </a:extLst>
              </a:tr>
            </a:tbl>
          </a:graphicData>
        </a:graphic>
      </p:graphicFrame>
      <p:sp>
        <p:nvSpPr>
          <p:cNvPr id="19" name="矩形 18">
            <a:extLst>
              <a:ext uri="{FF2B5EF4-FFF2-40B4-BE49-F238E27FC236}">
                <a16:creationId xmlns:a16="http://schemas.microsoft.com/office/drawing/2014/main" id="{0A3A01CF-0A37-8D33-A46C-2CDA0BD40018}"/>
              </a:ext>
            </a:extLst>
          </p:cNvPr>
          <p:cNvSpPr/>
          <p:nvPr/>
        </p:nvSpPr>
        <p:spPr>
          <a:xfrm>
            <a:off x="-5261" y="2411943"/>
            <a:ext cx="12192000"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sz="quarter" idx="10"/>
          </p:nvPr>
        </p:nvSpPr>
        <p:spPr>
          <a:xfrm>
            <a:off x="750740" y="2564904"/>
            <a:ext cx="10690521" cy="701792"/>
          </a:xfrm>
        </p:spPr>
        <p:txBody>
          <a:bodyPr/>
          <a:lstStyle/>
          <a:p>
            <a:pPr algn="ctr"/>
            <a:r>
              <a:rPr lang="zh-CN" altLang="en-US" sz="5400" b="1" dirty="0">
                <a:latin typeface="黑体" panose="02010609060101010101" pitchFamily="49" charset="-122"/>
                <a:ea typeface="黑体" panose="02010609060101010101" pitchFamily="49" charset="-122"/>
              </a:rPr>
              <a:t>安卓应用保活行为识别与意图分析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占位符 1"/>
          <p:cNvSpPr>
            <a:spLocks noGrp="1"/>
          </p:cNvSpPr>
          <p:nvPr>
            <p:ph type="body" sz="quarter" idx="4294967295"/>
          </p:nvPr>
        </p:nvSpPr>
        <p:spPr>
          <a:xfrm>
            <a:off x="4471493" y="969010"/>
            <a:ext cx="5493943" cy="503237"/>
          </a:xfrm>
          <a:prstGeom prst="rect">
            <a:avLst/>
          </a:prstGeom>
        </p:spPr>
        <p:txBody>
          <a:bodyPr/>
          <a:lstStyle/>
          <a:p>
            <a:r>
              <a:rPr lang="en-US" altLang="zh-CN" dirty="0"/>
              <a:t>PART  01 </a:t>
            </a:r>
            <a:r>
              <a:rPr lang="zh-CN" altLang="en-US" dirty="0">
                <a:sym typeface="+mn-ea"/>
              </a:rPr>
              <a:t>研究背景</a:t>
            </a:r>
          </a:p>
        </p:txBody>
      </p:sp>
      <p:sp>
        <p:nvSpPr>
          <p:cNvPr id="33" name="文本占位符 3"/>
          <p:cNvSpPr>
            <a:spLocks noGrp="1"/>
          </p:cNvSpPr>
          <p:nvPr>
            <p:ph type="body" sz="quarter" idx="4294967295"/>
          </p:nvPr>
        </p:nvSpPr>
        <p:spPr>
          <a:xfrm>
            <a:off x="4492193" y="4281565"/>
            <a:ext cx="6133688" cy="503237"/>
          </a:xfrm>
          <a:prstGeom prst="rect">
            <a:avLst/>
          </a:prstGeom>
        </p:spPr>
        <p:txBody>
          <a:bodyPr/>
          <a:lstStyle/>
          <a:p>
            <a:r>
              <a:rPr lang="en-US" altLang="zh-CN" dirty="0"/>
              <a:t>PART  04 </a:t>
            </a:r>
            <a:r>
              <a:rPr lang="zh-CN" altLang="en-US" dirty="0"/>
              <a:t>当前已有工作与成果</a:t>
            </a:r>
          </a:p>
        </p:txBody>
      </p:sp>
      <p:sp>
        <p:nvSpPr>
          <p:cNvPr id="41" name="文本占位符 1"/>
          <p:cNvSpPr>
            <a:spLocks noGrp="1"/>
          </p:cNvSpPr>
          <p:nvPr>
            <p:ph type="body" sz="quarter" idx="4294967295"/>
          </p:nvPr>
        </p:nvSpPr>
        <p:spPr>
          <a:xfrm>
            <a:off x="4471492" y="2073195"/>
            <a:ext cx="7025108" cy="503237"/>
          </a:xfrm>
          <a:prstGeom prst="rect">
            <a:avLst/>
          </a:prstGeom>
        </p:spPr>
        <p:txBody>
          <a:bodyPr/>
          <a:lstStyle/>
          <a:p>
            <a:r>
              <a:rPr lang="en-US" altLang="zh-CN" dirty="0"/>
              <a:t>PART  02 </a:t>
            </a:r>
            <a:r>
              <a:rPr lang="zh-CN" altLang="en-US" dirty="0"/>
              <a:t>现有工作、挑战与应对方法</a:t>
            </a:r>
            <a:endParaRPr lang="zh-CN" altLang="en-US" dirty="0">
              <a:sym typeface="+mn-ea"/>
            </a:endParaRPr>
          </a:p>
        </p:txBody>
      </p:sp>
      <p:sp>
        <p:nvSpPr>
          <p:cNvPr id="10" name="文本占位符 3"/>
          <p:cNvSpPr>
            <a:spLocks noGrp="1"/>
          </p:cNvSpPr>
          <p:nvPr>
            <p:ph type="body" sz="quarter" idx="4294967295"/>
          </p:nvPr>
        </p:nvSpPr>
        <p:spPr>
          <a:xfrm>
            <a:off x="4471493" y="5385751"/>
            <a:ext cx="4499787" cy="503237"/>
          </a:xfrm>
          <a:prstGeom prst="rect">
            <a:avLst/>
          </a:prstGeom>
        </p:spPr>
        <p:txBody>
          <a:bodyPr/>
          <a:lstStyle/>
          <a:p>
            <a:r>
              <a:rPr lang="en-US" altLang="zh-CN" dirty="0"/>
              <a:t>PART  05 </a:t>
            </a:r>
            <a:r>
              <a:rPr lang="zh-CN" altLang="en-US" dirty="0"/>
              <a:t>工作安排</a:t>
            </a:r>
          </a:p>
        </p:txBody>
      </p:sp>
      <p:sp>
        <p:nvSpPr>
          <p:cNvPr id="3" name="文本占位符 1">
            <a:extLst>
              <a:ext uri="{FF2B5EF4-FFF2-40B4-BE49-F238E27FC236}">
                <a16:creationId xmlns:a16="http://schemas.microsoft.com/office/drawing/2014/main" id="{453E346C-D3B6-7E7B-FC21-A325BD581BA0}"/>
              </a:ext>
            </a:extLst>
          </p:cNvPr>
          <p:cNvSpPr txBox="1">
            <a:spLocks/>
          </p:cNvSpPr>
          <p:nvPr/>
        </p:nvSpPr>
        <p:spPr>
          <a:xfrm>
            <a:off x="4471493" y="3177380"/>
            <a:ext cx="6154388" cy="5032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PART  03 </a:t>
            </a:r>
            <a:r>
              <a:rPr lang="zh-CN" altLang="en-US" dirty="0"/>
              <a:t>研究内容</a:t>
            </a:r>
            <a:endParaRPr lang="zh-CN" altLang="en-US"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a:t>
            </a:r>
            <a:endParaRPr lang="zh-CN" altLang="en-US" dirty="0"/>
          </a:p>
        </p:txBody>
      </p:sp>
      <p:sp>
        <p:nvSpPr>
          <p:cNvPr id="3" name="文本占位符 2"/>
          <p:cNvSpPr>
            <a:spLocks noGrp="1"/>
          </p:cNvSpPr>
          <p:nvPr>
            <p:ph type="body" sz="quarter" idx="12"/>
          </p:nvPr>
        </p:nvSpPr>
        <p:spPr>
          <a:xfrm>
            <a:off x="1437591" y="348250"/>
            <a:ext cx="9468473" cy="689864"/>
          </a:xfrm>
        </p:spPr>
        <p:txBody>
          <a:bodyPr/>
          <a:lstStyle/>
          <a:p>
            <a:pPr fontAlgn="base"/>
            <a:r>
              <a:rPr lang="zh-CN" altLang="en-US" b="1" dirty="0"/>
              <a:t>研究背景</a:t>
            </a:r>
            <a:endParaRPr lang="en-US" altLang="zh-CN" b="1" dirty="0"/>
          </a:p>
        </p:txBody>
      </p:sp>
      <p:sp>
        <p:nvSpPr>
          <p:cNvPr id="27" name="文本框 26"/>
          <p:cNvSpPr txBox="1"/>
          <p:nvPr/>
        </p:nvSpPr>
        <p:spPr>
          <a:xfrm>
            <a:off x="1001976" y="1515264"/>
            <a:ext cx="2649191"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什么是“保活”？</a:t>
            </a:r>
            <a:endParaRPr kumimoji="1" lang="zh-CN" altLang="en-US" sz="2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28" name="不完整圆 27"/>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29" name="文本框 28"/>
          <p:cNvSpPr txBox="1"/>
          <p:nvPr/>
        </p:nvSpPr>
        <p:spPr>
          <a:xfrm>
            <a:off x="839416" y="2050170"/>
            <a:ext cx="5688632" cy="3895725"/>
          </a:xfrm>
          <a:prstGeom prst="rect">
            <a:avLst/>
          </a:prstGeom>
          <a:noFill/>
        </p:spPr>
        <p:txBody>
          <a:bodyPr wrap="square">
            <a:noAutofit/>
          </a:bodyPr>
          <a:lstStyle/>
          <a:p>
            <a:pPr algn="just"/>
            <a:r>
              <a:rPr lang="en-US" altLang="zh-CN" sz="2000" dirty="0">
                <a:solidFill>
                  <a:srgbClr val="FF0000"/>
                </a:solidFill>
                <a:latin typeface="微软雅黑" panose="020B0503020204020204" pitchFamily="34" charset="-122"/>
                <a:ea typeface="微软雅黑" panose="020B0503020204020204" pitchFamily="34" charset="-122"/>
              </a:rPr>
              <a:t>APP </a:t>
            </a:r>
            <a:r>
              <a:rPr lang="zh-CN" altLang="en-US" sz="2000" dirty="0">
                <a:solidFill>
                  <a:srgbClr val="FF0000"/>
                </a:solidFill>
                <a:latin typeface="微软雅黑" panose="020B0503020204020204" pitchFamily="34" charset="-122"/>
                <a:ea typeface="微软雅黑" panose="020B0503020204020204" pitchFamily="34" charset="-122"/>
              </a:rPr>
              <a:t>保活（</a:t>
            </a:r>
            <a:r>
              <a:rPr lang="en-US" altLang="zh-CN" sz="2000" dirty="0">
                <a:solidFill>
                  <a:srgbClr val="FF0000"/>
                </a:solidFill>
                <a:latin typeface="微软雅黑" panose="020B0503020204020204" pitchFamily="34" charset="-122"/>
                <a:ea typeface="微软雅黑" panose="020B0503020204020204" pitchFamily="34" charset="-122"/>
              </a:rPr>
              <a:t>Application Keep-Alive</a:t>
            </a:r>
            <a:r>
              <a:rPr lang="zh-CN" altLang="en-US" sz="2000" dirty="0">
                <a:solidFill>
                  <a:srgbClr val="FF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是指应用开发者通过某些技术手段，绕过操作系统的清理，使他们的软件应用在</a:t>
            </a:r>
            <a:r>
              <a:rPr lang="zh-CN" altLang="en-US" sz="2000" dirty="0">
                <a:solidFill>
                  <a:srgbClr val="FF0000"/>
                </a:solidFill>
                <a:latin typeface="微软雅黑" panose="020B0503020204020204" pitchFamily="34" charset="-122"/>
                <a:ea typeface="微软雅黑" panose="020B0503020204020204" pitchFamily="34" charset="-122"/>
              </a:rPr>
              <a:t>后台或设备空闲状态下，仍然保持活跃。</a:t>
            </a:r>
            <a:endParaRPr lang="zh-CN" altLang="en-US" sz="2000" dirty="0">
              <a:latin typeface="微软雅黑" panose="020B0503020204020204" pitchFamily="34" charset="-122"/>
              <a:ea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rPr>
              <a:t>这种需求通常出现在需要</a:t>
            </a:r>
            <a:r>
              <a:rPr lang="zh-CN" altLang="en-US" sz="2000" dirty="0">
                <a:solidFill>
                  <a:srgbClr val="FF0000"/>
                </a:solidFill>
                <a:latin typeface="微软雅黑" panose="020B0503020204020204" pitchFamily="34" charset="-122"/>
                <a:ea typeface="微软雅黑" panose="020B0503020204020204" pitchFamily="34" charset="-122"/>
              </a:rPr>
              <a:t>实时性或持续性服务</a:t>
            </a:r>
            <a:r>
              <a:rPr lang="zh-CN" altLang="en-US" sz="2000" dirty="0">
                <a:latin typeface="微软雅黑" panose="020B0503020204020204" pitchFamily="34" charset="-122"/>
                <a:ea typeface="微软雅黑" panose="020B0503020204020204" pitchFamily="34" charset="-122"/>
              </a:rPr>
              <a:t>的应用场景中，合理利用保活，有助于提升用户体验。</a:t>
            </a:r>
          </a:p>
          <a:p>
            <a:pPr algn="just"/>
            <a:r>
              <a:rPr lang="en-US" altLang="zh-CN" sz="2000" dirty="0">
                <a:latin typeface="微软雅黑" charset="0"/>
                <a:ea typeface="微软雅黑" charset="0"/>
              </a:rPr>
              <a:t>APP</a:t>
            </a:r>
            <a:r>
              <a:rPr lang="zh-CN" altLang="en-US" sz="2000" dirty="0">
                <a:latin typeface="微软雅黑" panose="020B0503020204020204" pitchFamily="34" charset="-122"/>
                <a:ea typeface="微软雅黑" panose="020B0503020204020204" pitchFamily="34" charset="-122"/>
              </a:rPr>
              <a:t>保活的“</a:t>
            </a:r>
            <a:r>
              <a:rPr lang="zh-CN" altLang="en-US" sz="2000" dirty="0">
                <a:solidFill>
                  <a:srgbClr val="00B050"/>
                </a:solidFill>
                <a:latin typeface="微软雅黑" panose="020B0503020204020204" pitchFamily="34" charset="-122"/>
                <a:ea typeface="微软雅黑" panose="020B0503020204020204" pitchFamily="34" charset="-122"/>
              </a:rPr>
              <a:t>正确打开方式</a:t>
            </a:r>
            <a:r>
              <a:rPr lang="zh-CN" altLang="en-US" sz="2000" dirty="0">
                <a:latin typeface="微软雅黑" panose="020B0503020204020204" pitchFamily="34" charset="-122"/>
                <a:ea typeface="微软雅黑" panose="020B0503020204020204" pitchFamily="34" charset="-122"/>
              </a:rPr>
              <a:t>”：</a:t>
            </a:r>
          </a:p>
          <a:p>
            <a:pPr marL="342900" indent="-342900" algn="just">
              <a:buChar char="•"/>
            </a:pPr>
            <a:r>
              <a:rPr lang="zh-CN" altLang="en-US" sz="2000" dirty="0">
                <a:latin typeface="微软雅黑" charset="0"/>
                <a:ea typeface="微软雅黑" charset="0"/>
              </a:rPr>
              <a:t>软件打开提速（减少重新进入时的加载时间）</a:t>
            </a:r>
          </a:p>
          <a:p>
            <a:pPr marL="342900" indent="-342900" algn="just">
              <a:buChar char="•"/>
            </a:pPr>
            <a:r>
              <a:rPr lang="zh-CN" altLang="en-US" sz="2000" dirty="0">
                <a:latin typeface="微软雅黑" panose="020B0503020204020204" pitchFamily="34" charset="-122"/>
                <a:ea typeface="微软雅黑" panose="020B0503020204020204" pitchFamily="34" charset="-122"/>
              </a:rPr>
              <a:t>持续后台任务（运动</a:t>
            </a:r>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记录运动、音乐</a:t>
            </a:r>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播放音乐）</a:t>
            </a:r>
          </a:p>
          <a:p>
            <a:pPr marL="342900" indent="-342900" algn="just">
              <a:buChar char="•"/>
            </a:pPr>
            <a:r>
              <a:rPr lang="zh-CN" altLang="en-US" sz="2000" dirty="0">
                <a:latin typeface="微软雅黑" panose="020B0503020204020204" pitchFamily="34" charset="-122"/>
                <a:ea typeface="微软雅黑" panose="020B0503020204020204" pitchFamily="34" charset="-122"/>
              </a:rPr>
              <a:t>数据同步（云空间备份服务、下载服务等）</a:t>
            </a:r>
          </a:p>
          <a:p>
            <a:pPr marL="342900" indent="-342900" algn="just">
              <a:buChar char="•"/>
            </a:pPr>
            <a:r>
              <a:rPr lang="zh-CN" altLang="en-US" sz="2000" dirty="0">
                <a:latin typeface="微软雅黑" charset="0"/>
                <a:ea typeface="微软雅黑" charset="0"/>
              </a:rPr>
              <a:t>……</a:t>
            </a:r>
            <a:endParaRPr lang="en-US" altLang="zh-CN" sz="2000" dirty="0">
              <a:latin typeface="微软雅黑" panose="020B0503020204020204" pitchFamily="34" charset="-122"/>
              <a:ea typeface="微软雅黑" panose="020B0503020204020204" pitchFamily="34" charset="-122"/>
            </a:endParaRPr>
          </a:p>
        </p:txBody>
      </p:sp>
      <p:sp>
        <p:nvSpPr>
          <p:cNvPr id="8" name="Text Box 7"/>
          <p:cNvSpPr txBox="1"/>
          <p:nvPr userDrawn="1"/>
        </p:nvSpPr>
        <p:spPr>
          <a:xfrm>
            <a:off x="1778000" y="6126480"/>
            <a:ext cx="3570208" cy="461665"/>
          </a:xfrm>
          <a:prstGeom prst="rect">
            <a:avLst/>
          </a:prstGeom>
        </p:spPr>
        <p:txBody>
          <a:bodyPr wrap="none" rtlCol="0">
            <a:spAutoFit/>
          </a:bodyPr>
          <a:lstStyle/>
          <a:p>
            <a:r>
              <a:rPr lang="zh-CN" altLang="en-US" sz="2400" dirty="0">
                <a:latin typeface="华文隶书" charset="0"/>
                <a:ea typeface="华文隶书" charset="0"/>
                <a:cs typeface="华文隶书" charset="0"/>
              </a:rPr>
              <a:t>但是，技术是一把双刃剑</a:t>
            </a:r>
          </a:p>
        </p:txBody>
      </p:sp>
      <p:grpSp>
        <p:nvGrpSpPr>
          <p:cNvPr id="15" name="组合 14">
            <a:extLst>
              <a:ext uri="{FF2B5EF4-FFF2-40B4-BE49-F238E27FC236}">
                <a16:creationId xmlns:a16="http://schemas.microsoft.com/office/drawing/2014/main" id="{3C5902B3-A994-4160-297B-295D6DDB56CA}"/>
              </a:ext>
            </a:extLst>
          </p:cNvPr>
          <p:cNvGrpSpPr/>
          <p:nvPr/>
        </p:nvGrpSpPr>
        <p:grpSpPr>
          <a:xfrm>
            <a:off x="6672064" y="1346895"/>
            <a:ext cx="2691610" cy="5302273"/>
            <a:chOff x="7710202" y="1304371"/>
            <a:chExt cx="2691610" cy="5302273"/>
          </a:xfrm>
        </p:grpSpPr>
        <p:pic>
          <p:nvPicPr>
            <p:cNvPr id="13" name="图片 12">
              <a:extLst>
                <a:ext uri="{FF2B5EF4-FFF2-40B4-BE49-F238E27FC236}">
                  <a16:creationId xmlns:a16="http://schemas.microsoft.com/office/drawing/2014/main" id="{CA06E42E-5139-9ABF-03CA-FB7B75B7119D}"/>
                </a:ext>
              </a:extLst>
            </p:cNvPr>
            <p:cNvPicPr>
              <a:picLocks noChangeAspect="1"/>
            </p:cNvPicPr>
            <p:nvPr/>
          </p:nvPicPr>
          <p:blipFill>
            <a:blip r:embed="rId3" cstate="print">
              <a:extLst>
                <a:ext uri="{28A0092B-C50C-407E-A947-70E740481C1C}">
                  <a14:useLocalDpi xmlns:a14="http://schemas.microsoft.com/office/drawing/2010/main" val="0"/>
                </a:ext>
              </a:extLst>
            </a:blip>
            <a:srcRect b="17990"/>
            <a:stretch/>
          </p:blipFill>
          <p:spPr>
            <a:xfrm>
              <a:off x="7710202" y="1304371"/>
              <a:ext cx="2691610" cy="4982368"/>
            </a:xfrm>
            <a:prstGeom prst="rect">
              <a:avLst/>
            </a:prstGeom>
          </p:spPr>
        </p:pic>
        <p:sp>
          <p:nvSpPr>
            <p:cNvPr id="14" name="文本框 13">
              <a:extLst>
                <a:ext uri="{FF2B5EF4-FFF2-40B4-BE49-F238E27FC236}">
                  <a16:creationId xmlns:a16="http://schemas.microsoft.com/office/drawing/2014/main" id="{30882392-4B7F-D4DA-E8B6-74450D32C8ED}"/>
                </a:ext>
              </a:extLst>
            </p:cNvPr>
            <p:cNvSpPr txBox="1"/>
            <p:nvPr/>
          </p:nvSpPr>
          <p:spPr>
            <a:xfrm>
              <a:off x="7809512" y="6237312"/>
              <a:ext cx="2492990" cy="369332"/>
            </a:xfrm>
            <a:prstGeom prst="rect">
              <a:avLst/>
            </a:prstGeom>
            <a:noFill/>
          </p:spPr>
          <p:txBody>
            <a:bodyPr wrap="none" rtlCol="0">
              <a:spAutoFit/>
            </a:bodyPr>
            <a:lstStyle/>
            <a:p>
              <a:r>
                <a:rPr lang="zh-CN" altLang="en-US" dirty="0"/>
                <a:t>保活</a:t>
              </a:r>
              <a:r>
                <a:rPr lang="zh-CN" altLang="en-US" dirty="0">
                  <a:solidFill>
                    <a:srgbClr val="00B050"/>
                  </a:solidFill>
                </a:rPr>
                <a:t>正确打开方式</a:t>
              </a:r>
              <a:r>
                <a:rPr lang="zh-CN" altLang="en-US" dirty="0"/>
                <a:t>示例</a:t>
              </a:r>
            </a:p>
          </p:txBody>
        </p:sp>
      </p:grpSp>
      <p:sp>
        <p:nvSpPr>
          <p:cNvPr id="16" name="文本框 15">
            <a:extLst>
              <a:ext uri="{FF2B5EF4-FFF2-40B4-BE49-F238E27FC236}">
                <a16:creationId xmlns:a16="http://schemas.microsoft.com/office/drawing/2014/main" id="{88868E47-0D9C-172C-748F-D62EB1D485E3}"/>
              </a:ext>
            </a:extLst>
          </p:cNvPr>
          <p:cNvSpPr txBox="1"/>
          <p:nvPr/>
        </p:nvSpPr>
        <p:spPr>
          <a:xfrm>
            <a:off x="9363674" y="2924944"/>
            <a:ext cx="2339102" cy="461665"/>
          </a:xfrm>
          <a:prstGeom prst="rect">
            <a:avLst/>
          </a:prstGeom>
          <a:noFill/>
        </p:spPr>
        <p:txBody>
          <a:bodyPr wrap="none" rtlCol="0">
            <a:spAutoFit/>
          </a:bodyPr>
          <a:lstStyle/>
          <a:p>
            <a:r>
              <a:rPr lang="zh-CN" altLang="en-US" sz="2400" dirty="0"/>
              <a:t>←后台播放音乐</a:t>
            </a:r>
          </a:p>
        </p:txBody>
      </p:sp>
      <p:sp>
        <p:nvSpPr>
          <p:cNvPr id="17" name="文本框 16">
            <a:extLst>
              <a:ext uri="{FF2B5EF4-FFF2-40B4-BE49-F238E27FC236}">
                <a16:creationId xmlns:a16="http://schemas.microsoft.com/office/drawing/2014/main" id="{F56BC7BD-67F2-8A8F-E965-01EEC999D86D}"/>
              </a:ext>
            </a:extLst>
          </p:cNvPr>
          <p:cNvSpPr txBox="1"/>
          <p:nvPr/>
        </p:nvSpPr>
        <p:spPr>
          <a:xfrm>
            <a:off x="9383774" y="4077072"/>
            <a:ext cx="2339102" cy="461665"/>
          </a:xfrm>
          <a:prstGeom prst="rect">
            <a:avLst/>
          </a:prstGeom>
          <a:noFill/>
        </p:spPr>
        <p:txBody>
          <a:bodyPr wrap="none" rtlCol="0">
            <a:spAutoFit/>
          </a:bodyPr>
          <a:lstStyle/>
          <a:p>
            <a:r>
              <a:rPr lang="zh-CN" altLang="en-US" sz="2400" dirty="0"/>
              <a:t>←后台持续导航</a:t>
            </a:r>
          </a:p>
        </p:txBody>
      </p:sp>
      <p:sp>
        <p:nvSpPr>
          <p:cNvPr id="18" name="文本框 17">
            <a:extLst>
              <a:ext uri="{FF2B5EF4-FFF2-40B4-BE49-F238E27FC236}">
                <a16:creationId xmlns:a16="http://schemas.microsoft.com/office/drawing/2014/main" id="{A54C7D18-F41A-F29F-559C-636E1040C03E}"/>
              </a:ext>
            </a:extLst>
          </p:cNvPr>
          <p:cNvSpPr txBox="1"/>
          <p:nvPr/>
        </p:nvSpPr>
        <p:spPr>
          <a:xfrm>
            <a:off x="9383774" y="4869160"/>
            <a:ext cx="2339102" cy="1015663"/>
          </a:xfrm>
          <a:prstGeom prst="rect">
            <a:avLst/>
          </a:prstGeom>
          <a:noFill/>
        </p:spPr>
        <p:txBody>
          <a:bodyPr wrap="square" rtlCol="0">
            <a:spAutoFit/>
          </a:bodyPr>
          <a:lstStyle/>
          <a:p>
            <a:r>
              <a:rPr lang="zh-CN" altLang="en-US" sz="2000" dirty="0"/>
              <a:t>场景：骑车时，手机处于息屏状态，</a:t>
            </a:r>
            <a:r>
              <a:rPr lang="zh-CN" altLang="en-US" sz="2000" b="1" dirty="0"/>
              <a:t>边听音乐边听导航</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研究背景</a:t>
            </a:r>
            <a:endParaRPr lang="en-US" altLang="zh-CN" b="1" dirty="0"/>
          </a:p>
        </p:txBody>
      </p:sp>
      <p:sp>
        <p:nvSpPr>
          <p:cNvPr id="10" name="文本框 9"/>
          <p:cNvSpPr txBox="1"/>
          <p:nvPr/>
        </p:nvSpPr>
        <p:spPr>
          <a:xfrm>
            <a:off x="839417" y="2055241"/>
            <a:ext cx="3697576" cy="2309863"/>
          </a:xfrm>
          <a:prstGeom prst="rect">
            <a:avLst/>
          </a:prstGeom>
          <a:noFill/>
        </p:spPr>
        <p:txBody>
          <a:bodyPr wrap="square">
            <a:noAutofit/>
          </a:bodyPr>
          <a:lstStyle/>
          <a:p>
            <a:pPr algn="just"/>
            <a:r>
              <a:rPr lang="zh-CN" altLang="en-US" sz="2000" dirty="0">
                <a:latin typeface="微软雅黑" panose="020B0503020204020204" pitchFamily="34" charset="-122"/>
                <a:ea typeface="微软雅黑" panose="020B0503020204020204" pitchFamily="34" charset="-122"/>
              </a:rPr>
              <a:t>恶意开发者通过利用保活机制制造大量流氓应用，会</a:t>
            </a:r>
            <a:r>
              <a:rPr lang="zh-CN" altLang="en-US" sz="2000" dirty="0">
                <a:latin typeface="微软雅黑" panose="020B0503020204020204" pitchFamily="34" charset="-122"/>
                <a:ea typeface="微软雅黑" panose="020B0503020204020204" pitchFamily="34" charset="-122"/>
                <a:sym typeface="+mn-ea"/>
              </a:rPr>
              <a:t>导致：</a:t>
            </a:r>
          </a:p>
          <a:p>
            <a:pPr marL="342900" indent="-342900" algn="just">
              <a:buChar char="•"/>
            </a:pPr>
            <a:r>
              <a:rPr lang="zh-CN" altLang="en-US" sz="2000" dirty="0">
                <a:latin typeface="微软雅黑" panose="020B0503020204020204" pitchFamily="34" charset="-122"/>
                <a:ea typeface="微软雅黑" panose="020B0503020204020204" pitchFamily="34" charset="-122"/>
                <a:sym typeface="+mn-ea"/>
              </a:rPr>
              <a:t>手机电池加速消耗</a:t>
            </a:r>
            <a:endParaRPr lang="en-US" altLang="zh-CN" sz="2000" dirty="0">
              <a:latin typeface="微软雅黑" panose="020B0503020204020204" pitchFamily="34" charset="-122"/>
              <a:ea typeface="微软雅黑" panose="020B0503020204020204" pitchFamily="34" charset="-122"/>
              <a:sym typeface="+mn-ea"/>
            </a:endParaRPr>
          </a:p>
          <a:p>
            <a:pPr marL="342900" indent="-342900" algn="just">
              <a:buChar char="•"/>
            </a:pPr>
            <a:r>
              <a:rPr lang="zh-CN" altLang="en-US" sz="2000" dirty="0">
                <a:latin typeface="微软雅黑" panose="020B0503020204020204" pitchFamily="34" charset="-122"/>
                <a:ea typeface="微软雅黑" panose="020B0503020204020204" pitchFamily="34" charset="-122"/>
                <a:sym typeface="+mn-ea"/>
              </a:rPr>
              <a:t>手机卡顿等</a:t>
            </a:r>
          </a:p>
          <a:p>
            <a:pPr marL="342900" indent="-342900" algn="just">
              <a:buChar char="•"/>
            </a:pPr>
            <a:r>
              <a:rPr lang="zh-CN" altLang="en-US" sz="2000" dirty="0">
                <a:latin typeface="微软雅黑" panose="020B0503020204020204" pitchFamily="34" charset="-122"/>
                <a:ea typeface="微软雅黑" panose="020B0503020204020204" pitchFamily="34" charset="-122"/>
              </a:rPr>
              <a:t>资费受损</a:t>
            </a:r>
            <a:endParaRPr lang="en-US" altLang="zh-CN" sz="2000" dirty="0">
              <a:latin typeface="微软雅黑" panose="020B0503020204020204" pitchFamily="34" charset="-122"/>
              <a:ea typeface="微软雅黑" panose="020B0503020204020204" pitchFamily="34" charset="-122"/>
            </a:endParaRPr>
          </a:p>
          <a:p>
            <a:pPr marL="342900" indent="-342900" algn="just">
              <a:buChar char="•"/>
            </a:pPr>
            <a:r>
              <a:rPr lang="zh-CN" altLang="en-US" sz="2000" dirty="0">
                <a:latin typeface="微软雅黑" panose="020B0503020204020204" pitchFamily="34" charset="-122"/>
                <a:ea typeface="微软雅黑" panose="020B0503020204020204" pitchFamily="34" charset="-122"/>
              </a:rPr>
              <a:t>隐私泄露</a:t>
            </a:r>
            <a:endParaRPr lang="en-US" altLang="zh-CN" sz="2000" dirty="0">
              <a:latin typeface="微软雅黑" panose="020B0503020204020204" pitchFamily="34" charset="-122"/>
              <a:ea typeface="微软雅黑" panose="020B0503020204020204" pitchFamily="34" charset="-122"/>
            </a:endParaRPr>
          </a:p>
          <a:p>
            <a:pPr marL="342900" indent="-342900" algn="just">
              <a:buChar char="•"/>
            </a:pPr>
            <a:r>
              <a:rPr lang="en-US" altLang="zh-CN" sz="2000" dirty="0">
                <a:latin typeface="微软雅黑" panose="020B0503020204020204" pitchFamily="34" charset="-122"/>
                <a:ea typeface="微软雅黑" panose="020B0503020204020204" pitchFamily="34" charset="-122"/>
              </a:rPr>
              <a:t>……</a:t>
            </a:r>
          </a:p>
          <a:p>
            <a:pPr algn="just"/>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001976" y="1515264"/>
            <a:ext cx="3535016" cy="46799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“保活”的恶意行为</a:t>
            </a:r>
            <a:endParaRPr kumimoji="1" lang="zh-CN" altLang="en-US" sz="2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28" name="不完整圆 27"/>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20" name="文本框 19"/>
          <p:cNvSpPr txBox="1"/>
          <p:nvPr/>
        </p:nvSpPr>
        <p:spPr>
          <a:xfrm>
            <a:off x="724001" y="5805264"/>
            <a:ext cx="10241280" cy="829945"/>
          </a:xfrm>
          <a:prstGeom prst="rect">
            <a:avLst/>
          </a:prstGeom>
        </p:spPr>
        <p:txBody>
          <a:bodyPr wrap="none" rtlCol="0">
            <a:spAutoFit/>
          </a:bodyPr>
          <a:lstStyle/>
          <a:p>
            <a:r>
              <a:rPr lang="zh-CN" altLang="en-US" sz="2400" dirty="0">
                <a:latin typeface="华文隶书" charset="0"/>
                <a:ea typeface="华文隶书" charset="0"/>
                <a:cs typeface="华文隶书" charset="0"/>
              </a:rPr>
              <a:t>研究如何</a:t>
            </a:r>
            <a:r>
              <a:rPr lang="zh-CN" altLang="en-US" sz="2400" dirty="0">
                <a:solidFill>
                  <a:srgbClr val="FF0000"/>
                </a:solidFill>
                <a:latin typeface="华文隶书" charset="0"/>
                <a:ea typeface="华文隶书" charset="0"/>
                <a:cs typeface="华文隶书" charset="0"/>
              </a:rPr>
              <a:t>检测保活、分析保活意图</a:t>
            </a:r>
          </a:p>
          <a:p>
            <a:r>
              <a:rPr lang="zh-CN" altLang="en-US" sz="2400" dirty="0">
                <a:latin typeface="华文隶书" charset="0"/>
                <a:ea typeface="华文隶书" charset="0"/>
                <a:cs typeface="华文隶书" charset="0"/>
              </a:rPr>
              <a:t>区分</a:t>
            </a:r>
            <a:r>
              <a:rPr lang="zh-CN" altLang="en-US" sz="2400" dirty="0">
                <a:solidFill>
                  <a:srgbClr val="FF0000"/>
                </a:solidFill>
                <a:latin typeface="华文隶书" charset="0"/>
                <a:ea typeface="华文隶书" charset="0"/>
                <a:cs typeface="华文隶书" charset="0"/>
              </a:rPr>
              <a:t>良性保活与恶意保活</a:t>
            </a:r>
            <a:r>
              <a:rPr lang="zh-CN" altLang="en-US" sz="2400" dirty="0">
                <a:latin typeface="华文隶书" charset="0"/>
                <a:ea typeface="华文隶书" charset="0"/>
                <a:cs typeface="华文隶书" charset="0"/>
              </a:rPr>
              <a:t>，对</a:t>
            </a:r>
            <a:r>
              <a:rPr lang="zh-CN" altLang="en-US" sz="2400" dirty="0">
                <a:solidFill>
                  <a:srgbClr val="FF0000"/>
                </a:solidFill>
                <a:latin typeface="华文隶书" charset="0"/>
                <a:ea typeface="华文隶书" charset="0"/>
                <a:cs typeface="华文隶书" charset="0"/>
              </a:rPr>
              <a:t>提升用户体验、捍卫健康移动生态</a:t>
            </a:r>
            <a:r>
              <a:rPr lang="zh-CN" altLang="en-US" sz="2400" dirty="0">
                <a:latin typeface="华文隶书" charset="0"/>
                <a:ea typeface="华文隶书" charset="0"/>
                <a:cs typeface="华文隶书" charset="0"/>
              </a:rPr>
              <a:t>有重要意义</a:t>
            </a:r>
          </a:p>
        </p:txBody>
      </p:sp>
      <p:grpSp>
        <p:nvGrpSpPr>
          <p:cNvPr id="11" name="组合 10">
            <a:extLst>
              <a:ext uri="{FF2B5EF4-FFF2-40B4-BE49-F238E27FC236}">
                <a16:creationId xmlns:a16="http://schemas.microsoft.com/office/drawing/2014/main" id="{CAA0BF37-C938-8896-23C0-3D66B1B6784F}"/>
              </a:ext>
            </a:extLst>
          </p:cNvPr>
          <p:cNvGrpSpPr/>
          <p:nvPr/>
        </p:nvGrpSpPr>
        <p:grpSpPr>
          <a:xfrm>
            <a:off x="5447928" y="1340768"/>
            <a:ext cx="3816686" cy="4642322"/>
            <a:chOff x="5692805" y="1162942"/>
            <a:chExt cx="3816686" cy="4642322"/>
          </a:xfrm>
        </p:grpSpPr>
        <p:grpSp>
          <p:nvGrpSpPr>
            <p:cNvPr id="8" name="组合 7">
              <a:extLst>
                <a:ext uri="{FF2B5EF4-FFF2-40B4-BE49-F238E27FC236}">
                  <a16:creationId xmlns:a16="http://schemas.microsoft.com/office/drawing/2014/main" id="{A807491B-4ACD-ABCA-6357-87AD7EDF139D}"/>
                </a:ext>
              </a:extLst>
            </p:cNvPr>
            <p:cNvGrpSpPr/>
            <p:nvPr/>
          </p:nvGrpSpPr>
          <p:grpSpPr>
            <a:xfrm>
              <a:off x="5692805" y="1629833"/>
              <a:ext cx="3816686" cy="4175431"/>
              <a:chOff x="5692805" y="1629833"/>
              <a:chExt cx="3816686" cy="4175431"/>
            </a:xfrm>
          </p:grpSpPr>
          <p:grpSp>
            <p:nvGrpSpPr>
              <p:cNvPr id="7" name="组合 6">
                <a:extLst>
                  <a:ext uri="{FF2B5EF4-FFF2-40B4-BE49-F238E27FC236}">
                    <a16:creationId xmlns:a16="http://schemas.microsoft.com/office/drawing/2014/main" id="{95642A17-1B81-323B-F637-0D7970F0CEF9}"/>
                  </a:ext>
                </a:extLst>
              </p:cNvPr>
              <p:cNvGrpSpPr/>
              <p:nvPr/>
            </p:nvGrpSpPr>
            <p:grpSpPr>
              <a:xfrm>
                <a:off x="7681799" y="1629833"/>
                <a:ext cx="1827692" cy="4175431"/>
                <a:chOff x="7886922" y="1629833"/>
                <a:chExt cx="1827692" cy="4175431"/>
              </a:xfrm>
            </p:grpSpPr>
            <p:sp>
              <p:nvSpPr>
                <p:cNvPr id="16" name="文本框 15"/>
                <p:cNvSpPr txBox="1"/>
                <p:nvPr userDrawn="1"/>
              </p:nvSpPr>
              <p:spPr>
                <a:xfrm>
                  <a:off x="7958103" y="5515693"/>
                  <a:ext cx="1598279" cy="289571"/>
                </a:xfrm>
                <a:prstGeom prst="rect">
                  <a:avLst/>
                </a:prstGeom>
              </p:spPr>
              <p:txBody>
                <a:bodyPr wrap="square" rtlCol="0">
                  <a:noAutofit/>
                </a:bodyPr>
                <a:lstStyle/>
                <a:p>
                  <a:pPr algn="ctr"/>
                  <a:r>
                    <a:rPr lang="zh-CN" altLang="en-US" dirty="0"/>
                    <a:t>顽固通知示例</a:t>
                  </a:r>
                </a:p>
              </p:txBody>
            </p:sp>
            <p:pic>
              <p:nvPicPr>
                <p:cNvPr id="6" name="图片 5">
                  <a:extLst>
                    <a:ext uri="{FF2B5EF4-FFF2-40B4-BE49-F238E27FC236}">
                      <a16:creationId xmlns:a16="http://schemas.microsoft.com/office/drawing/2014/main" id="{6F6282CE-96C0-4B28-A19B-5842FB7065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86922" y="1629833"/>
                  <a:ext cx="1827692" cy="3960000"/>
                </a:xfrm>
                <a:prstGeom prst="rect">
                  <a:avLst/>
                </a:prstGeom>
              </p:spPr>
            </p:pic>
          </p:grpSp>
          <p:grpSp>
            <p:nvGrpSpPr>
              <p:cNvPr id="5" name="组合 4">
                <a:extLst>
                  <a:ext uri="{FF2B5EF4-FFF2-40B4-BE49-F238E27FC236}">
                    <a16:creationId xmlns:a16="http://schemas.microsoft.com/office/drawing/2014/main" id="{8331CB59-F463-F25E-8967-B04BFA5B3978}"/>
                  </a:ext>
                </a:extLst>
              </p:cNvPr>
              <p:cNvGrpSpPr/>
              <p:nvPr/>
            </p:nvGrpSpPr>
            <p:grpSpPr>
              <a:xfrm>
                <a:off x="5692805" y="1629833"/>
                <a:ext cx="1827692" cy="4175431"/>
                <a:chOff x="5692805" y="1629833"/>
                <a:chExt cx="1827692" cy="4175431"/>
              </a:xfrm>
            </p:grpSpPr>
            <p:sp>
              <p:nvSpPr>
                <p:cNvPr id="26" name="文本框 25">
                  <a:extLst>
                    <a:ext uri="{FF2B5EF4-FFF2-40B4-BE49-F238E27FC236}">
                      <a16:creationId xmlns:a16="http://schemas.microsoft.com/office/drawing/2014/main" id="{8E566945-C0E2-4C5D-B0B0-D6C4DC68F386}"/>
                    </a:ext>
                  </a:extLst>
                </p:cNvPr>
                <p:cNvSpPr txBox="1"/>
                <p:nvPr userDrawn="1"/>
              </p:nvSpPr>
              <p:spPr>
                <a:xfrm>
                  <a:off x="5807512" y="5515693"/>
                  <a:ext cx="1598279" cy="289571"/>
                </a:xfrm>
                <a:prstGeom prst="rect">
                  <a:avLst/>
                </a:prstGeom>
              </p:spPr>
              <p:txBody>
                <a:bodyPr wrap="square" rtlCol="0">
                  <a:noAutofit/>
                </a:bodyPr>
                <a:lstStyle/>
                <a:p>
                  <a:pPr algn="ctr"/>
                  <a:r>
                    <a:rPr lang="zh-CN" altLang="en-US" dirty="0"/>
                    <a:t>流氓广告示例</a:t>
                  </a:r>
                </a:p>
              </p:txBody>
            </p:sp>
            <p:pic>
              <p:nvPicPr>
                <p:cNvPr id="29" name="图片 28">
                  <a:extLst>
                    <a:ext uri="{FF2B5EF4-FFF2-40B4-BE49-F238E27FC236}">
                      <a16:creationId xmlns:a16="http://schemas.microsoft.com/office/drawing/2014/main" id="{F3EFC7FB-3097-45A2-AD4C-E497C406272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692805" y="1629833"/>
                  <a:ext cx="1827692" cy="3960000"/>
                </a:xfrm>
                <a:prstGeom prst="rect">
                  <a:avLst/>
                </a:prstGeom>
              </p:spPr>
            </p:pic>
          </p:grpSp>
        </p:grpSp>
        <p:sp>
          <p:nvSpPr>
            <p:cNvPr id="4" name="文本框 3">
              <a:extLst>
                <a:ext uri="{FF2B5EF4-FFF2-40B4-BE49-F238E27FC236}">
                  <a16:creationId xmlns:a16="http://schemas.microsoft.com/office/drawing/2014/main" id="{093BFEE4-EBC4-B75E-55E8-640067C44B29}"/>
                </a:ext>
              </a:extLst>
            </p:cNvPr>
            <p:cNvSpPr txBox="1"/>
            <p:nvPr/>
          </p:nvSpPr>
          <p:spPr>
            <a:xfrm>
              <a:off x="6098173" y="1162942"/>
              <a:ext cx="3005951" cy="430887"/>
            </a:xfrm>
            <a:prstGeom prst="rect">
              <a:avLst/>
            </a:prstGeom>
            <a:noFill/>
          </p:spPr>
          <p:txBody>
            <a:bodyPr wrap="none" rtlCol="0">
              <a:spAutoFit/>
            </a:bodyPr>
            <a:lstStyle/>
            <a:p>
              <a:r>
                <a:rPr lang="zh-CN" altLang="en-US" sz="2200" b="1" dirty="0"/>
                <a:t>常见恶意保活行为展示</a:t>
              </a:r>
            </a:p>
          </p:txBody>
        </p:sp>
      </p:grpSp>
      <p:sp>
        <p:nvSpPr>
          <p:cNvPr id="12" name="文本框 11">
            <a:extLst>
              <a:ext uri="{FF2B5EF4-FFF2-40B4-BE49-F238E27FC236}">
                <a16:creationId xmlns:a16="http://schemas.microsoft.com/office/drawing/2014/main" id="{52CF0359-7730-82BA-F244-28D7BC3DC677}"/>
              </a:ext>
            </a:extLst>
          </p:cNvPr>
          <p:cNvSpPr txBox="1"/>
          <p:nvPr/>
        </p:nvSpPr>
        <p:spPr>
          <a:xfrm>
            <a:off x="9150482" y="2984101"/>
            <a:ext cx="2954655" cy="461665"/>
          </a:xfrm>
          <a:prstGeom prst="rect">
            <a:avLst/>
          </a:prstGeom>
          <a:noFill/>
        </p:spPr>
        <p:txBody>
          <a:bodyPr wrap="none" rtlCol="0">
            <a:spAutoFit/>
          </a:bodyPr>
          <a:lstStyle/>
          <a:p>
            <a:r>
              <a:rPr lang="zh-CN" altLang="en-US" sz="2400" dirty="0"/>
              <a:t>←关不掉的流氓通知</a:t>
            </a:r>
          </a:p>
        </p:txBody>
      </p:sp>
      <p:sp>
        <p:nvSpPr>
          <p:cNvPr id="13" name="文本框 12">
            <a:extLst>
              <a:ext uri="{FF2B5EF4-FFF2-40B4-BE49-F238E27FC236}">
                <a16:creationId xmlns:a16="http://schemas.microsoft.com/office/drawing/2014/main" id="{16E3DC7A-8D44-6E3D-ED49-34E188464A74}"/>
              </a:ext>
            </a:extLst>
          </p:cNvPr>
          <p:cNvSpPr txBox="1"/>
          <p:nvPr/>
        </p:nvSpPr>
        <p:spPr>
          <a:xfrm>
            <a:off x="7160914" y="4112795"/>
            <a:ext cx="3877985" cy="461665"/>
          </a:xfrm>
          <a:prstGeom prst="rect">
            <a:avLst/>
          </a:prstGeom>
          <a:noFill/>
        </p:spPr>
        <p:txBody>
          <a:bodyPr wrap="none" rtlCol="0">
            <a:spAutoFit/>
          </a:bodyPr>
          <a:lstStyle/>
          <a:p>
            <a:r>
              <a:rPr lang="zh-CN" altLang="en-US" sz="2400" dirty="0"/>
              <a:t>←总是弹出的各种流氓广告</a:t>
            </a:r>
          </a:p>
        </p:txBody>
      </p:sp>
      <p:sp>
        <p:nvSpPr>
          <p:cNvPr id="14" name="文本框 13">
            <a:extLst>
              <a:ext uri="{FF2B5EF4-FFF2-40B4-BE49-F238E27FC236}">
                <a16:creationId xmlns:a16="http://schemas.microsoft.com/office/drawing/2014/main" id="{08CB693A-CD4E-7867-0510-BB29DCE3A80C}"/>
              </a:ext>
            </a:extLst>
          </p:cNvPr>
          <p:cNvSpPr txBox="1"/>
          <p:nvPr/>
        </p:nvSpPr>
        <p:spPr>
          <a:xfrm>
            <a:off x="1133305" y="4580874"/>
            <a:ext cx="3272358" cy="830997"/>
          </a:xfrm>
          <a:prstGeom prst="rect">
            <a:avLst/>
          </a:prstGeom>
          <a:noFill/>
        </p:spPr>
        <p:txBody>
          <a:bodyPr wrap="square" rtlCol="0">
            <a:spAutoFit/>
          </a:bodyPr>
          <a:lstStyle/>
          <a:p>
            <a:r>
              <a:rPr lang="zh-CN" altLang="en-US" sz="2400" b="1" dirty="0"/>
              <a:t>恶意的保活行为正在严重破坏移动软件生态！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A64AF-598F-DEF5-D46C-90E7E3FF8B4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FC2E19F-982A-52E4-8CF9-C5B72652A7F0}"/>
              </a:ext>
            </a:extLst>
          </p:cNvPr>
          <p:cNvSpPr>
            <a:spLocks noGrp="1"/>
          </p:cNvSpPr>
          <p:nvPr>
            <p:ph type="body" sz="quarter" idx="10"/>
          </p:nvPr>
        </p:nvSpPr>
        <p:spPr>
          <a:xfrm>
            <a:off x="459944" y="269411"/>
            <a:ext cx="864096" cy="1008063"/>
          </a:xfrm>
        </p:spPr>
        <p:txBody>
          <a:bodyPr/>
          <a:lstStyle/>
          <a:p>
            <a:r>
              <a:rPr lang="en-US" altLang="zh-CN" dirty="0"/>
              <a:t>2</a:t>
            </a:r>
            <a:endParaRPr lang="zh-CN" altLang="en-US" dirty="0"/>
          </a:p>
        </p:txBody>
      </p:sp>
      <p:sp>
        <p:nvSpPr>
          <p:cNvPr id="3" name="文本占位符 2">
            <a:extLst>
              <a:ext uri="{FF2B5EF4-FFF2-40B4-BE49-F238E27FC236}">
                <a16:creationId xmlns:a16="http://schemas.microsoft.com/office/drawing/2014/main" id="{9D2C880B-FD9A-97A2-0FE3-C56514C6DBCD}"/>
              </a:ext>
            </a:extLst>
          </p:cNvPr>
          <p:cNvSpPr>
            <a:spLocks noGrp="1"/>
          </p:cNvSpPr>
          <p:nvPr>
            <p:ph type="body" sz="quarter" idx="12"/>
          </p:nvPr>
        </p:nvSpPr>
        <p:spPr>
          <a:xfrm>
            <a:off x="1437591" y="348250"/>
            <a:ext cx="9468473" cy="496824"/>
          </a:xfrm>
        </p:spPr>
        <p:txBody>
          <a:bodyPr/>
          <a:lstStyle/>
          <a:p>
            <a:pPr fontAlgn="base"/>
            <a:r>
              <a:rPr lang="zh-CN" altLang="en-US" b="1" dirty="0"/>
              <a:t>现有工作、挑战与应对方法</a:t>
            </a:r>
            <a:endParaRPr lang="en-US" altLang="zh-CN" b="1" dirty="0"/>
          </a:p>
        </p:txBody>
      </p:sp>
      <p:sp>
        <p:nvSpPr>
          <p:cNvPr id="17" name="文本框 16">
            <a:extLst>
              <a:ext uri="{FF2B5EF4-FFF2-40B4-BE49-F238E27FC236}">
                <a16:creationId xmlns:a16="http://schemas.microsoft.com/office/drawing/2014/main" id="{6FEE9051-8774-B0B8-CA3E-1F3BF2B8943B}"/>
              </a:ext>
            </a:extLst>
          </p:cNvPr>
          <p:cNvSpPr txBox="1"/>
          <p:nvPr/>
        </p:nvSpPr>
        <p:spPr>
          <a:xfrm>
            <a:off x="839417" y="2058068"/>
            <a:ext cx="10253735" cy="4654608"/>
          </a:xfrm>
          <a:prstGeom prst="rect">
            <a:avLst/>
          </a:prstGeom>
          <a:noFill/>
        </p:spPr>
        <p:txBody>
          <a:bodyPr wrap="square">
            <a:spAutoFit/>
          </a:bodyPr>
          <a:lstStyle/>
          <a:p>
            <a:pPr algn="just">
              <a:lnSpc>
                <a:spcPct val="150000"/>
              </a:lnSpc>
            </a:pPr>
            <a:r>
              <a:rPr lang="zh-CN" altLang="en-US" sz="2000" dirty="0">
                <a:latin typeface="微软雅黑" charset="0"/>
                <a:ea typeface="微软雅黑" charset="0"/>
                <a:cs typeface="微软雅黑" charset="0"/>
              </a:rPr>
              <a:t>在国内外针对</a:t>
            </a:r>
            <a:r>
              <a:rPr lang="en-US" altLang="zh-CN" sz="2000" dirty="0">
                <a:latin typeface="微软雅黑" charset="0"/>
                <a:ea typeface="微软雅黑" charset="0"/>
                <a:cs typeface="微软雅黑" charset="0"/>
              </a:rPr>
              <a:t>Android</a:t>
            </a:r>
            <a:r>
              <a:rPr lang="zh-CN" altLang="en-US" sz="2000" dirty="0">
                <a:latin typeface="微软雅黑" charset="0"/>
                <a:ea typeface="微软雅黑" charset="0"/>
                <a:cs typeface="微软雅黑" charset="0"/>
              </a:rPr>
              <a:t>应用保活的相关工作中，都是针对</a:t>
            </a:r>
            <a:r>
              <a:rPr lang="zh-CN" altLang="en-US" sz="2000" b="1" dirty="0">
                <a:latin typeface="微软雅黑" charset="0"/>
                <a:ea typeface="微软雅黑" charset="0"/>
                <a:cs typeface="微软雅黑" charset="0"/>
              </a:rPr>
              <a:t>保活行为本身的检测</a:t>
            </a:r>
            <a:r>
              <a:rPr lang="zh-CN" altLang="en-US" sz="2000" dirty="0">
                <a:latin typeface="微软雅黑" charset="0"/>
                <a:ea typeface="微软雅黑" charset="0"/>
                <a:cs typeface="微软雅黑" charset="0"/>
              </a:rPr>
              <a:t>，目前没有工作探讨如何</a:t>
            </a:r>
            <a:r>
              <a:rPr lang="zh-CN" altLang="en-US" sz="2000" b="1" dirty="0">
                <a:latin typeface="微软雅黑" charset="0"/>
                <a:ea typeface="微软雅黑" charset="0"/>
                <a:cs typeface="微软雅黑" charset="0"/>
              </a:rPr>
              <a:t>分析与理解实施保活行为的意图。</a:t>
            </a:r>
            <a:endParaRPr lang="en-US" altLang="zh-CN" sz="2000" b="1" dirty="0">
              <a:latin typeface="微软雅黑" charset="0"/>
              <a:ea typeface="微软雅黑" charset="0"/>
              <a:cs typeface="微软雅黑" charset="0"/>
            </a:endParaRPr>
          </a:p>
          <a:p>
            <a:pPr marL="342900" indent="-342900" algn="just">
              <a:lnSpc>
                <a:spcPct val="150000"/>
              </a:lnSpc>
              <a:buFont typeface="Arial" panose="020B0604020202020204" pitchFamily="34" charset="0"/>
              <a:buChar char="•"/>
            </a:pPr>
            <a:r>
              <a:rPr lang="zh-CN" altLang="en-US" sz="2000" dirty="0">
                <a:latin typeface="微软雅黑" charset="0"/>
                <a:ea typeface="微软雅黑" charset="0"/>
                <a:cs typeface="微软雅黑" charset="0"/>
              </a:rPr>
              <a:t>香港理工大学</a:t>
            </a:r>
            <a:r>
              <a:rPr lang="en-US" altLang="zh-CN" sz="2000" dirty="0" err="1">
                <a:latin typeface="微软雅黑" charset="0"/>
                <a:ea typeface="微软雅黑" charset="0"/>
                <a:cs typeface="微软雅黑" charset="0"/>
              </a:rPr>
              <a:t>Xiapu</a:t>
            </a:r>
            <a:r>
              <a:rPr lang="en-US" altLang="zh-CN" sz="2000" dirty="0">
                <a:latin typeface="微软雅黑" charset="0"/>
                <a:ea typeface="微软雅黑" charset="0"/>
                <a:cs typeface="微软雅黑" charset="0"/>
              </a:rPr>
              <a:t> Luo</a:t>
            </a:r>
            <a:r>
              <a:rPr lang="zh-CN" altLang="en-US" sz="2000" dirty="0">
                <a:latin typeface="微软雅黑" charset="0"/>
                <a:ea typeface="微软雅黑" charset="0"/>
                <a:cs typeface="微软雅黑" charset="0"/>
              </a:rPr>
              <a:t>老师的团队发表于</a:t>
            </a:r>
            <a:r>
              <a:rPr lang="en-US" altLang="zh-CN" sz="2000" dirty="0">
                <a:latin typeface="微软雅黑" charset="0"/>
                <a:ea typeface="微软雅黑" charset="0"/>
                <a:cs typeface="微软雅黑" charset="0"/>
              </a:rPr>
              <a:t>ASE 2020</a:t>
            </a:r>
            <a:r>
              <a:rPr lang="zh-CN" altLang="en-US" sz="2000" dirty="0">
                <a:latin typeface="微软雅黑" charset="0"/>
                <a:ea typeface="微软雅黑" charset="0"/>
                <a:cs typeface="微软雅黑" charset="0"/>
              </a:rPr>
              <a:t>的论文“</a:t>
            </a:r>
            <a:r>
              <a:rPr lang="en-US" altLang="zh-CN" sz="2000" i="1" dirty="0">
                <a:latin typeface="微软雅黑" charset="0"/>
                <a:ea typeface="微软雅黑" charset="0"/>
                <a:cs typeface="微软雅黑" charset="0"/>
              </a:rPr>
              <a:t>Demystifying Diehard Android Apps</a:t>
            </a:r>
            <a:r>
              <a:rPr lang="zh-CN" altLang="en-US" sz="2000" dirty="0">
                <a:latin typeface="微软雅黑" charset="0"/>
                <a:ea typeface="微软雅黑" charset="0"/>
                <a:cs typeface="微软雅黑" charset="0"/>
              </a:rPr>
              <a:t>”系统性研究了</a:t>
            </a:r>
            <a:r>
              <a:rPr lang="en-US" altLang="zh-CN" sz="2000" dirty="0">
                <a:latin typeface="微软雅黑" charset="0"/>
                <a:ea typeface="微软雅黑" charset="0"/>
                <a:cs typeface="微软雅黑" charset="0"/>
              </a:rPr>
              <a:t>Android</a:t>
            </a:r>
            <a:r>
              <a:rPr lang="zh-CN" altLang="en-US" sz="2000" dirty="0">
                <a:latin typeface="微软雅黑" charset="0"/>
                <a:ea typeface="微软雅黑" charset="0"/>
                <a:cs typeface="微软雅黑" charset="0"/>
              </a:rPr>
              <a:t>应用的保活行为，具有开创性，但没有关注保活意图和区分保活行为的良恶；</a:t>
            </a:r>
            <a:endParaRPr lang="en-US" altLang="zh-CN" sz="2000" dirty="0">
              <a:latin typeface="微软雅黑" charset="0"/>
              <a:ea typeface="微软雅黑" charset="0"/>
              <a:cs typeface="微软雅黑" charset="0"/>
            </a:endParaRPr>
          </a:p>
          <a:p>
            <a:pPr marL="342900" indent="-342900" algn="just">
              <a:lnSpc>
                <a:spcPct val="150000"/>
              </a:lnSpc>
              <a:buFont typeface="Arial" panose="020B0604020202020204" pitchFamily="34" charset="0"/>
              <a:buChar char="•"/>
            </a:pPr>
            <a:r>
              <a:rPr lang="zh-CN" altLang="en-US" sz="2000" dirty="0">
                <a:latin typeface="微软雅黑" charset="0"/>
                <a:ea typeface="微软雅黑" charset="0"/>
                <a:cs typeface="微软雅黑" charset="0"/>
              </a:rPr>
              <a:t>中国科学技术大学的颜宏冰对在后台播放无声音频保活的行为进行了识别与检测，并认为在保活过程中使用了系统传感器的</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是良性的，也具有一定的局限性。</a:t>
            </a:r>
            <a:endParaRPr lang="en-US" altLang="zh-CN" sz="2000" dirty="0">
              <a:latin typeface="微软雅黑" charset="0"/>
              <a:ea typeface="微软雅黑" charset="0"/>
              <a:cs typeface="微软雅黑" charset="0"/>
            </a:endParaRPr>
          </a:p>
          <a:p>
            <a:pPr marL="342900" indent="-342900" algn="just">
              <a:lnSpc>
                <a:spcPct val="150000"/>
              </a:lnSpc>
              <a:buFont typeface="Arial" panose="020B0604020202020204" pitchFamily="34" charset="0"/>
              <a:buChar char="•"/>
            </a:pPr>
            <a:r>
              <a:rPr lang="en-US" altLang="zh-CN" sz="2000" dirty="0">
                <a:latin typeface="微软雅黑" charset="0"/>
                <a:ea typeface="微软雅黑" charset="0"/>
                <a:cs typeface="微软雅黑" charset="0"/>
              </a:rPr>
              <a:t>……</a:t>
            </a:r>
          </a:p>
          <a:p>
            <a:pPr algn="just">
              <a:lnSpc>
                <a:spcPct val="150000"/>
              </a:lnSpc>
            </a:pPr>
            <a:r>
              <a:rPr lang="zh-CN" altLang="en-US" sz="2000" dirty="0">
                <a:latin typeface="思源黑体 CN Bold" panose="02010600030101010101" charset="-122"/>
                <a:ea typeface="思源黑体 CN Bold" panose="02010600030101010101" charset="-122"/>
                <a:cs typeface="微软雅黑" charset="0"/>
              </a:rPr>
              <a:t>本课题的工作将结合</a:t>
            </a:r>
            <a:r>
              <a:rPr lang="zh-CN" altLang="en-US" sz="2000" b="1" dirty="0">
                <a:latin typeface="思源黑体 CN Bold" panose="02010600030101010101" charset="-122"/>
                <a:ea typeface="思源黑体 CN Bold" panose="02010600030101010101" charset="-122"/>
                <a:cs typeface="微软雅黑" charset="0"/>
              </a:rPr>
              <a:t>保活行为检测</a:t>
            </a:r>
            <a:r>
              <a:rPr lang="zh-CN" altLang="en-US" sz="2000" dirty="0">
                <a:latin typeface="思源黑体 CN Bold" panose="02010600030101010101" charset="-122"/>
                <a:ea typeface="思源黑体 CN Bold" panose="02010600030101010101" charset="-122"/>
                <a:cs typeface="微软雅黑" charset="0"/>
              </a:rPr>
              <a:t>与</a:t>
            </a:r>
            <a:r>
              <a:rPr lang="zh-CN" altLang="en-US" sz="2000" b="1" dirty="0">
                <a:latin typeface="思源黑体 CN Bold" panose="02010600030101010101" charset="-122"/>
                <a:ea typeface="思源黑体 CN Bold" panose="02010600030101010101" charset="-122"/>
                <a:cs typeface="微软雅黑" charset="0"/>
              </a:rPr>
              <a:t>保活行为意图的分析与理解</a:t>
            </a:r>
            <a:r>
              <a:rPr lang="zh-CN" altLang="en-US" sz="2000" dirty="0">
                <a:latin typeface="思源黑体 CN Bold" panose="02010600030101010101" charset="-122"/>
                <a:ea typeface="思源黑体 CN Bold" panose="02010600030101010101" charset="-122"/>
                <a:cs typeface="微软雅黑" charset="0"/>
              </a:rPr>
              <a:t>，以期能对良性保活行为和恶意保活行为进行区分</a:t>
            </a:r>
            <a:endParaRPr lang="en-US" altLang="zh-CN" sz="2000" dirty="0">
              <a:latin typeface="思源黑体 CN Bold" panose="02010600030101010101" charset="-122"/>
              <a:ea typeface="思源黑体 CN Bold" panose="02010600030101010101" charset="-122"/>
              <a:cs typeface="微软雅黑" charset="0"/>
            </a:endParaRPr>
          </a:p>
        </p:txBody>
      </p:sp>
      <p:sp>
        <p:nvSpPr>
          <p:cNvPr id="4" name="文本框 3">
            <a:extLst>
              <a:ext uri="{FF2B5EF4-FFF2-40B4-BE49-F238E27FC236}">
                <a16:creationId xmlns:a16="http://schemas.microsoft.com/office/drawing/2014/main" id="{56133BE3-A734-3AE0-1BC6-731D9F71DADE}"/>
              </a:ext>
            </a:extLst>
          </p:cNvPr>
          <p:cNvSpPr txBox="1"/>
          <p:nvPr/>
        </p:nvSpPr>
        <p:spPr>
          <a:xfrm>
            <a:off x="1001976" y="1515264"/>
            <a:ext cx="768631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400" b="1" dirty="0">
                <a:solidFill>
                  <a:schemeClr val="accent1"/>
                </a:solidFill>
                <a:latin typeface="思源黑体 CN Bold" panose="020B0800000000000000" pitchFamily="34" charset="-122"/>
                <a:ea typeface="思源黑体 CN Bold" panose="020B0800000000000000" pitchFamily="34" charset="-122"/>
                <a:sym typeface="思源黑体 CN Bold" panose="020B0800000000000000" pitchFamily="34" charset="-122"/>
              </a:rPr>
              <a:t>现有工作主要针对保活行为本身，而很少关注保活意图</a:t>
            </a:r>
            <a:endPar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5" name="不完整圆 4">
            <a:extLst>
              <a:ext uri="{FF2B5EF4-FFF2-40B4-BE49-F238E27FC236}">
                <a16:creationId xmlns:a16="http://schemas.microsoft.com/office/drawing/2014/main" id="{491DD1D2-6B7D-2DAD-EF09-5AB820830AE3}"/>
              </a:ext>
            </a:extLst>
          </p:cNvPr>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Tree>
    <p:extLst>
      <p:ext uri="{BB962C8B-B14F-4D97-AF65-F5344CB8AC3E}">
        <p14:creationId xmlns:p14="http://schemas.microsoft.com/office/powerpoint/2010/main" val="1991336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2</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现有工作、挑战与应对方法</a:t>
            </a:r>
            <a:endParaRPr lang="en-US" altLang="zh-CN" b="1" dirty="0"/>
          </a:p>
        </p:txBody>
      </p:sp>
      <p:sp>
        <p:nvSpPr>
          <p:cNvPr id="17" name="文本框 16"/>
          <p:cNvSpPr txBox="1"/>
          <p:nvPr/>
        </p:nvSpPr>
        <p:spPr>
          <a:xfrm>
            <a:off x="839417" y="2058068"/>
            <a:ext cx="10253735" cy="2862322"/>
          </a:xfrm>
          <a:prstGeom prst="rect">
            <a:avLst/>
          </a:prstGeom>
          <a:noFill/>
        </p:spPr>
        <p:txBody>
          <a:bodyPr wrap="square">
            <a:spAutoFit/>
          </a:bodyPr>
          <a:lstStyle/>
          <a:p>
            <a:pPr algn="just"/>
            <a:r>
              <a:rPr lang="zh-CN" altLang="en-US" sz="2000" dirty="0">
                <a:latin typeface="微软雅黑" charset="0"/>
                <a:ea typeface="微软雅黑" charset="0"/>
                <a:cs typeface="微软雅黑" charset="0"/>
              </a:rPr>
              <a:t>对保活行为进行检测，并分析与理解其意图，存在如下难点与挑战：</a:t>
            </a:r>
            <a:endParaRPr lang="en-US" altLang="zh-CN" sz="2000" dirty="0">
              <a:latin typeface="微软雅黑" charset="0"/>
              <a:ea typeface="微软雅黑" charset="0"/>
              <a:cs typeface="微软雅黑" charset="0"/>
            </a:endParaRPr>
          </a:p>
          <a:p>
            <a:pPr marL="342900" indent="-342900" algn="just">
              <a:buFont typeface="Arial" panose="020B0604020202020204" pitchFamily="34" charset="0"/>
              <a:buChar char="•"/>
            </a:pPr>
            <a:r>
              <a:rPr lang="zh-CN" altLang="en-US" sz="2000" dirty="0">
                <a:latin typeface="微软雅黑" charset="0"/>
                <a:ea typeface="微软雅黑" charset="0"/>
                <a:cs typeface="微软雅黑" charset="0"/>
              </a:rPr>
              <a:t>真实工业场景中，保活行为多种多样，需要</a:t>
            </a:r>
            <a:r>
              <a:rPr lang="zh-CN" altLang="en-US" sz="2000" b="1" dirty="0">
                <a:latin typeface="微软雅黑" charset="0"/>
                <a:ea typeface="微软雅黑" charset="0"/>
                <a:cs typeface="微软雅黑" charset="0"/>
              </a:rPr>
              <a:t>分别编写对应规则</a:t>
            </a:r>
            <a:r>
              <a:rPr lang="zh-CN" altLang="en-US" sz="2000" dirty="0">
                <a:latin typeface="微软雅黑" charset="0"/>
                <a:ea typeface="微软雅黑" charset="0"/>
                <a:cs typeface="微软雅黑" charset="0"/>
              </a:rPr>
              <a:t>进行检测；</a:t>
            </a:r>
            <a:endParaRPr lang="en-US" altLang="zh-CN" sz="2000" dirty="0">
              <a:latin typeface="微软雅黑" charset="0"/>
              <a:ea typeface="微软雅黑" charset="0"/>
              <a:cs typeface="微软雅黑" charset="0"/>
            </a:endParaRPr>
          </a:p>
          <a:p>
            <a:pPr marL="342900" indent="-342900" algn="just">
              <a:buFont typeface="Arial" panose="020B0604020202020204" pitchFamily="34" charset="0"/>
              <a:buChar char="•"/>
            </a:pPr>
            <a:r>
              <a:rPr lang="zh-CN" altLang="en-US" sz="2000" dirty="0">
                <a:latin typeface="微软雅黑" charset="0"/>
                <a:ea typeface="微软雅黑" charset="0"/>
                <a:cs typeface="微软雅黑" charset="0"/>
              </a:rPr>
              <a:t>真实投入使用的</a:t>
            </a:r>
            <a:r>
              <a:rPr lang="en-US" altLang="zh-CN" sz="2000" b="1" dirty="0">
                <a:latin typeface="微软雅黑" charset="0"/>
                <a:ea typeface="微软雅黑" charset="0"/>
                <a:cs typeface="微软雅黑" charset="0"/>
              </a:rPr>
              <a:t>APP</a:t>
            </a:r>
            <a:r>
              <a:rPr lang="zh-CN" altLang="en-US" sz="2000" b="1" dirty="0">
                <a:latin typeface="微软雅黑" charset="0"/>
                <a:ea typeface="微软雅黑" charset="0"/>
                <a:cs typeface="微软雅黑" charset="0"/>
              </a:rPr>
              <a:t>逻辑复杂</a:t>
            </a:r>
            <a:r>
              <a:rPr lang="zh-CN" altLang="en-US" sz="2000" dirty="0">
                <a:latin typeface="微软雅黑" charset="0"/>
                <a:ea typeface="微软雅黑" charset="0"/>
                <a:cs typeface="微软雅黑" charset="0"/>
              </a:rPr>
              <a:t>，精确抽取与保活行为相关的代码并不容易；</a:t>
            </a:r>
            <a:endParaRPr lang="en-US" altLang="zh-CN" sz="2000" dirty="0">
              <a:latin typeface="微软雅黑" charset="0"/>
              <a:ea typeface="微软雅黑" charset="0"/>
              <a:cs typeface="微软雅黑" charset="0"/>
            </a:endParaRPr>
          </a:p>
          <a:p>
            <a:pPr marL="342900" indent="-342900" algn="just">
              <a:buFont typeface="Arial" panose="020B0604020202020204" pitchFamily="34" charset="0"/>
              <a:buChar char="•"/>
            </a:pP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业务多种多样，使用保活功能的业务本身</a:t>
            </a:r>
            <a:r>
              <a:rPr lang="zh-CN" altLang="en-US" sz="2000" b="1" dirty="0">
                <a:latin typeface="微软雅黑" charset="0"/>
                <a:ea typeface="微软雅黑" charset="0"/>
                <a:cs typeface="微软雅黑" charset="0"/>
              </a:rPr>
              <a:t>难以用代码理解逻辑与分析良恶</a:t>
            </a:r>
            <a:r>
              <a:rPr lang="zh-CN" altLang="en-US" sz="2000" dirty="0">
                <a:latin typeface="微软雅黑" charset="0"/>
                <a:ea typeface="微软雅黑" charset="0"/>
                <a:cs typeface="微软雅黑" charset="0"/>
              </a:rPr>
              <a:t>。</a:t>
            </a:r>
            <a:endParaRPr lang="en-US" altLang="zh-CN" sz="2000" dirty="0">
              <a:latin typeface="微软雅黑" charset="0"/>
              <a:ea typeface="微软雅黑" charset="0"/>
              <a:cs typeface="微软雅黑" charset="0"/>
            </a:endParaRPr>
          </a:p>
          <a:p>
            <a:pPr marL="342900" indent="-342900" algn="just">
              <a:buFont typeface="Arial" panose="020B0604020202020204" pitchFamily="34" charset="0"/>
              <a:buChar char="•"/>
            </a:pPr>
            <a:endParaRPr lang="en-US" altLang="zh-CN" sz="2000" dirty="0">
              <a:latin typeface="微软雅黑" charset="0"/>
              <a:ea typeface="微软雅黑" charset="0"/>
              <a:cs typeface="微软雅黑" charset="0"/>
            </a:endParaRPr>
          </a:p>
          <a:p>
            <a:pPr algn="just"/>
            <a:r>
              <a:rPr lang="zh-CN" altLang="en-US" sz="2000" dirty="0">
                <a:latin typeface="微软雅黑" charset="0"/>
                <a:ea typeface="微软雅黑" charset="0"/>
                <a:cs typeface="微软雅黑" charset="0"/>
              </a:rPr>
              <a:t>为解决上述挑战，本课题计划：</a:t>
            </a:r>
            <a:endParaRPr lang="en-US" altLang="zh-CN" sz="2000" dirty="0">
              <a:latin typeface="微软雅黑" charset="0"/>
              <a:ea typeface="微软雅黑" charset="0"/>
              <a:cs typeface="微软雅黑" charset="0"/>
            </a:endParaRPr>
          </a:p>
          <a:p>
            <a:pPr algn="just"/>
            <a:r>
              <a:rPr lang="en-US" altLang="zh-CN" sz="2000" dirty="0">
                <a:latin typeface="微软雅黑" charset="0"/>
                <a:ea typeface="微软雅黑" charset="0"/>
                <a:cs typeface="微软雅黑" charset="0"/>
              </a:rPr>
              <a:t>1</a:t>
            </a:r>
            <a:r>
              <a:rPr lang="zh-CN" altLang="en-US" sz="2000" dirty="0">
                <a:latin typeface="微软雅黑" charset="0"/>
                <a:ea typeface="微软雅黑" charset="0"/>
                <a:cs typeface="微软雅黑" charset="0"/>
              </a:rPr>
              <a:t>）使用</a:t>
            </a:r>
            <a:r>
              <a:rPr lang="zh-CN" altLang="en-US" sz="2000" b="1" dirty="0">
                <a:latin typeface="微软雅黑" charset="0"/>
                <a:ea typeface="微软雅黑" charset="0"/>
                <a:cs typeface="微软雅黑" charset="0"/>
              </a:rPr>
              <a:t>静态分析工具</a:t>
            </a:r>
            <a:r>
              <a:rPr lang="zh-CN" altLang="en-US" sz="2000" dirty="0">
                <a:latin typeface="微软雅黑" charset="0"/>
                <a:ea typeface="微软雅黑" charset="0"/>
                <a:cs typeface="微软雅黑" charset="0"/>
              </a:rPr>
              <a:t>对应用</a:t>
            </a:r>
            <a:r>
              <a:rPr lang="en-US" altLang="zh-CN" sz="2000" dirty="0">
                <a:latin typeface="微软雅黑" charset="0"/>
                <a:ea typeface="微软雅黑" charset="0"/>
                <a:cs typeface="微软雅黑" charset="0"/>
              </a:rPr>
              <a:t>APK</a:t>
            </a:r>
            <a:r>
              <a:rPr lang="zh-CN" altLang="en-US" sz="2000" dirty="0">
                <a:latin typeface="微软雅黑" charset="0"/>
                <a:ea typeface="微软雅黑" charset="0"/>
                <a:cs typeface="微软雅黑" charset="0"/>
              </a:rPr>
              <a:t>文件进行逆向、拆包与分析；</a:t>
            </a:r>
            <a:endParaRPr lang="en-US" altLang="zh-CN" sz="2000" dirty="0">
              <a:latin typeface="微软雅黑" charset="0"/>
              <a:ea typeface="微软雅黑" charset="0"/>
              <a:cs typeface="微软雅黑" charset="0"/>
            </a:endParaRPr>
          </a:p>
          <a:p>
            <a:pPr algn="just"/>
            <a:r>
              <a:rPr lang="en-US" altLang="zh-CN" sz="2000" dirty="0">
                <a:latin typeface="微软雅黑" charset="0"/>
                <a:ea typeface="微软雅黑" charset="0"/>
                <a:cs typeface="微软雅黑" charset="0"/>
              </a:rPr>
              <a:t>2</a:t>
            </a:r>
            <a:r>
              <a:rPr lang="zh-CN" altLang="en-US" sz="2000" dirty="0">
                <a:latin typeface="微软雅黑" charset="0"/>
                <a:ea typeface="微软雅黑" charset="0"/>
                <a:cs typeface="微软雅黑" charset="0"/>
              </a:rPr>
              <a:t>）结合</a:t>
            </a:r>
            <a:r>
              <a:rPr lang="zh-CN" altLang="en-US" sz="2000" b="1" dirty="0">
                <a:latin typeface="微软雅黑" charset="0"/>
                <a:ea typeface="微软雅黑" charset="0"/>
                <a:cs typeface="微软雅黑" charset="0"/>
              </a:rPr>
              <a:t>函数调用图</a:t>
            </a:r>
            <a:r>
              <a:rPr lang="zh-CN" altLang="en-US" sz="2000" dirty="0">
                <a:latin typeface="微软雅黑" charset="0"/>
                <a:ea typeface="微软雅黑" charset="0"/>
                <a:cs typeface="微软雅黑" charset="0"/>
              </a:rPr>
              <a:t>定位保活</a:t>
            </a:r>
            <a:r>
              <a:rPr lang="zh-CN" altLang="en-US" sz="2000" b="1" dirty="0">
                <a:latin typeface="微软雅黑" charset="0"/>
                <a:ea typeface="微软雅黑" charset="0"/>
                <a:cs typeface="微软雅黑" charset="0"/>
              </a:rPr>
              <a:t>核心代码与调用链</a:t>
            </a:r>
            <a:r>
              <a:rPr lang="zh-CN" altLang="en-US" sz="2000" dirty="0">
                <a:latin typeface="微软雅黑" charset="0"/>
                <a:ea typeface="微软雅黑" charset="0"/>
                <a:cs typeface="微软雅黑" charset="0"/>
              </a:rPr>
              <a:t>；</a:t>
            </a:r>
            <a:endParaRPr lang="en-US" altLang="zh-CN" sz="2000" dirty="0">
              <a:latin typeface="微软雅黑" charset="0"/>
              <a:ea typeface="微软雅黑" charset="0"/>
              <a:cs typeface="微软雅黑" charset="0"/>
            </a:endParaRPr>
          </a:p>
          <a:p>
            <a:pPr algn="just"/>
            <a:r>
              <a:rPr lang="en-US" altLang="zh-CN" sz="2000" dirty="0">
                <a:latin typeface="微软雅黑" charset="0"/>
                <a:ea typeface="微软雅黑" charset="0"/>
                <a:cs typeface="微软雅黑" charset="0"/>
              </a:rPr>
              <a:t>3</a:t>
            </a:r>
            <a:r>
              <a:rPr lang="zh-CN" altLang="en-US" sz="2000" dirty="0">
                <a:latin typeface="微软雅黑" charset="0"/>
                <a:ea typeface="微软雅黑" charset="0"/>
                <a:cs typeface="微软雅黑" charset="0"/>
              </a:rPr>
              <a:t>）使用</a:t>
            </a:r>
            <a:r>
              <a:rPr lang="zh-CN" altLang="en-US" sz="2000" b="1" dirty="0">
                <a:latin typeface="微软雅黑" charset="0"/>
                <a:ea typeface="微软雅黑" charset="0"/>
                <a:cs typeface="微软雅黑" charset="0"/>
              </a:rPr>
              <a:t>大语言模型</a:t>
            </a:r>
            <a:r>
              <a:rPr lang="zh-CN" altLang="en-US" sz="2000" dirty="0">
                <a:latin typeface="微软雅黑" charset="0"/>
                <a:ea typeface="微软雅黑" charset="0"/>
                <a:cs typeface="微软雅黑" charset="0"/>
              </a:rPr>
              <a:t>以辅助分析理解保活行为意图。</a:t>
            </a:r>
            <a:endParaRPr lang="en-US" altLang="zh-CN" sz="2000" dirty="0">
              <a:latin typeface="微软雅黑" charset="0"/>
              <a:ea typeface="微软雅黑" charset="0"/>
              <a:cs typeface="微软雅黑" charset="0"/>
            </a:endParaRPr>
          </a:p>
        </p:txBody>
      </p:sp>
      <p:sp>
        <p:nvSpPr>
          <p:cNvPr id="4" name="文本框 3">
            <a:extLst>
              <a:ext uri="{FF2B5EF4-FFF2-40B4-BE49-F238E27FC236}">
                <a16:creationId xmlns:a16="http://schemas.microsoft.com/office/drawing/2014/main" id="{A82742D8-41D9-AE83-BB8F-93C073B8B56A}"/>
              </a:ext>
            </a:extLst>
          </p:cNvPr>
          <p:cNvSpPr txBox="1"/>
          <p:nvPr/>
        </p:nvSpPr>
        <p:spPr>
          <a:xfrm>
            <a:off x="1001976" y="1515264"/>
            <a:ext cx="768631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检测保活</a:t>
            </a:r>
            <a:r>
              <a:rPr kumimoji="1" lang="zh-CN" altLang="en-US" sz="2400" b="1" dirty="0">
                <a:solidFill>
                  <a:schemeClr val="accent1"/>
                </a:solidFill>
                <a:latin typeface="思源黑体 CN Bold" panose="020B0800000000000000" pitchFamily="34" charset="-122"/>
                <a:ea typeface="思源黑体 CN Bold" panose="020B0800000000000000" pitchFamily="34" charset="-122"/>
                <a:sym typeface="思源黑体 CN Bold" panose="020B0800000000000000" pitchFamily="34" charset="-122"/>
              </a:rPr>
              <a:t>并</a:t>
            </a: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分析理解其意图，仍存在诸多挑战</a:t>
            </a:r>
          </a:p>
        </p:txBody>
      </p:sp>
      <p:sp>
        <p:nvSpPr>
          <p:cNvPr id="5" name="不完整圆 4">
            <a:extLst>
              <a:ext uri="{FF2B5EF4-FFF2-40B4-BE49-F238E27FC236}">
                <a16:creationId xmlns:a16="http://schemas.microsoft.com/office/drawing/2014/main" id="{D016B605-2F09-154F-2F02-B7D5C6652644}"/>
              </a:ext>
            </a:extLst>
          </p:cNvPr>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pic>
        <p:nvPicPr>
          <p:cNvPr id="33" name="图片 32">
            <a:extLst>
              <a:ext uri="{FF2B5EF4-FFF2-40B4-BE49-F238E27FC236}">
                <a16:creationId xmlns:a16="http://schemas.microsoft.com/office/drawing/2014/main" id="{0D8065D2-87EB-E58D-6EC4-38BD38BE2D0C}"/>
              </a:ext>
            </a:extLst>
          </p:cNvPr>
          <p:cNvPicPr>
            <a:picLocks noChangeAspect="1"/>
          </p:cNvPicPr>
          <p:nvPr/>
        </p:nvPicPr>
        <p:blipFill>
          <a:blip r:embed="rId3"/>
          <a:srcRect t="14826" b="15594"/>
          <a:stretch/>
        </p:blipFill>
        <p:spPr>
          <a:xfrm>
            <a:off x="655062" y="5013176"/>
            <a:ext cx="10881876" cy="1707116"/>
          </a:xfrm>
          <a:prstGeom prst="rect">
            <a:avLst/>
          </a:prstGeom>
        </p:spPr>
      </p:pic>
    </p:spTree>
    <p:extLst>
      <p:ext uri="{BB962C8B-B14F-4D97-AF65-F5344CB8AC3E}">
        <p14:creationId xmlns:p14="http://schemas.microsoft.com/office/powerpoint/2010/main" val="537092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E2222-1392-C34B-60E4-0493454D0F9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FB888C0-1295-CF10-A238-454242C7349C}"/>
              </a:ext>
            </a:extLst>
          </p:cNvPr>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a:extLst>
              <a:ext uri="{FF2B5EF4-FFF2-40B4-BE49-F238E27FC236}">
                <a16:creationId xmlns:a16="http://schemas.microsoft.com/office/drawing/2014/main" id="{CDF5CBEF-9521-8EBA-72B6-32AF563279B6}"/>
              </a:ext>
            </a:extLst>
          </p:cNvPr>
          <p:cNvSpPr>
            <a:spLocks noGrp="1"/>
          </p:cNvSpPr>
          <p:nvPr>
            <p:ph type="body" sz="quarter" idx="12"/>
          </p:nvPr>
        </p:nvSpPr>
        <p:spPr>
          <a:xfrm>
            <a:off x="1437591" y="348250"/>
            <a:ext cx="9468473" cy="496824"/>
          </a:xfrm>
        </p:spPr>
        <p:txBody>
          <a:bodyPr/>
          <a:lstStyle/>
          <a:p>
            <a:pPr fontAlgn="base"/>
            <a:r>
              <a:rPr lang="zh-CN" altLang="en-US" b="1" dirty="0"/>
              <a:t>研究内容</a:t>
            </a:r>
            <a:endParaRPr lang="en-US" altLang="zh-CN" b="1" dirty="0"/>
          </a:p>
        </p:txBody>
      </p:sp>
      <p:sp>
        <p:nvSpPr>
          <p:cNvPr id="17" name="文本框 16">
            <a:extLst>
              <a:ext uri="{FF2B5EF4-FFF2-40B4-BE49-F238E27FC236}">
                <a16:creationId xmlns:a16="http://schemas.microsoft.com/office/drawing/2014/main" id="{611FE4D3-878F-FEFE-46BF-EFB503521A77}"/>
              </a:ext>
            </a:extLst>
          </p:cNvPr>
          <p:cNvSpPr txBox="1"/>
          <p:nvPr/>
        </p:nvSpPr>
        <p:spPr>
          <a:xfrm>
            <a:off x="839417" y="2058068"/>
            <a:ext cx="10253735" cy="2554545"/>
          </a:xfrm>
          <a:prstGeom prst="rect">
            <a:avLst/>
          </a:prstGeom>
          <a:noFill/>
        </p:spPr>
        <p:txBody>
          <a:bodyPr wrap="square">
            <a:spAutoFit/>
          </a:bodyPr>
          <a:lstStyle/>
          <a:p>
            <a:pPr algn="just"/>
            <a:r>
              <a:rPr lang="zh-CN" altLang="en-US" sz="2000" dirty="0">
                <a:latin typeface="微软雅黑" charset="0"/>
                <a:ea typeface="微软雅黑" charset="0"/>
                <a:cs typeface="微软雅黑" charset="0"/>
              </a:rPr>
              <a:t>目前已有的的</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样本（来自华为）主要有三种（也是真实工业界较为常用的三种）：</a:t>
            </a:r>
            <a:endParaRPr lang="en-US" altLang="zh-CN" sz="2000" dirty="0">
              <a:latin typeface="微软雅黑" charset="0"/>
              <a:ea typeface="微软雅黑" charset="0"/>
              <a:cs typeface="微软雅黑" charset="0"/>
            </a:endParaRPr>
          </a:p>
          <a:p>
            <a:pPr algn="just"/>
            <a:endParaRPr lang="en-US" altLang="zh-CN" sz="2000" dirty="0">
              <a:latin typeface="微软雅黑" charset="0"/>
              <a:ea typeface="微软雅黑" charset="0"/>
              <a:cs typeface="微软雅黑" charset="0"/>
            </a:endParaRPr>
          </a:p>
          <a:p>
            <a:pPr marL="342900" indent="-342900" algn="just">
              <a:buFontTx/>
              <a:buChar char="•"/>
            </a:pPr>
            <a:r>
              <a:rPr lang="zh-CN" altLang="en-US" sz="2000" b="1" dirty="0">
                <a:latin typeface="微软雅黑" charset="0"/>
                <a:ea typeface="微软雅黑" charset="0"/>
                <a:cs typeface="微软雅黑" charset="0"/>
              </a:rPr>
              <a:t>无声音乐保活</a:t>
            </a:r>
            <a:r>
              <a:rPr lang="zh-CN" altLang="en-US" sz="2000" dirty="0">
                <a:latin typeface="微软雅黑" charset="0"/>
                <a:ea typeface="微软雅黑" charset="0"/>
                <a:cs typeface="微软雅黑" charset="0"/>
              </a:rPr>
              <a:t>：在后台持续播放一个无声的音频文件，实现持续保活；</a:t>
            </a:r>
            <a:endParaRPr lang="en-US" altLang="zh-CN" sz="2000" dirty="0">
              <a:latin typeface="微软雅黑" charset="0"/>
              <a:ea typeface="微软雅黑" charset="0"/>
              <a:cs typeface="微软雅黑" charset="0"/>
            </a:endParaRPr>
          </a:p>
          <a:p>
            <a:pPr marL="342900" indent="-342900" algn="just">
              <a:buFontTx/>
              <a:buChar char="•"/>
            </a:pPr>
            <a:r>
              <a:rPr lang="zh-CN" altLang="en-US" sz="2000" b="1" dirty="0">
                <a:latin typeface="微软雅黑" charset="0"/>
                <a:ea typeface="微软雅黑" charset="0"/>
                <a:cs typeface="微软雅黑" charset="0"/>
              </a:rPr>
              <a:t>单像素保活</a:t>
            </a:r>
            <a:r>
              <a:rPr lang="zh-CN" altLang="en-US" sz="2000" dirty="0">
                <a:latin typeface="微软雅黑" charset="0"/>
                <a:ea typeface="微软雅黑" charset="0"/>
                <a:cs typeface="微软雅黑" charset="0"/>
              </a:rPr>
              <a:t>：拉起一个只有一个像素的</a:t>
            </a:r>
            <a:r>
              <a:rPr lang="en-US" altLang="zh-CN" sz="2000" dirty="0">
                <a:latin typeface="微软雅黑" charset="0"/>
                <a:ea typeface="微软雅黑" charset="0"/>
                <a:cs typeface="微软雅黑" charset="0"/>
              </a:rPr>
              <a:t>Activity</a:t>
            </a:r>
            <a:r>
              <a:rPr lang="zh-CN" altLang="en-US" sz="2000" dirty="0">
                <a:latin typeface="微软雅黑" charset="0"/>
                <a:ea typeface="微软雅黑" charset="0"/>
                <a:cs typeface="微软雅黑" charset="0"/>
              </a:rPr>
              <a:t>（即一个单像素的前台窗口），实现持续保活；</a:t>
            </a:r>
            <a:endParaRPr lang="en-US" altLang="zh-CN" sz="2000" dirty="0">
              <a:latin typeface="微软雅黑" charset="0"/>
              <a:ea typeface="微软雅黑" charset="0"/>
              <a:cs typeface="微软雅黑" charset="0"/>
            </a:endParaRPr>
          </a:p>
          <a:p>
            <a:pPr marL="342900" indent="-342900" algn="just">
              <a:buFontTx/>
              <a:buChar char="•"/>
            </a:pPr>
            <a:r>
              <a:rPr lang="zh-CN" altLang="en-US" sz="2000" b="1" dirty="0">
                <a:latin typeface="微软雅黑" charset="0"/>
                <a:ea typeface="微软雅黑" charset="0"/>
                <a:cs typeface="微软雅黑" charset="0"/>
              </a:rPr>
              <a:t>多进程保活</a:t>
            </a:r>
            <a:r>
              <a:rPr lang="zh-CN" altLang="en-US" sz="2000" dirty="0">
                <a:latin typeface="微软雅黑" charset="0"/>
                <a:ea typeface="微软雅黑" charset="0"/>
                <a:cs typeface="微软雅黑" charset="0"/>
              </a:rPr>
              <a:t>：使用多个进程互相拉起，使得总有进程可以保持活跃。</a:t>
            </a:r>
            <a:endParaRPr lang="en-US" altLang="zh-CN" sz="2000" dirty="0">
              <a:latin typeface="微软雅黑" charset="0"/>
              <a:ea typeface="微软雅黑" charset="0"/>
              <a:cs typeface="微软雅黑" charset="0"/>
            </a:endParaRPr>
          </a:p>
          <a:p>
            <a:pPr algn="just"/>
            <a:r>
              <a:rPr lang="zh-CN" altLang="en-US" sz="2000" dirty="0">
                <a:latin typeface="微软雅黑" charset="0"/>
                <a:ea typeface="微软雅黑" charset="0"/>
                <a:cs typeface="微软雅黑" charset="0"/>
              </a:rPr>
              <a:t>如下图所示，研究保活行为的第一步是要</a:t>
            </a:r>
            <a:r>
              <a:rPr lang="zh-CN" altLang="en-US" sz="2000" b="1" dirty="0">
                <a:latin typeface="微软雅黑" charset="0"/>
                <a:ea typeface="微软雅黑" charset="0"/>
                <a:cs typeface="微软雅黑" charset="0"/>
              </a:rPr>
              <a:t>找到</a:t>
            </a:r>
            <a:r>
              <a:rPr lang="en-US" altLang="zh-CN" sz="2000" b="1" dirty="0">
                <a:latin typeface="微软雅黑" charset="0"/>
                <a:ea typeface="微软雅黑" charset="0"/>
                <a:cs typeface="微软雅黑" charset="0"/>
              </a:rPr>
              <a:t>APP</a:t>
            </a:r>
            <a:r>
              <a:rPr lang="zh-CN" altLang="en-US" sz="2000" b="1" dirty="0">
                <a:latin typeface="微软雅黑" charset="0"/>
                <a:ea typeface="微软雅黑" charset="0"/>
                <a:cs typeface="微软雅黑" charset="0"/>
              </a:rPr>
              <a:t>的保活行为</a:t>
            </a:r>
            <a:r>
              <a:rPr lang="zh-CN" altLang="en-US" sz="2000" dirty="0">
                <a:latin typeface="微软雅黑" charset="0"/>
                <a:ea typeface="微软雅黑" charset="0"/>
                <a:cs typeface="微软雅黑" charset="0"/>
              </a:rPr>
              <a:t>，再根据函数调用关系，</a:t>
            </a:r>
            <a:r>
              <a:rPr lang="zh-CN" altLang="en-US" sz="2000" b="1" dirty="0">
                <a:latin typeface="微软雅黑" charset="0"/>
                <a:ea typeface="微软雅黑" charset="0"/>
                <a:cs typeface="微软雅黑" charset="0"/>
              </a:rPr>
              <a:t>溯源找到使用该保活功能的业务逻辑</a:t>
            </a:r>
            <a:r>
              <a:rPr lang="zh-CN" altLang="en-US" sz="2000" dirty="0">
                <a:latin typeface="微软雅黑" charset="0"/>
                <a:ea typeface="微软雅黑" charset="0"/>
                <a:cs typeface="微软雅黑" charset="0"/>
              </a:rPr>
              <a:t>，梳理清楚一条保活核心代码的“调用链”。</a:t>
            </a:r>
            <a:endParaRPr lang="en-US" altLang="zh-CN" sz="2000" dirty="0">
              <a:latin typeface="微软雅黑" charset="0"/>
              <a:ea typeface="微软雅黑" charset="0"/>
              <a:cs typeface="微软雅黑" charset="0"/>
            </a:endParaRPr>
          </a:p>
        </p:txBody>
      </p:sp>
      <p:sp>
        <p:nvSpPr>
          <p:cNvPr id="4" name="文本框 3">
            <a:extLst>
              <a:ext uri="{FF2B5EF4-FFF2-40B4-BE49-F238E27FC236}">
                <a16:creationId xmlns:a16="http://schemas.microsoft.com/office/drawing/2014/main" id="{AF911055-EF6F-D205-ED0D-1E9D9AF51B34}"/>
              </a:ext>
            </a:extLst>
          </p:cNvPr>
          <p:cNvSpPr txBox="1"/>
          <p:nvPr/>
        </p:nvSpPr>
        <p:spPr>
          <a:xfrm>
            <a:off x="1001976" y="1515264"/>
            <a:ext cx="768631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1.</a:t>
            </a: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检测与定位</a:t>
            </a:r>
            <a:r>
              <a:rPr kumimoji="1" lang="en-US" altLang="zh-CN"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a:t>
            </a: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常见保活行为的检测与调用链构建</a:t>
            </a:r>
          </a:p>
        </p:txBody>
      </p:sp>
      <p:sp>
        <p:nvSpPr>
          <p:cNvPr id="5" name="不完整圆 4">
            <a:extLst>
              <a:ext uri="{FF2B5EF4-FFF2-40B4-BE49-F238E27FC236}">
                <a16:creationId xmlns:a16="http://schemas.microsoft.com/office/drawing/2014/main" id="{00179AEE-7639-9498-1E59-BEEFCC9E0076}"/>
              </a:ext>
            </a:extLst>
          </p:cNvPr>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pic>
        <p:nvPicPr>
          <p:cNvPr id="22" name="图片 21">
            <a:extLst>
              <a:ext uri="{FF2B5EF4-FFF2-40B4-BE49-F238E27FC236}">
                <a16:creationId xmlns:a16="http://schemas.microsoft.com/office/drawing/2014/main" id="{D3F0F1F0-B444-A50D-8442-57F5F267823A}"/>
              </a:ext>
            </a:extLst>
          </p:cNvPr>
          <p:cNvPicPr>
            <a:picLocks noChangeAspect="1"/>
          </p:cNvPicPr>
          <p:nvPr/>
        </p:nvPicPr>
        <p:blipFill>
          <a:blip r:embed="rId3"/>
          <a:stretch>
            <a:fillRect/>
          </a:stretch>
        </p:blipFill>
        <p:spPr>
          <a:xfrm>
            <a:off x="0" y="4608040"/>
            <a:ext cx="9172499" cy="2249960"/>
          </a:xfrm>
          <a:prstGeom prst="rect">
            <a:avLst/>
          </a:prstGeom>
        </p:spPr>
      </p:pic>
      <p:pic>
        <p:nvPicPr>
          <p:cNvPr id="26" name="图片 25">
            <a:extLst>
              <a:ext uri="{FF2B5EF4-FFF2-40B4-BE49-F238E27FC236}">
                <a16:creationId xmlns:a16="http://schemas.microsoft.com/office/drawing/2014/main" id="{340B8703-C107-67EF-AFBE-56712B7B9046}"/>
              </a:ext>
            </a:extLst>
          </p:cNvPr>
          <p:cNvPicPr>
            <a:picLocks noChangeAspect="1"/>
          </p:cNvPicPr>
          <p:nvPr/>
        </p:nvPicPr>
        <p:blipFill>
          <a:blip r:embed="rId4"/>
          <a:srcRect l="5180" r="6760" b="7264"/>
          <a:stretch/>
        </p:blipFill>
        <p:spPr>
          <a:xfrm>
            <a:off x="10848528" y="5661713"/>
            <a:ext cx="1224136" cy="956112"/>
          </a:xfrm>
          <a:prstGeom prst="rect">
            <a:avLst/>
          </a:prstGeom>
        </p:spPr>
      </p:pic>
      <p:sp>
        <p:nvSpPr>
          <p:cNvPr id="27" name="文本框 26">
            <a:extLst>
              <a:ext uri="{FF2B5EF4-FFF2-40B4-BE49-F238E27FC236}">
                <a16:creationId xmlns:a16="http://schemas.microsoft.com/office/drawing/2014/main" id="{188F040C-62F8-7B6E-8F14-81316FABA427}"/>
              </a:ext>
            </a:extLst>
          </p:cNvPr>
          <p:cNvSpPr txBox="1"/>
          <p:nvPr/>
        </p:nvSpPr>
        <p:spPr>
          <a:xfrm>
            <a:off x="9172499" y="4746433"/>
            <a:ext cx="2396110" cy="1631216"/>
          </a:xfrm>
          <a:prstGeom prst="rect">
            <a:avLst/>
          </a:prstGeom>
          <a:noFill/>
        </p:spPr>
        <p:txBody>
          <a:bodyPr wrap="square" rtlCol="0">
            <a:spAutoFit/>
          </a:bodyPr>
          <a:lstStyle/>
          <a:p>
            <a:r>
              <a:rPr lang="zh-CN" altLang="en-US" sz="2000" dirty="0"/>
              <a:t>进行保活意图分析，我们不仅仅需要：</a:t>
            </a:r>
            <a:endParaRPr lang="en-US" altLang="zh-CN" sz="2000" dirty="0"/>
          </a:p>
          <a:p>
            <a:endParaRPr lang="en-US" altLang="zh-CN" sz="2000" dirty="0"/>
          </a:p>
          <a:p>
            <a:endParaRPr lang="en-US" altLang="zh-CN" sz="2000" dirty="0"/>
          </a:p>
          <a:p>
            <a:r>
              <a:rPr lang="zh-CN" altLang="en-US" sz="2000" dirty="0"/>
              <a:t>我们更需要：</a:t>
            </a:r>
          </a:p>
        </p:txBody>
      </p:sp>
      <p:pic>
        <p:nvPicPr>
          <p:cNvPr id="29" name="图片 28">
            <a:extLst>
              <a:ext uri="{FF2B5EF4-FFF2-40B4-BE49-F238E27FC236}">
                <a16:creationId xmlns:a16="http://schemas.microsoft.com/office/drawing/2014/main" id="{0AA117CF-39BB-0FA5-9554-5905E0A63110}"/>
              </a:ext>
            </a:extLst>
          </p:cNvPr>
          <p:cNvPicPr>
            <a:picLocks noChangeAspect="1"/>
          </p:cNvPicPr>
          <p:nvPr/>
        </p:nvPicPr>
        <p:blipFill>
          <a:blip r:embed="rId5"/>
          <a:srcRect l="17516" t="17935" r="17516" b="19380"/>
          <a:stretch/>
        </p:blipFill>
        <p:spPr>
          <a:xfrm>
            <a:off x="11368270" y="5128101"/>
            <a:ext cx="400677" cy="386601"/>
          </a:xfrm>
          <a:prstGeom prst="rect">
            <a:avLst/>
          </a:prstGeom>
        </p:spPr>
      </p:pic>
    </p:spTree>
    <p:extLst>
      <p:ext uri="{BB962C8B-B14F-4D97-AF65-F5344CB8AC3E}">
        <p14:creationId xmlns:p14="http://schemas.microsoft.com/office/powerpoint/2010/main" val="1016980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2C177-B21C-0508-3E1D-23AA56074E2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D60A786-52F5-00FD-FFC7-8C4D3A99609E}"/>
              </a:ext>
            </a:extLst>
          </p:cNvPr>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a:extLst>
              <a:ext uri="{FF2B5EF4-FFF2-40B4-BE49-F238E27FC236}">
                <a16:creationId xmlns:a16="http://schemas.microsoft.com/office/drawing/2014/main" id="{FB512512-A35B-4B4C-F648-0CCB994FB61F}"/>
              </a:ext>
            </a:extLst>
          </p:cNvPr>
          <p:cNvSpPr>
            <a:spLocks noGrp="1"/>
          </p:cNvSpPr>
          <p:nvPr>
            <p:ph type="body" sz="quarter" idx="12"/>
          </p:nvPr>
        </p:nvSpPr>
        <p:spPr>
          <a:xfrm>
            <a:off x="1437591" y="348250"/>
            <a:ext cx="9468473" cy="496824"/>
          </a:xfrm>
        </p:spPr>
        <p:txBody>
          <a:bodyPr/>
          <a:lstStyle/>
          <a:p>
            <a:pPr fontAlgn="base"/>
            <a:r>
              <a:rPr lang="zh-CN" altLang="en-US" b="1" dirty="0"/>
              <a:t>研究内容</a:t>
            </a:r>
            <a:endParaRPr lang="en-US" altLang="zh-CN" b="1" dirty="0"/>
          </a:p>
        </p:txBody>
      </p:sp>
      <p:sp>
        <p:nvSpPr>
          <p:cNvPr id="17" name="文本框 16">
            <a:extLst>
              <a:ext uri="{FF2B5EF4-FFF2-40B4-BE49-F238E27FC236}">
                <a16:creationId xmlns:a16="http://schemas.microsoft.com/office/drawing/2014/main" id="{720F27CE-3D27-61E0-674A-AC9D2EE777C5}"/>
              </a:ext>
            </a:extLst>
          </p:cNvPr>
          <p:cNvSpPr txBox="1"/>
          <p:nvPr/>
        </p:nvSpPr>
        <p:spPr>
          <a:xfrm>
            <a:off x="839417" y="2058068"/>
            <a:ext cx="11161239" cy="2246769"/>
          </a:xfrm>
          <a:prstGeom prst="rect">
            <a:avLst/>
          </a:prstGeom>
          <a:noFill/>
        </p:spPr>
        <p:txBody>
          <a:bodyPr wrap="square">
            <a:spAutoFit/>
          </a:bodyPr>
          <a:lstStyle/>
          <a:p>
            <a:pPr algn="just"/>
            <a:r>
              <a:rPr lang="zh-CN" altLang="en-US" sz="2000" dirty="0">
                <a:latin typeface="微软雅黑" charset="0"/>
                <a:ea typeface="微软雅黑" charset="0"/>
                <a:cs typeface="微软雅黑" charset="0"/>
              </a:rPr>
              <a:t>如前文所言，保活行为分为良性保活与恶意保活，需要对良性与恶意保活进行区分：</a:t>
            </a:r>
            <a:endParaRPr lang="en-US" altLang="zh-CN" sz="2000" dirty="0">
              <a:latin typeface="微软雅黑" charset="0"/>
              <a:ea typeface="微软雅黑" charset="0"/>
              <a:cs typeface="微软雅黑" charset="0"/>
            </a:endParaRPr>
          </a:p>
          <a:p>
            <a:pPr marL="342900" indent="-342900" algn="just">
              <a:buFont typeface="Arial" panose="020B0604020202020204" pitchFamily="34" charset="0"/>
              <a:buChar char="•"/>
            </a:pPr>
            <a:r>
              <a:rPr lang="zh-CN" altLang="en-US" sz="2000" dirty="0">
                <a:latin typeface="微软雅黑" charset="0"/>
                <a:ea typeface="微软雅黑" charset="0"/>
                <a:cs typeface="微软雅黑" charset="0"/>
              </a:rPr>
              <a:t>良性保活：使用保活手段的业务</a:t>
            </a:r>
            <a:r>
              <a:rPr lang="en-US" altLang="zh-CN" sz="2000" dirty="0">
                <a:latin typeface="微软雅黑" charset="0"/>
                <a:ea typeface="微软雅黑" charset="0"/>
                <a:cs typeface="微软雅黑" charset="0"/>
              </a:rPr>
              <a:t>/</a:t>
            </a:r>
            <a:r>
              <a:rPr lang="zh-CN" altLang="en-US" sz="2000" dirty="0">
                <a:latin typeface="微软雅黑" charset="0"/>
                <a:ea typeface="微软雅黑" charset="0"/>
                <a:cs typeface="微软雅黑" charset="0"/>
              </a:rPr>
              <a:t>任务</a:t>
            </a:r>
            <a:r>
              <a:rPr lang="zh-CN" altLang="en-US" sz="2000" b="1" dirty="0">
                <a:latin typeface="微软雅黑" charset="0"/>
                <a:ea typeface="微软雅黑" charset="0"/>
                <a:cs typeface="微软雅黑" charset="0"/>
              </a:rPr>
              <a:t>是用户所需要的</a:t>
            </a:r>
            <a:r>
              <a:rPr lang="zh-CN" altLang="en-US" sz="2000" dirty="0">
                <a:latin typeface="微软雅黑" charset="0"/>
                <a:ea typeface="微软雅黑" charset="0"/>
                <a:cs typeface="微软雅黑" charset="0"/>
              </a:rPr>
              <a:t>（例如后台定位服务，后台下载服务）</a:t>
            </a:r>
            <a:endParaRPr lang="en-US" altLang="zh-CN" sz="2000" dirty="0">
              <a:latin typeface="微软雅黑" charset="0"/>
              <a:ea typeface="微软雅黑" charset="0"/>
              <a:cs typeface="微软雅黑" charset="0"/>
            </a:endParaRPr>
          </a:p>
          <a:p>
            <a:pPr marL="342900" indent="-342900" algn="just">
              <a:buFont typeface="Arial" panose="020B0604020202020204" pitchFamily="34" charset="0"/>
              <a:buChar char="•"/>
            </a:pPr>
            <a:r>
              <a:rPr lang="zh-CN" altLang="en-US" sz="2000" dirty="0">
                <a:latin typeface="微软雅黑" charset="0"/>
                <a:ea typeface="微软雅黑" charset="0"/>
                <a:cs typeface="微软雅黑" charset="0"/>
              </a:rPr>
              <a:t>恶意保活：使用保活手段的业务</a:t>
            </a:r>
            <a:r>
              <a:rPr lang="en-US" altLang="zh-CN" sz="2000" dirty="0">
                <a:latin typeface="微软雅黑" charset="0"/>
                <a:ea typeface="微软雅黑" charset="0"/>
                <a:cs typeface="微软雅黑" charset="0"/>
              </a:rPr>
              <a:t>/</a:t>
            </a:r>
            <a:r>
              <a:rPr lang="zh-CN" altLang="en-US" sz="2000" dirty="0">
                <a:latin typeface="微软雅黑" charset="0"/>
                <a:ea typeface="微软雅黑" charset="0"/>
                <a:cs typeface="微软雅黑" charset="0"/>
              </a:rPr>
              <a:t>任务</a:t>
            </a:r>
            <a:r>
              <a:rPr lang="zh-CN" altLang="en-US" sz="2000" b="1" dirty="0">
                <a:latin typeface="微软雅黑" charset="0"/>
                <a:ea typeface="微软雅黑" charset="0"/>
                <a:cs typeface="微软雅黑" charset="0"/>
              </a:rPr>
              <a:t>是用户不需要的</a:t>
            </a:r>
            <a:r>
              <a:rPr lang="zh-CN" altLang="en-US" sz="2000" dirty="0">
                <a:latin typeface="微软雅黑" charset="0"/>
                <a:ea typeface="微软雅黑" charset="0"/>
                <a:cs typeface="微软雅黑" charset="0"/>
              </a:rPr>
              <a:t>（例如弹广告，利用用户手机算力挖矿）</a:t>
            </a:r>
            <a:endParaRPr lang="en-US" altLang="zh-CN" sz="2000" dirty="0">
              <a:latin typeface="微软雅黑" charset="0"/>
              <a:ea typeface="微软雅黑" charset="0"/>
              <a:cs typeface="微软雅黑" charset="0"/>
            </a:endParaRPr>
          </a:p>
          <a:p>
            <a:pPr algn="just"/>
            <a:endParaRPr lang="en-US" altLang="zh-CN" sz="2000" dirty="0">
              <a:latin typeface="微软雅黑" charset="0"/>
              <a:ea typeface="微软雅黑" charset="0"/>
              <a:cs typeface="微软雅黑" charset="0"/>
            </a:endParaRPr>
          </a:p>
          <a:p>
            <a:pPr algn="just"/>
            <a:r>
              <a:rPr lang="zh-CN" altLang="en-US" sz="2000" dirty="0">
                <a:latin typeface="微软雅黑" charset="0"/>
                <a:ea typeface="微软雅黑" charset="0"/>
                <a:cs typeface="微软雅黑" charset="0"/>
              </a:rPr>
              <a:t>由于</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业务多种多样，使用保活功能的业务本身难以看出良恶属性，故借助大语言模型</a:t>
            </a:r>
            <a:r>
              <a:rPr lang="zh-CN" altLang="en-US" sz="2000" b="1" dirty="0">
                <a:latin typeface="微软雅黑" charset="0"/>
                <a:ea typeface="微软雅黑" charset="0"/>
                <a:cs typeface="微软雅黑" charset="0"/>
              </a:rPr>
              <a:t>对保活行为的意图进行解析</a:t>
            </a:r>
            <a:r>
              <a:rPr lang="zh-CN" altLang="en-US" sz="2000" dirty="0">
                <a:latin typeface="微软雅黑" charset="0"/>
                <a:ea typeface="微软雅黑" charset="0"/>
                <a:cs typeface="微软雅黑" charset="0"/>
              </a:rPr>
              <a:t>，同时将其与</a:t>
            </a:r>
            <a:r>
              <a:rPr lang="en-US" altLang="zh-CN" sz="2000" b="1" dirty="0">
                <a:latin typeface="微软雅黑" charset="0"/>
                <a:ea typeface="微软雅黑" charset="0"/>
                <a:cs typeface="微软雅黑" charset="0"/>
              </a:rPr>
              <a:t>APP</a:t>
            </a:r>
            <a:r>
              <a:rPr lang="zh-CN" altLang="en-US" sz="2000" b="1" dirty="0">
                <a:latin typeface="微软雅黑" charset="0"/>
                <a:ea typeface="微软雅黑" charset="0"/>
                <a:cs typeface="微软雅黑" charset="0"/>
              </a:rPr>
              <a:t>相关信息</a:t>
            </a:r>
            <a:r>
              <a:rPr lang="zh-CN" altLang="en-US" sz="2000" dirty="0">
                <a:latin typeface="微软雅黑" charset="0"/>
                <a:ea typeface="微软雅黑" charset="0"/>
                <a:cs typeface="微软雅黑" charset="0"/>
              </a:rPr>
              <a:t>（</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所属类型，主要功能等）</a:t>
            </a:r>
            <a:r>
              <a:rPr lang="zh-CN" altLang="en-US" sz="2000" b="1" dirty="0">
                <a:latin typeface="微软雅黑" charset="0"/>
                <a:ea typeface="微软雅黑" charset="0"/>
                <a:cs typeface="微软雅黑" charset="0"/>
              </a:rPr>
              <a:t>进行对比</a:t>
            </a:r>
            <a:r>
              <a:rPr lang="zh-CN" altLang="en-US" sz="2000" dirty="0">
                <a:latin typeface="微软雅黑" charset="0"/>
                <a:ea typeface="微软雅黑" charset="0"/>
                <a:cs typeface="微软雅黑" charset="0"/>
              </a:rPr>
              <a:t>，以此判断</a:t>
            </a:r>
            <a:r>
              <a:rPr lang="zh-CN" altLang="en-US" sz="2000" b="1" dirty="0">
                <a:latin typeface="微软雅黑" charset="0"/>
                <a:ea typeface="微软雅黑" charset="0"/>
                <a:cs typeface="微软雅黑" charset="0"/>
              </a:rPr>
              <a:t>使用保活的业务与</a:t>
            </a:r>
            <a:r>
              <a:rPr lang="en-US" altLang="zh-CN" sz="2000" b="1" dirty="0">
                <a:latin typeface="微软雅黑" charset="0"/>
                <a:ea typeface="微软雅黑" charset="0"/>
                <a:cs typeface="微软雅黑" charset="0"/>
              </a:rPr>
              <a:t>APP</a:t>
            </a:r>
            <a:r>
              <a:rPr lang="zh-CN" altLang="en-US" sz="2000" b="1" dirty="0">
                <a:latin typeface="微软雅黑" charset="0"/>
                <a:ea typeface="微软雅黑" charset="0"/>
                <a:cs typeface="微软雅黑" charset="0"/>
              </a:rPr>
              <a:t>主要功能是否匹配</a:t>
            </a:r>
            <a:endParaRPr lang="en-US" altLang="zh-CN" sz="2000" b="1" dirty="0">
              <a:latin typeface="微软雅黑" charset="0"/>
              <a:ea typeface="微软雅黑" charset="0"/>
              <a:cs typeface="微软雅黑" charset="0"/>
            </a:endParaRPr>
          </a:p>
        </p:txBody>
      </p:sp>
      <p:sp>
        <p:nvSpPr>
          <p:cNvPr id="4" name="文本框 3">
            <a:extLst>
              <a:ext uri="{FF2B5EF4-FFF2-40B4-BE49-F238E27FC236}">
                <a16:creationId xmlns:a16="http://schemas.microsoft.com/office/drawing/2014/main" id="{47605358-0546-FC8F-E606-239064488381}"/>
              </a:ext>
            </a:extLst>
          </p:cNvPr>
          <p:cNvSpPr txBox="1"/>
          <p:nvPr/>
        </p:nvSpPr>
        <p:spPr>
          <a:xfrm>
            <a:off x="1001976" y="1515264"/>
            <a:ext cx="819036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400" b="1" dirty="0">
                <a:solidFill>
                  <a:schemeClr val="accent1"/>
                </a:solidFill>
                <a:latin typeface="思源黑体 CN Bold" panose="020B0800000000000000" pitchFamily="34" charset="-122"/>
                <a:ea typeface="思源黑体 CN Bold" panose="020B0800000000000000" pitchFamily="34" charset="-122"/>
                <a:sym typeface="思源黑体 CN Bold" panose="020B0800000000000000" pitchFamily="34" charset="-122"/>
              </a:rPr>
              <a:t>2.</a:t>
            </a:r>
            <a:r>
              <a:rPr kumimoji="1" lang="zh-CN" altLang="en-US" sz="2400" b="1" dirty="0">
                <a:solidFill>
                  <a:schemeClr val="accent1"/>
                </a:solidFill>
                <a:latin typeface="思源黑体 CN Bold" panose="020B0800000000000000" pitchFamily="34" charset="-122"/>
                <a:ea typeface="思源黑体 CN Bold" panose="020B0800000000000000" pitchFamily="34" charset="-122"/>
                <a:sym typeface="思源黑体 CN Bold" panose="020B0800000000000000" pitchFamily="34" charset="-122"/>
              </a:rPr>
              <a:t>分析与理解</a:t>
            </a:r>
            <a:r>
              <a:rPr kumimoji="1" lang="en-US" altLang="zh-CN"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a:t>
            </a: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借助大语言模型理解</a:t>
            </a:r>
            <a:r>
              <a:rPr kumimoji="1" lang="zh-CN" altLang="en-US" sz="2400" b="1" dirty="0">
                <a:solidFill>
                  <a:schemeClr val="accent1"/>
                </a:solidFill>
                <a:latin typeface="思源黑体 CN Bold" panose="020B0800000000000000" pitchFamily="34" charset="-122"/>
                <a:ea typeface="思源黑体 CN Bold" panose="020B0800000000000000" pitchFamily="34" charset="-122"/>
                <a:sym typeface="思源黑体 CN Bold" panose="020B0800000000000000" pitchFamily="34" charset="-122"/>
              </a:rPr>
              <a:t>保活行为的意图</a:t>
            </a:r>
            <a:endPar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5" name="不完整圆 4">
            <a:extLst>
              <a:ext uri="{FF2B5EF4-FFF2-40B4-BE49-F238E27FC236}">
                <a16:creationId xmlns:a16="http://schemas.microsoft.com/office/drawing/2014/main" id="{BB28C1BB-BEBE-51DF-E554-7BE12EB7719E}"/>
              </a:ext>
            </a:extLst>
          </p:cNvPr>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pic>
        <p:nvPicPr>
          <p:cNvPr id="8" name="图片 7">
            <a:extLst>
              <a:ext uri="{FF2B5EF4-FFF2-40B4-BE49-F238E27FC236}">
                <a16:creationId xmlns:a16="http://schemas.microsoft.com/office/drawing/2014/main" id="{9FD02B73-E11F-23B3-B1C2-4D8F8C9B4D48}"/>
              </a:ext>
            </a:extLst>
          </p:cNvPr>
          <p:cNvPicPr>
            <a:picLocks noChangeAspect="1"/>
          </p:cNvPicPr>
          <p:nvPr/>
        </p:nvPicPr>
        <p:blipFill>
          <a:blip r:embed="rId3"/>
          <a:srcRect t="7061"/>
          <a:stretch/>
        </p:blipFill>
        <p:spPr>
          <a:xfrm>
            <a:off x="2135560" y="4385976"/>
            <a:ext cx="7536160" cy="2449838"/>
          </a:xfrm>
          <a:prstGeom prst="rect">
            <a:avLst/>
          </a:prstGeom>
        </p:spPr>
      </p:pic>
    </p:spTree>
    <p:extLst>
      <p:ext uri="{BB962C8B-B14F-4D97-AF65-F5344CB8AC3E}">
        <p14:creationId xmlns:p14="http://schemas.microsoft.com/office/powerpoint/2010/main" val="496293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1A6E5-223A-A598-3371-494CD795B31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E37451B-8D2F-93DA-173D-3AE98C8308A8}"/>
              </a:ext>
            </a:extLst>
          </p:cNvPr>
          <p:cNvSpPr>
            <a:spLocks noGrp="1"/>
          </p:cNvSpPr>
          <p:nvPr>
            <p:ph type="body" sz="quarter" idx="10"/>
          </p:nvPr>
        </p:nvSpPr>
        <p:spPr>
          <a:xfrm>
            <a:off x="459944" y="269411"/>
            <a:ext cx="864096" cy="1008063"/>
          </a:xfrm>
        </p:spPr>
        <p:txBody>
          <a:bodyPr/>
          <a:lstStyle/>
          <a:p>
            <a:r>
              <a:rPr lang="en-US" altLang="zh-CN" dirty="0"/>
              <a:t>4</a:t>
            </a:r>
            <a:endParaRPr lang="zh-CN" altLang="en-US" dirty="0"/>
          </a:p>
        </p:txBody>
      </p:sp>
      <p:sp>
        <p:nvSpPr>
          <p:cNvPr id="3" name="文本占位符 2">
            <a:extLst>
              <a:ext uri="{FF2B5EF4-FFF2-40B4-BE49-F238E27FC236}">
                <a16:creationId xmlns:a16="http://schemas.microsoft.com/office/drawing/2014/main" id="{0364151E-9AF4-4781-F5B6-26348F43CB98}"/>
              </a:ext>
            </a:extLst>
          </p:cNvPr>
          <p:cNvSpPr>
            <a:spLocks noGrp="1"/>
          </p:cNvSpPr>
          <p:nvPr>
            <p:ph type="body" sz="quarter" idx="12"/>
          </p:nvPr>
        </p:nvSpPr>
        <p:spPr>
          <a:xfrm>
            <a:off x="1437591" y="348250"/>
            <a:ext cx="9468473" cy="496824"/>
          </a:xfrm>
        </p:spPr>
        <p:txBody>
          <a:bodyPr/>
          <a:lstStyle/>
          <a:p>
            <a:pPr fontAlgn="base"/>
            <a:r>
              <a:rPr lang="zh-CN" altLang="en-US" b="1" dirty="0"/>
              <a:t>当前已有工作与成果</a:t>
            </a:r>
            <a:endParaRPr lang="en-US" altLang="zh-CN" b="1" dirty="0"/>
          </a:p>
        </p:txBody>
      </p:sp>
      <p:sp>
        <p:nvSpPr>
          <p:cNvPr id="17" name="文本框 16">
            <a:extLst>
              <a:ext uri="{FF2B5EF4-FFF2-40B4-BE49-F238E27FC236}">
                <a16:creationId xmlns:a16="http://schemas.microsoft.com/office/drawing/2014/main" id="{C9063235-FEAD-B786-F71E-CEB484C3A764}"/>
              </a:ext>
            </a:extLst>
          </p:cNvPr>
          <p:cNvSpPr txBox="1"/>
          <p:nvPr/>
        </p:nvSpPr>
        <p:spPr>
          <a:xfrm>
            <a:off x="839417" y="2058068"/>
            <a:ext cx="11161239" cy="1631216"/>
          </a:xfrm>
          <a:prstGeom prst="rect">
            <a:avLst/>
          </a:prstGeom>
          <a:noFill/>
        </p:spPr>
        <p:txBody>
          <a:bodyPr wrap="square">
            <a:spAutoFit/>
          </a:bodyPr>
          <a:lstStyle/>
          <a:p>
            <a:pPr algn="just"/>
            <a:r>
              <a:rPr lang="zh-CN" altLang="en-US" sz="2000" dirty="0">
                <a:latin typeface="微软雅黑" charset="0"/>
                <a:ea typeface="微软雅黑" charset="0"/>
                <a:cs typeface="微软雅黑" charset="0"/>
              </a:rPr>
              <a:t>目前已经针对无声音乐保活的样本设计并完成：</a:t>
            </a:r>
            <a:endParaRPr lang="en-US" altLang="zh-CN" sz="2000" dirty="0">
              <a:latin typeface="微软雅黑" charset="0"/>
              <a:ea typeface="微软雅黑" charset="0"/>
              <a:cs typeface="微软雅黑" charset="0"/>
            </a:endParaRPr>
          </a:p>
          <a:p>
            <a:pPr marL="457200" indent="-457200" algn="just">
              <a:buFont typeface="+mj-lt"/>
              <a:buAutoNum type="arabicPeriod"/>
            </a:pPr>
            <a:r>
              <a:rPr lang="zh-CN" altLang="en-US" sz="2000" b="1" dirty="0">
                <a:latin typeface="微软雅黑" charset="0"/>
                <a:ea typeface="微软雅黑" charset="0"/>
                <a:cs typeface="微软雅黑" charset="0"/>
              </a:rPr>
              <a:t>保活行为检测</a:t>
            </a:r>
            <a:endParaRPr lang="en-US" altLang="zh-CN" sz="2000" b="1" dirty="0">
              <a:latin typeface="微软雅黑" charset="0"/>
              <a:ea typeface="微软雅黑" charset="0"/>
              <a:cs typeface="微软雅黑" charset="0"/>
            </a:endParaRPr>
          </a:p>
          <a:p>
            <a:pPr marL="457200" indent="-457200" algn="just">
              <a:buFont typeface="+mj-lt"/>
              <a:buAutoNum type="arabicPeriod"/>
            </a:pPr>
            <a:r>
              <a:rPr lang="zh-CN" altLang="en-US" sz="2000" b="1" dirty="0">
                <a:latin typeface="微软雅黑" charset="0"/>
                <a:ea typeface="微软雅黑" charset="0"/>
                <a:cs typeface="微软雅黑" charset="0"/>
              </a:rPr>
              <a:t>代码定位与调用链构建</a:t>
            </a:r>
            <a:endParaRPr lang="en-US" altLang="zh-CN" sz="2000" b="1" dirty="0">
              <a:latin typeface="微软雅黑" charset="0"/>
              <a:ea typeface="微软雅黑" charset="0"/>
              <a:cs typeface="微软雅黑" charset="0"/>
            </a:endParaRPr>
          </a:p>
          <a:p>
            <a:pPr marL="457200" indent="-457200" algn="just">
              <a:buFont typeface="+mj-lt"/>
              <a:buAutoNum type="arabicPeriod"/>
            </a:pPr>
            <a:r>
              <a:rPr lang="zh-CN" altLang="en-US" sz="2000" b="1" dirty="0">
                <a:latin typeface="微软雅黑" charset="0"/>
                <a:ea typeface="微软雅黑" charset="0"/>
                <a:cs typeface="微软雅黑" charset="0"/>
              </a:rPr>
              <a:t>意图理解与分析</a:t>
            </a:r>
            <a:endParaRPr lang="en-US" altLang="zh-CN" sz="2000" b="1" dirty="0">
              <a:latin typeface="微软雅黑" charset="0"/>
              <a:ea typeface="微软雅黑" charset="0"/>
              <a:cs typeface="微软雅黑" charset="0"/>
            </a:endParaRPr>
          </a:p>
          <a:p>
            <a:pPr algn="just"/>
            <a:r>
              <a:rPr lang="zh-CN" altLang="en-US" sz="2000" dirty="0">
                <a:latin typeface="微软雅黑" charset="0"/>
                <a:ea typeface="微软雅黑" charset="0"/>
                <a:cs typeface="微软雅黑" charset="0"/>
              </a:rPr>
              <a:t>的流程方案，我们当前设计的检测工具</a:t>
            </a:r>
            <a:r>
              <a:rPr lang="en-US" altLang="zh-CN" sz="2000" dirty="0">
                <a:latin typeface="微软雅黑" charset="0"/>
                <a:ea typeface="微软雅黑" charset="0"/>
                <a:cs typeface="微软雅黑" charset="0"/>
              </a:rPr>
              <a:t>KALAD</a:t>
            </a:r>
            <a:r>
              <a:rPr lang="zh-CN" altLang="en-US" sz="2000" dirty="0">
                <a:latin typeface="微软雅黑" charset="0"/>
                <a:ea typeface="微软雅黑" charset="0"/>
                <a:cs typeface="微软雅黑" charset="0"/>
              </a:rPr>
              <a:t>工作流图如下所示：</a:t>
            </a:r>
            <a:endParaRPr lang="en-US" altLang="zh-CN" sz="2000" b="1" dirty="0">
              <a:latin typeface="微软雅黑" charset="0"/>
              <a:ea typeface="微软雅黑" charset="0"/>
              <a:cs typeface="微软雅黑" charset="0"/>
            </a:endParaRPr>
          </a:p>
        </p:txBody>
      </p:sp>
      <p:sp>
        <p:nvSpPr>
          <p:cNvPr id="4" name="文本框 3">
            <a:extLst>
              <a:ext uri="{FF2B5EF4-FFF2-40B4-BE49-F238E27FC236}">
                <a16:creationId xmlns:a16="http://schemas.microsoft.com/office/drawing/2014/main" id="{47818B14-977D-4C7C-7313-BA47837A5040}"/>
              </a:ext>
            </a:extLst>
          </p:cNvPr>
          <p:cNvSpPr txBox="1"/>
          <p:nvPr/>
        </p:nvSpPr>
        <p:spPr>
          <a:xfrm>
            <a:off x="1001976" y="1515264"/>
            <a:ext cx="1085466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1" lang="zh-CN" altLang="en-US" sz="2400" b="1" dirty="0">
                <a:solidFill>
                  <a:schemeClr val="accent1"/>
                </a:solidFill>
                <a:latin typeface="思源黑体 CN Bold" panose="020B0800000000000000" pitchFamily="34" charset="-122"/>
                <a:ea typeface="思源黑体 CN Bold" panose="020B0800000000000000" pitchFamily="34" charset="-122"/>
                <a:sym typeface="思源黑体 CN Bold" panose="020B0800000000000000" pitchFamily="34" charset="-122"/>
              </a:rPr>
              <a:t>为验证可行性开发的工具</a:t>
            </a: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a:t>
            </a:r>
            <a:r>
              <a:rPr kumimoji="1" lang="en-US" altLang="zh-CN"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KALAD</a:t>
            </a: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a:t>
            </a:r>
            <a:r>
              <a:rPr kumimoji="1" lang="en-US" altLang="zh-CN"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Keep </a:t>
            </a:r>
            <a:r>
              <a:rPr kumimoji="1" lang="en-US" altLang="zh-CN" sz="2400" b="1" noProof="0" dirty="0" err="1">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AppLication</a:t>
            </a:r>
            <a:r>
              <a:rPr kumimoji="1" lang="en-US" altLang="zh-CN"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 Alive Detector</a:t>
            </a: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a:t>
            </a:r>
          </a:p>
        </p:txBody>
      </p:sp>
      <p:sp>
        <p:nvSpPr>
          <p:cNvPr id="5" name="不完整圆 4">
            <a:extLst>
              <a:ext uri="{FF2B5EF4-FFF2-40B4-BE49-F238E27FC236}">
                <a16:creationId xmlns:a16="http://schemas.microsoft.com/office/drawing/2014/main" id="{154642C5-D2E8-94E8-504A-687319DD60B2}"/>
              </a:ext>
            </a:extLst>
          </p:cNvPr>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pic>
        <p:nvPicPr>
          <p:cNvPr id="6" name="Picture 6">
            <a:extLst>
              <a:ext uri="{FF2B5EF4-FFF2-40B4-BE49-F238E27FC236}">
                <a16:creationId xmlns:a16="http://schemas.microsoft.com/office/drawing/2014/main" id="{BDEC778B-EFF3-9EC2-94BA-04912A91CF8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93" y="4175760"/>
            <a:ext cx="12188414" cy="2682240"/>
          </a:xfrm>
          <a:prstGeom prst="rect">
            <a:avLst/>
          </a:prstGeom>
        </p:spPr>
      </p:pic>
    </p:spTree>
    <p:extLst>
      <p:ext uri="{BB962C8B-B14F-4D97-AF65-F5344CB8AC3E}">
        <p14:creationId xmlns:p14="http://schemas.microsoft.com/office/powerpoint/2010/main" val="3146823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4</a:t>
            </a:r>
            <a:endParaRPr lang="zh-CN" altLang="en-US" dirty="0"/>
          </a:p>
        </p:txBody>
      </p:sp>
      <p:sp>
        <p:nvSpPr>
          <p:cNvPr id="3" name="文本占位符 2"/>
          <p:cNvSpPr>
            <a:spLocks noGrp="1"/>
          </p:cNvSpPr>
          <p:nvPr>
            <p:ph type="body" sz="quarter" idx="12"/>
          </p:nvPr>
        </p:nvSpPr>
        <p:spPr>
          <a:xfrm>
            <a:off x="1437591" y="348250"/>
            <a:ext cx="9987001" cy="496824"/>
          </a:xfrm>
        </p:spPr>
        <p:txBody>
          <a:bodyPr/>
          <a:lstStyle/>
          <a:p>
            <a:pPr fontAlgn="base"/>
            <a:r>
              <a:rPr lang="zh-CN" altLang="en-US" b="1" dirty="0"/>
              <a:t>当前已有工作与成果</a:t>
            </a:r>
            <a:endParaRPr lang="en-US" altLang="zh-CN" b="1" dirty="0"/>
          </a:p>
        </p:txBody>
      </p:sp>
      <p:sp>
        <p:nvSpPr>
          <p:cNvPr id="4" name="Rectangle 2">
            <a:extLst>
              <a:ext uri="{FF2B5EF4-FFF2-40B4-BE49-F238E27FC236}">
                <a16:creationId xmlns:a16="http://schemas.microsoft.com/office/drawing/2014/main" id="{F9CE9F38-BF51-4089-8D63-24F7C10CEC7D}"/>
              </a:ext>
            </a:extLst>
          </p:cNvPr>
          <p:cNvSpPr>
            <a:spLocks noChangeArrowheads="1"/>
          </p:cNvSpPr>
          <p:nvPr/>
        </p:nvSpPr>
        <p:spPr bwMode="auto">
          <a:xfrm>
            <a:off x="459944" y="1853424"/>
            <a:ext cx="1003831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文本框 5">
            <a:extLst>
              <a:ext uri="{FF2B5EF4-FFF2-40B4-BE49-F238E27FC236}">
                <a16:creationId xmlns:a16="http://schemas.microsoft.com/office/drawing/2014/main" id="{43A11535-A910-44F8-8CBE-4206D69C77EB}"/>
              </a:ext>
            </a:extLst>
          </p:cNvPr>
          <p:cNvSpPr txBox="1"/>
          <p:nvPr/>
        </p:nvSpPr>
        <p:spPr>
          <a:xfrm>
            <a:off x="459944" y="4288765"/>
            <a:ext cx="10964648" cy="2123658"/>
          </a:xfrm>
          <a:prstGeom prst="rect">
            <a:avLst/>
          </a:prstGeom>
          <a:noFill/>
        </p:spPr>
        <p:txBody>
          <a:bodyPr wrap="square" rtlCol="0">
            <a:spAutoFit/>
          </a:bodyPr>
          <a:lstStyle/>
          <a:p>
            <a:r>
              <a:rPr kumimoji="1" lang="zh-CN" altLang="en-US" sz="2400" b="1" noProof="0" dirty="0">
                <a:solidFill>
                  <a:srgbClr val="20517C"/>
                </a:solidFill>
                <a:latin typeface="思源黑体 CN Bold" panose="020B0800000000000000" pitchFamily="34" charset="-122"/>
                <a:ea typeface="思源黑体 CN Bold" panose="020B0800000000000000" pitchFamily="34" charset="-122"/>
                <a:sym typeface="思源黑体 CN Bold" panose="020B0800000000000000" pitchFamily="34" charset="-122"/>
              </a:rPr>
              <a:t>大语言模型的回答</a:t>
            </a:r>
            <a:r>
              <a:rPr kumimoji="1" lang="zh-CN" altLang="en-US" sz="2400" b="1" i="0" u="none" strike="noStrike" kern="1200" cap="none" spc="0" normalizeH="0" baseline="0" noProof="0" dirty="0">
                <a:ln>
                  <a:noFill/>
                </a:ln>
                <a:solidFill>
                  <a:srgbClr val="20517C"/>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rPr>
              <a:t>：</a:t>
            </a:r>
            <a:endParaRPr kumimoji="1" lang="en-US" altLang="zh-CN" sz="2400" b="1" i="0" u="none" strike="noStrike" kern="1200" cap="none" spc="0" normalizeH="0" baseline="0" noProof="0" dirty="0">
              <a:ln>
                <a:noFill/>
              </a:ln>
              <a:solidFill>
                <a:srgbClr val="20517C"/>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a:p>
            <a:endParaRPr lang="en-US" altLang="zh-CN" dirty="0">
              <a:latin typeface="+mj-ea"/>
              <a:ea typeface="+mj-ea"/>
            </a:endParaRPr>
          </a:p>
          <a:p>
            <a:r>
              <a:rPr lang="en-US" altLang="zh-CN" dirty="0">
                <a:latin typeface="+mj-ea"/>
                <a:ea typeface="+mj-ea"/>
              </a:rPr>
              <a:t>AI:</a:t>
            </a:r>
            <a:r>
              <a:rPr lang="zh-CN" altLang="en-US" dirty="0">
                <a:latin typeface="+mj-ea"/>
                <a:ea typeface="+mj-ea"/>
              </a:rPr>
              <a:t>在这种需要持续获取</a:t>
            </a:r>
            <a:r>
              <a:rPr lang="zh-CN" altLang="en-US" dirty="0">
                <a:solidFill>
                  <a:srgbClr val="FF0000"/>
                </a:solidFill>
                <a:latin typeface="+mj-ea"/>
                <a:ea typeface="+mj-ea"/>
              </a:rPr>
              <a:t>健康和运动相关信息</a:t>
            </a:r>
            <a:r>
              <a:rPr lang="zh-CN" altLang="en-US" dirty="0">
                <a:latin typeface="+mj-ea"/>
                <a:ea typeface="+mj-ea"/>
              </a:rPr>
              <a:t>的应用中，</a:t>
            </a:r>
            <a:r>
              <a:rPr lang="zh-CN" altLang="en-US" dirty="0">
                <a:solidFill>
                  <a:srgbClr val="FF0000"/>
                </a:solidFill>
                <a:latin typeface="+mj-ea"/>
                <a:ea typeface="+mj-ea"/>
              </a:rPr>
              <a:t>维持应用在后台的活跃状态是相当必要的</a:t>
            </a:r>
            <a:r>
              <a:rPr lang="en-US" altLang="zh-CN" dirty="0">
                <a:latin typeface="+mj-ea"/>
                <a:ea typeface="+mj-ea"/>
              </a:rPr>
              <a:t>:</a:t>
            </a:r>
          </a:p>
          <a:p>
            <a:r>
              <a:rPr lang="zh-CN" altLang="en-US" dirty="0">
                <a:latin typeface="+mj-ea"/>
                <a:ea typeface="+mj-ea"/>
              </a:rPr>
              <a:t>有助于提供连续、不间断的用户体验，如</a:t>
            </a:r>
            <a:r>
              <a:rPr lang="zh-CN" altLang="en-US" dirty="0">
                <a:solidFill>
                  <a:srgbClr val="FF0000"/>
                </a:solidFill>
                <a:latin typeface="+mj-ea"/>
                <a:ea typeface="+mj-ea"/>
              </a:rPr>
              <a:t>位置变化的实时更新、运动数据的准确记录</a:t>
            </a:r>
            <a:r>
              <a:rPr lang="zh-CN" altLang="en-US" dirty="0">
                <a:latin typeface="+mj-ea"/>
                <a:ea typeface="+mj-ea"/>
              </a:rPr>
              <a:t>。否则，系统的资源回收措施可能导致重要数据的中断或丢失。使用无声音乐保活技术是实现该目的的必要措施之一。为了用户体验及数据的准确性与完整性，确保应用所需的服务能够在后台维持运行是非常合理且有价值的。避免因系统资源管理策略导致的应用暂停或关闭，这是保证应用核心功能不间断的一种有效方法。</a:t>
            </a:r>
          </a:p>
        </p:txBody>
      </p:sp>
      <p:sp>
        <p:nvSpPr>
          <p:cNvPr id="7" name="文本框 6">
            <a:extLst>
              <a:ext uri="{FF2B5EF4-FFF2-40B4-BE49-F238E27FC236}">
                <a16:creationId xmlns:a16="http://schemas.microsoft.com/office/drawing/2014/main" id="{AD5BD05C-EA80-A728-F84A-CD23E39662DF}"/>
              </a:ext>
            </a:extLst>
          </p:cNvPr>
          <p:cNvSpPr txBox="1"/>
          <p:nvPr/>
        </p:nvSpPr>
        <p:spPr>
          <a:xfrm>
            <a:off x="821200" y="2084257"/>
            <a:ext cx="11161239" cy="1631216"/>
          </a:xfrm>
          <a:prstGeom prst="rect">
            <a:avLst/>
          </a:prstGeom>
          <a:noFill/>
        </p:spPr>
        <p:txBody>
          <a:bodyPr wrap="square">
            <a:spAutoFit/>
          </a:bodyPr>
          <a:lstStyle/>
          <a:p>
            <a:pPr algn="just"/>
            <a:r>
              <a:rPr lang="zh-CN" altLang="en-US" sz="2000" dirty="0">
                <a:latin typeface="微软雅黑" charset="0"/>
                <a:ea typeface="微软雅黑" charset="0"/>
                <a:cs typeface="微软雅黑" charset="0"/>
              </a:rPr>
              <a:t>在验证实验中，输入的是一个名为“启康保”的应用</a:t>
            </a:r>
            <a:r>
              <a:rPr lang="en-US" altLang="zh-CN" sz="2000" dirty="0">
                <a:latin typeface="微软雅黑" charset="0"/>
                <a:ea typeface="微软雅黑" charset="0"/>
                <a:cs typeface="微软雅黑" charset="0"/>
              </a:rPr>
              <a:t>APK</a:t>
            </a:r>
            <a:r>
              <a:rPr lang="zh-CN" altLang="en-US" sz="2000" dirty="0">
                <a:latin typeface="微软雅黑" charset="0"/>
                <a:ea typeface="微软雅黑" charset="0"/>
                <a:cs typeface="微软雅黑" charset="0"/>
              </a:rPr>
              <a:t>，经过手动分析与模拟使用，确定该</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功能与保活意图如下：</a:t>
            </a:r>
            <a:endParaRPr lang="en-US" altLang="zh-CN" sz="2000" dirty="0">
              <a:latin typeface="微软雅黑" charset="0"/>
              <a:ea typeface="微软雅黑" charset="0"/>
              <a:cs typeface="微软雅黑" charset="0"/>
            </a:endParaRPr>
          </a:p>
          <a:p>
            <a:pPr marL="457200" indent="-457200" algn="just">
              <a:buFont typeface="+mj-lt"/>
              <a:buAutoNum type="arabicPeriod"/>
            </a:pPr>
            <a:r>
              <a:rPr lang="zh-CN" altLang="en-US" sz="2000" dirty="0">
                <a:latin typeface="微软雅黑" charset="0"/>
                <a:ea typeface="微软雅黑" charset="0"/>
                <a:cs typeface="微软雅黑" charset="0"/>
              </a:rPr>
              <a:t>该</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是一个用于记录</a:t>
            </a:r>
            <a:r>
              <a:rPr lang="zh-CN" altLang="en-US" sz="2000" b="1" dirty="0">
                <a:latin typeface="微软雅黑" charset="0"/>
                <a:ea typeface="微软雅黑" charset="0"/>
                <a:cs typeface="微软雅黑" charset="0"/>
              </a:rPr>
              <a:t>日常健康信息与运动情况</a:t>
            </a:r>
            <a:r>
              <a:rPr lang="zh-CN" altLang="en-US" sz="2000" dirty="0">
                <a:latin typeface="微软雅黑" charset="0"/>
                <a:ea typeface="微软雅黑" charset="0"/>
                <a:cs typeface="微软雅黑" charset="0"/>
              </a:rPr>
              <a:t>的</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a:t>
            </a:r>
            <a:endParaRPr lang="en-US" altLang="zh-CN" sz="2000" dirty="0">
              <a:latin typeface="微软雅黑" charset="0"/>
              <a:ea typeface="微软雅黑" charset="0"/>
              <a:cs typeface="微软雅黑" charset="0"/>
            </a:endParaRPr>
          </a:p>
          <a:p>
            <a:pPr marL="457200" indent="-457200" algn="just">
              <a:buFont typeface="+mj-lt"/>
              <a:buAutoNum type="arabicPeriod"/>
            </a:pPr>
            <a:r>
              <a:rPr lang="zh-CN" altLang="en-US" sz="2000" dirty="0">
                <a:latin typeface="微软雅黑" charset="0"/>
                <a:ea typeface="微软雅黑" charset="0"/>
                <a:cs typeface="微软雅黑" charset="0"/>
              </a:rPr>
              <a:t>该</a:t>
            </a:r>
            <a:r>
              <a:rPr lang="en-US" altLang="zh-CN" sz="2000" dirty="0">
                <a:latin typeface="微软雅黑" charset="0"/>
                <a:ea typeface="微软雅黑" charset="0"/>
                <a:cs typeface="微软雅黑" charset="0"/>
              </a:rPr>
              <a:t>APP</a:t>
            </a:r>
            <a:r>
              <a:rPr lang="zh-CN" altLang="en-US" sz="2000" dirty="0">
                <a:latin typeface="微软雅黑" charset="0"/>
                <a:ea typeface="微软雅黑" charset="0"/>
                <a:cs typeface="微软雅黑" charset="0"/>
              </a:rPr>
              <a:t>使用无声音乐保活手段，目的是为了在用户</a:t>
            </a:r>
            <a:r>
              <a:rPr lang="zh-CN" altLang="en-US" sz="2000" b="1" dirty="0">
                <a:latin typeface="微软雅黑" charset="0"/>
                <a:ea typeface="微软雅黑" charset="0"/>
                <a:cs typeface="微软雅黑" charset="0"/>
              </a:rPr>
              <a:t>使用该</a:t>
            </a:r>
            <a:r>
              <a:rPr lang="en-US" altLang="zh-CN" sz="2000" b="1" dirty="0">
                <a:latin typeface="微软雅黑" charset="0"/>
                <a:ea typeface="微软雅黑" charset="0"/>
                <a:cs typeface="微软雅黑" charset="0"/>
              </a:rPr>
              <a:t>APP</a:t>
            </a:r>
            <a:r>
              <a:rPr lang="zh-CN" altLang="en-US" sz="2000" b="1" dirty="0">
                <a:latin typeface="微软雅黑" charset="0"/>
                <a:ea typeface="微软雅黑" charset="0"/>
                <a:cs typeface="微软雅黑" charset="0"/>
              </a:rPr>
              <a:t>记录户外运动</a:t>
            </a:r>
            <a:r>
              <a:rPr lang="zh-CN" altLang="en-US" sz="2000" dirty="0">
                <a:latin typeface="微软雅黑" charset="0"/>
                <a:ea typeface="微软雅黑" charset="0"/>
                <a:cs typeface="微软雅黑" charset="0"/>
              </a:rPr>
              <a:t>时，</a:t>
            </a:r>
            <a:r>
              <a:rPr lang="zh-CN" altLang="en-US" sz="2000" dirty="0">
                <a:solidFill>
                  <a:srgbClr val="FF0000"/>
                </a:solidFill>
                <a:latin typeface="微软雅黑" charset="0"/>
                <a:ea typeface="微软雅黑" charset="0"/>
                <a:cs typeface="微软雅黑" charset="0"/>
              </a:rPr>
              <a:t>为用户提供连续不间断的位置更新服务</a:t>
            </a:r>
            <a:r>
              <a:rPr lang="zh-CN" altLang="en-US" sz="2000" dirty="0">
                <a:latin typeface="微软雅黑" charset="0"/>
                <a:ea typeface="微软雅黑" charset="0"/>
                <a:cs typeface="微软雅黑" charset="0"/>
              </a:rPr>
              <a:t>，属于良性保活行为。</a:t>
            </a:r>
            <a:endParaRPr lang="en-US" altLang="zh-CN" sz="2000" dirty="0">
              <a:latin typeface="微软雅黑" charset="0"/>
              <a:ea typeface="微软雅黑" charset="0"/>
              <a:cs typeface="微软雅黑" charset="0"/>
            </a:endParaRPr>
          </a:p>
        </p:txBody>
      </p:sp>
      <p:sp>
        <p:nvSpPr>
          <p:cNvPr id="9" name="文本框 8">
            <a:extLst>
              <a:ext uri="{FF2B5EF4-FFF2-40B4-BE49-F238E27FC236}">
                <a16:creationId xmlns:a16="http://schemas.microsoft.com/office/drawing/2014/main" id="{6E33ADEB-3047-9600-30BE-CFB9FEBFA901}"/>
              </a:ext>
            </a:extLst>
          </p:cNvPr>
          <p:cNvSpPr txBox="1"/>
          <p:nvPr/>
        </p:nvSpPr>
        <p:spPr>
          <a:xfrm>
            <a:off x="1001976" y="1515264"/>
            <a:ext cx="1085466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1" lang="zh-CN" altLang="en-US" sz="2400" b="1"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rPr>
              <a:t>意图理解与匹配结果</a:t>
            </a:r>
          </a:p>
        </p:txBody>
      </p:sp>
      <p:sp>
        <p:nvSpPr>
          <p:cNvPr id="10" name="不完整圆 9">
            <a:extLst>
              <a:ext uri="{FF2B5EF4-FFF2-40B4-BE49-F238E27FC236}">
                <a16:creationId xmlns:a16="http://schemas.microsoft.com/office/drawing/2014/main" id="{1180C218-FF75-899A-376A-FE3EE7C27F20}"/>
              </a:ext>
            </a:extLst>
          </p:cNvPr>
          <p:cNvSpPr/>
          <p:nvPr/>
        </p:nvSpPr>
        <p:spPr>
          <a:xfrm>
            <a:off x="724001" y="162983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11" name="箭头: 上下 10">
            <a:extLst>
              <a:ext uri="{FF2B5EF4-FFF2-40B4-BE49-F238E27FC236}">
                <a16:creationId xmlns:a16="http://schemas.microsoft.com/office/drawing/2014/main" id="{E9A45FDA-A3FA-2122-A4E1-26C5CB7697B6}"/>
              </a:ext>
            </a:extLst>
          </p:cNvPr>
          <p:cNvSpPr/>
          <p:nvPr/>
        </p:nvSpPr>
        <p:spPr>
          <a:xfrm rot="19460670">
            <a:off x="4164059" y="3469581"/>
            <a:ext cx="478048" cy="1925298"/>
          </a:xfrm>
          <a:prstGeom prst="upDownArrow">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0F7554CC-AA5F-30E3-E7ED-FC9EC2B196E0}"/>
              </a:ext>
            </a:extLst>
          </p:cNvPr>
          <p:cNvSpPr txBox="1"/>
          <p:nvPr/>
        </p:nvSpPr>
        <p:spPr>
          <a:xfrm>
            <a:off x="4367808" y="4033955"/>
            <a:ext cx="3416320" cy="369332"/>
          </a:xfrm>
          <a:prstGeom prst="rect">
            <a:avLst/>
          </a:prstGeom>
          <a:noFill/>
        </p:spPr>
        <p:txBody>
          <a:bodyPr wrap="none" rtlCol="0">
            <a:spAutoFit/>
          </a:bodyPr>
          <a:lstStyle/>
          <a:p>
            <a:r>
              <a:rPr lang="zh-CN" altLang="en-US" b="1" dirty="0"/>
              <a:t>意图匹配成功，判定为良性保活</a:t>
            </a:r>
          </a:p>
        </p:txBody>
      </p:sp>
    </p:spTree>
    <p:extLst>
      <p:ext uri="{BB962C8B-B14F-4D97-AF65-F5344CB8AC3E}">
        <p14:creationId xmlns:p14="http://schemas.microsoft.com/office/powerpoint/2010/main" val="29822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5</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工作安排</a:t>
            </a:r>
            <a:endParaRPr lang="en-US" altLang="zh-CN" b="1" dirty="0"/>
          </a:p>
        </p:txBody>
      </p:sp>
      <p:sp>
        <p:nvSpPr>
          <p:cNvPr id="5" name="Text Box 4"/>
          <p:cNvSpPr txBox="1"/>
          <p:nvPr userDrawn="1"/>
        </p:nvSpPr>
        <p:spPr>
          <a:xfrm>
            <a:off x="2367280" y="2499360"/>
            <a:ext cx="309880" cy="368300"/>
          </a:xfrm>
          <a:prstGeom prst="rect">
            <a:avLst/>
          </a:prstGeom>
        </p:spPr>
        <p:txBody>
          <a:bodyPr wrap="none" rtlCol="0">
            <a:spAutoFit/>
          </a:bodyPr>
          <a:lstStyle/>
          <a:p>
            <a:endParaRPr lang="zh-CN" altLang="en-US"/>
          </a:p>
        </p:txBody>
      </p:sp>
      <p:sp>
        <p:nvSpPr>
          <p:cNvPr id="15" name="文本框 14"/>
          <p:cNvSpPr txBox="1"/>
          <p:nvPr/>
        </p:nvSpPr>
        <p:spPr>
          <a:xfrm>
            <a:off x="882825" y="1464121"/>
            <a:ext cx="4106877" cy="82994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1" lang="zh-CN" altLang="en-US" sz="2400" b="1" dirty="0">
                <a:solidFill>
                  <a:schemeClr val="accent1"/>
                </a:solidFill>
                <a:latin typeface="思源黑体 CN Bold" panose="020B0800000000000000" pitchFamily="34" charset="-122"/>
                <a:ea typeface="思源黑体 CN Bold" panose="020B0800000000000000" pitchFamily="34" charset="-122"/>
                <a:sym typeface="思源黑体 CN Bold" panose="020B0800000000000000" pitchFamily="34" charset="-122"/>
              </a:rPr>
              <a:t>未来工作安排</a:t>
            </a:r>
            <a:endParaRPr kumimoji="1" lang="zh-CN" altLang="en-US" sz="2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16" name="不完整圆 15"/>
          <p:cNvSpPr/>
          <p:nvPr/>
        </p:nvSpPr>
        <p:spPr>
          <a:xfrm>
            <a:off x="651992" y="1600201"/>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B0800000000000000" pitchFamily="34" charset="-122"/>
              <a:ea typeface="思源黑体 CN Bold" panose="020B0800000000000000" pitchFamily="34" charset="-122"/>
              <a:sym typeface="思源黑体 CN Bold" panose="020B0800000000000000" pitchFamily="34" charset="-122"/>
            </a:endParaRPr>
          </a:p>
        </p:txBody>
      </p:sp>
      <p:sp>
        <p:nvSpPr>
          <p:cNvPr id="17" name="文本框 16"/>
          <p:cNvSpPr txBox="1"/>
          <p:nvPr/>
        </p:nvSpPr>
        <p:spPr>
          <a:xfrm>
            <a:off x="637953" y="2009374"/>
            <a:ext cx="11046215" cy="3939905"/>
          </a:xfrm>
          <a:prstGeom prst="rect">
            <a:avLst/>
          </a:prstGeom>
          <a:noFill/>
        </p:spPr>
        <p:txBody>
          <a:bodyPr wrap="square">
            <a:noAutofit/>
          </a:bodyPr>
          <a:lstStyle/>
          <a:p>
            <a:pPr marL="342900" indent="-342900" algn="just">
              <a:lnSpc>
                <a:spcPct val="200000"/>
              </a:lnSpc>
              <a:buAutoNum type="arabicPeriod"/>
            </a:pPr>
            <a:r>
              <a:rPr lang="zh-CN" altLang="en-US" sz="2000" dirty="0">
                <a:latin typeface="微软雅黑" charset="0"/>
                <a:ea typeface="微软雅黑" charset="0"/>
                <a:cs typeface="微软雅黑" charset="0"/>
              </a:rPr>
              <a:t>当前</a:t>
            </a:r>
            <a:r>
              <a:rPr lang="en-US" altLang="zh-CN" sz="2000" dirty="0">
                <a:latin typeface="微软雅黑" charset="0"/>
                <a:ea typeface="微软雅黑" charset="0"/>
                <a:cs typeface="微软雅黑" charset="0"/>
              </a:rPr>
              <a:t>~</a:t>
            </a:r>
            <a:r>
              <a:rPr lang="zh-CN" altLang="en-US" sz="2000" dirty="0">
                <a:latin typeface="微软雅黑" charset="0"/>
                <a:ea typeface="微软雅黑" charset="0"/>
                <a:cs typeface="微软雅黑" charset="0"/>
              </a:rPr>
              <a:t>约第</a:t>
            </a:r>
            <a:r>
              <a:rPr lang="en-US" altLang="zh-CN" sz="2000" dirty="0">
                <a:latin typeface="微软雅黑" charset="0"/>
                <a:ea typeface="微软雅黑" charset="0"/>
                <a:cs typeface="微软雅黑" charset="0"/>
              </a:rPr>
              <a:t>8</a:t>
            </a:r>
            <a:r>
              <a:rPr lang="zh-CN" altLang="en-US" sz="2000" dirty="0">
                <a:latin typeface="微软雅黑" charset="0"/>
                <a:ea typeface="微软雅黑" charset="0"/>
                <a:cs typeface="微软雅黑" charset="0"/>
              </a:rPr>
              <a:t>周：继续完善当前检测工具，以支持更多种类保活检测与代码片段抽取，优化工具，提升检测性能</a:t>
            </a:r>
            <a:endParaRPr lang="en-US" altLang="zh-CN" sz="2000" dirty="0">
              <a:latin typeface="微软雅黑" charset="0"/>
              <a:ea typeface="微软雅黑" charset="0"/>
              <a:cs typeface="微软雅黑" charset="0"/>
            </a:endParaRPr>
          </a:p>
          <a:p>
            <a:pPr marL="342900" indent="-342900" algn="just">
              <a:lnSpc>
                <a:spcPct val="200000"/>
              </a:lnSpc>
              <a:buAutoNum type="arabicPeriod"/>
            </a:pPr>
            <a:r>
              <a:rPr lang="en-US" altLang="zh-CN" sz="2000" dirty="0">
                <a:latin typeface="微软雅黑" charset="0"/>
                <a:ea typeface="微软雅黑" charset="0"/>
                <a:cs typeface="微软雅黑" charset="0"/>
              </a:rPr>
              <a:t>8</a:t>
            </a:r>
            <a:r>
              <a:rPr lang="zh-CN" altLang="en-US" sz="2000" dirty="0">
                <a:latin typeface="微软雅黑" charset="0"/>
                <a:ea typeface="微软雅黑" charset="0"/>
                <a:cs typeface="微软雅黑" charset="0"/>
              </a:rPr>
              <a:t>周</a:t>
            </a:r>
            <a:r>
              <a:rPr lang="en-US" altLang="zh-CN" sz="2000" dirty="0">
                <a:latin typeface="微软雅黑" charset="0"/>
                <a:ea typeface="微软雅黑" charset="0"/>
                <a:cs typeface="微软雅黑" charset="0"/>
              </a:rPr>
              <a:t>~9</a:t>
            </a:r>
            <a:r>
              <a:rPr lang="zh-CN" altLang="en-US" sz="2000" dirty="0">
                <a:latin typeface="微软雅黑" charset="0"/>
                <a:ea typeface="微软雅黑" charset="0"/>
                <a:cs typeface="微软雅黑" charset="0"/>
              </a:rPr>
              <a:t>周：扩充数据集，收集多种保活方式的</a:t>
            </a:r>
            <a:r>
              <a:rPr lang="en-US" altLang="zh-CN" sz="2000" dirty="0">
                <a:latin typeface="微软雅黑" charset="0"/>
                <a:ea typeface="微软雅黑" charset="0"/>
                <a:cs typeface="微软雅黑" charset="0"/>
              </a:rPr>
              <a:t>APK</a:t>
            </a:r>
          </a:p>
          <a:p>
            <a:pPr marL="342900" indent="-342900" algn="just">
              <a:lnSpc>
                <a:spcPct val="200000"/>
              </a:lnSpc>
              <a:buFontTx/>
              <a:buAutoNum type="arabicPeriod"/>
            </a:pPr>
            <a:r>
              <a:rPr lang="en-US" altLang="zh-CN" sz="2000" dirty="0">
                <a:latin typeface="微软雅黑" charset="0"/>
                <a:ea typeface="微软雅黑" charset="0"/>
                <a:cs typeface="微软雅黑" charset="0"/>
              </a:rPr>
              <a:t>8</a:t>
            </a:r>
            <a:r>
              <a:rPr lang="zh-CN" altLang="en-US" sz="2000" dirty="0">
                <a:latin typeface="微软雅黑" charset="0"/>
                <a:ea typeface="微软雅黑" charset="0"/>
                <a:cs typeface="微软雅黑" charset="0"/>
              </a:rPr>
              <a:t>周</a:t>
            </a:r>
            <a:r>
              <a:rPr lang="en-US" altLang="zh-CN" sz="2000" dirty="0">
                <a:latin typeface="微软雅黑" charset="0"/>
                <a:ea typeface="微软雅黑" charset="0"/>
                <a:cs typeface="微软雅黑" charset="0"/>
              </a:rPr>
              <a:t>~9</a:t>
            </a:r>
            <a:r>
              <a:rPr lang="zh-CN" altLang="en-US" sz="2000" dirty="0">
                <a:latin typeface="微软雅黑" charset="0"/>
                <a:ea typeface="微软雅黑" charset="0"/>
                <a:cs typeface="微软雅黑" charset="0"/>
              </a:rPr>
              <a:t>周：构建自动化检测平台，以期进行大规模实验</a:t>
            </a:r>
          </a:p>
          <a:p>
            <a:pPr marL="342900" indent="-342900" algn="just">
              <a:lnSpc>
                <a:spcPct val="200000"/>
              </a:lnSpc>
              <a:buAutoNum type="arabicPeriod"/>
            </a:pPr>
            <a:r>
              <a:rPr lang="en-US" altLang="zh-CN" sz="2000" dirty="0">
                <a:latin typeface="微软雅黑" charset="0"/>
                <a:ea typeface="微软雅黑" charset="0"/>
                <a:cs typeface="微软雅黑" charset="0"/>
              </a:rPr>
              <a:t>9</a:t>
            </a:r>
            <a:r>
              <a:rPr lang="zh-CN" altLang="en-US" sz="2000" dirty="0">
                <a:latin typeface="微软雅黑" charset="0"/>
                <a:ea typeface="微软雅黑" charset="0"/>
                <a:cs typeface="微软雅黑" charset="0"/>
              </a:rPr>
              <a:t>周</a:t>
            </a:r>
            <a:r>
              <a:rPr lang="en-US" altLang="zh-CN" sz="2000" dirty="0">
                <a:latin typeface="微软雅黑" charset="0"/>
                <a:ea typeface="微软雅黑" charset="0"/>
                <a:cs typeface="微软雅黑" charset="0"/>
              </a:rPr>
              <a:t>~11</a:t>
            </a:r>
            <a:r>
              <a:rPr lang="zh-CN" altLang="en-US" sz="2000" dirty="0">
                <a:latin typeface="微软雅黑" charset="0"/>
                <a:ea typeface="微软雅黑" charset="0"/>
                <a:cs typeface="微软雅黑" charset="0"/>
              </a:rPr>
              <a:t>周：进行实验评估，评估工具性能与有效性，进行在野扫描</a:t>
            </a:r>
            <a:endParaRPr lang="en-US" altLang="zh-CN" sz="2000" dirty="0">
              <a:latin typeface="微软雅黑" charset="0"/>
              <a:ea typeface="微软雅黑" charset="0"/>
              <a:cs typeface="微软雅黑" charset="0"/>
            </a:endParaRPr>
          </a:p>
          <a:p>
            <a:pPr marL="342900" indent="-342900" algn="just">
              <a:lnSpc>
                <a:spcPct val="200000"/>
              </a:lnSpc>
              <a:buAutoNum type="arabicPeriod"/>
            </a:pPr>
            <a:r>
              <a:rPr lang="en-US" altLang="zh-CN" sz="2000" dirty="0">
                <a:latin typeface="微软雅黑" charset="0"/>
                <a:ea typeface="微软雅黑" charset="0"/>
                <a:cs typeface="微软雅黑" charset="0"/>
              </a:rPr>
              <a:t>11</a:t>
            </a:r>
            <a:r>
              <a:rPr lang="zh-CN" altLang="en-US" sz="2000" dirty="0">
                <a:latin typeface="微软雅黑" charset="0"/>
                <a:ea typeface="微软雅黑" charset="0"/>
                <a:cs typeface="微软雅黑" charset="0"/>
              </a:rPr>
              <a:t>周</a:t>
            </a:r>
            <a:r>
              <a:rPr lang="en-US" altLang="zh-CN" sz="2000" dirty="0">
                <a:latin typeface="微软雅黑" charset="0"/>
                <a:ea typeface="微软雅黑" charset="0"/>
                <a:cs typeface="微软雅黑" charset="0"/>
              </a:rPr>
              <a:t>~12</a:t>
            </a:r>
            <a:r>
              <a:rPr lang="zh-CN" altLang="en-US" sz="2000" dirty="0">
                <a:latin typeface="微软雅黑" charset="0"/>
                <a:ea typeface="微软雅黑" charset="0"/>
                <a:cs typeface="微软雅黑" charset="0"/>
              </a:rPr>
              <a:t>周：撰写毕业设计论文</a:t>
            </a:r>
            <a:endParaRPr lang="en-US" altLang="zh-CN" sz="2000" dirty="0">
              <a:latin typeface="微软雅黑" charset="0"/>
              <a:ea typeface="微软雅黑" charset="0"/>
              <a:cs typeface="微软雅黑"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39416" y="260648"/>
            <a:ext cx="1019048" cy="771429"/>
          </a:xfrm>
          <a:prstGeom prst="rect">
            <a:avLst/>
          </a:prstGeom>
        </p:spPr>
      </p:pic>
      <p:sp>
        <p:nvSpPr>
          <p:cNvPr id="5" name="文本框 4"/>
          <p:cNvSpPr txBox="1"/>
          <p:nvPr/>
        </p:nvSpPr>
        <p:spPr>
          <a:xfrm>
            <a:off x="1703512" y="2708920"/>
            <a:ext cx="8784976" cy="1200329"/>
          </a:xfrm>
          <a:prstGeom prst="rect">
            <a:avLst/>
          </a:prstGeom>
          <a:noFill/>
        </p:spPr>
        <p:txBody>
          <a:bodyPr wrap="square" rtlCol="0">
            <a:spAutoFit/>
          </a:bodyPr>
          <a:lstStyle/>
          <a:p>
            <a:r>
              <a:rPr lang="zh-CN" altLang="en-US" sz="7200" dirty="0">
                <a:latin typeface="+mj-ea"/>
                <a:ea typeface="+mj-ea"/>
              </a:rPr>
              <a:t>请各位老师批评指正！</a:t>
            </a:r>
          </a:p>
        </p:txBody>
      </p:sp>
    </p:spTree>
  </p:cSld>
  <p:clrMapOvr>
    <a:masterClrMapping/>
  </p:clrMapOvr>
</p:sld>
</file>

<file path=ppt/theme/theme1.xml><?xml version="1.0" encoding="utf-8"?>
<a:theme xmlns:a="http://schemas.openxmlformats.org/drawingml/2006/main" name="Office 主题">
  <a:themeElements>
    <a:clrScheme name="自定义 2">
      <a:dk1>
        <a:srgbClr val="20517C"/>
      </a:dk1>
      <a:lt1>
        <a:srgbClr val="FFFFFF"/>
      </a:lt1>
      <a:dk2>
        <a:srgbClr val="20517C"/>
      </a:dk2>
      <a:lt2>
        <a:srgbClr val="FFFFFF"/>
      </a:lt2>
      <a:accent1>
        <a:srgbClr val="20517C"/>
      </a:accent1>
      <a:accent2>
        <a:srgbClr val="FFFFFF"/>
      </a:accent2>
      <a:accent3>
        <a:srgbClr val="A5A5A5"/>
      </a:accent3>
      <a:accent4>
        <a:srgbClr val="FFC000"/>
      </a:accent4>
      <a:accent5>
        <a:srgbClr val="4472C4"/>
      </a:accent5>
      <a:accent6>
        <a:srgbClr val="70AD47"/>
      </a:accent6>
      <a:hlink>
        <a:srgbClr val="0563C1"/>
      </a:hlink>
      <a:folHlink>
        <a:srgbClr val="954F72"/>
      </a:folHlink>
    </a:clrScheme>
    <a:fontScheme name="论文答辩主题字体">
      <a:majorFont>
        <a:latin typeface="华文细黑"/>
        <a:ea typeface="微软雅黑"/>
        <a:cs typeface=""/>
      </a:majorFont>
      <a:minorFont>
        <a:latin typeface="华文细黑"/>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2776</TotalTime>
  <Words>1404</Words>
  <Application>Microsoft Office PowerPoint</Application>
  <PresentationFormat>宽屏</PresentationFormat>
  <Paragraphs>133</Paragraphs>
  <Slides>12</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黑体</vt:lpstr>
      <vt:lpstr>华文细黑</vt:lpstr>
      <vt:lpstr>Wingdings</vt:lpstr>
      <vt:lpstr>华文楷体</vt:lpstr>
      <vt:lpstr>Calibri</vt:lpstr>
      <vt:lpstr>思源黑体 CN Bold</vt:lpstr>
      <vt:lpstr>Verdana</vt:lpstr>
      <vt:lpstr>华文隶书</vt:lpstr>
      <vt:lpstr>微软雅黑</vt:lpstr>
      <vt:lpstr>等线</vt:lpstr>
      <vt:lpstr>楷体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@小川PPT</dc:creator>
  <cp:lastModifiedBy>畅 罗</cp:lastModifiedBy>
  <cp:revision>59</cp:revision>
  <dcterms:created xsi:type="dcterms:W3CDTF">2024-11-14T13:02:57Z</dcterms:created>
  <dcterms:modified xsi:type="dcterms:W3CDTF">2025-02-21T11:18:40Z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3A67B16B44F742C4B99DE2924A7641E8</vt:lpwstr>
  </property>
</Properties>
</file>