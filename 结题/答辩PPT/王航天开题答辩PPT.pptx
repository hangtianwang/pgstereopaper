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325" r:id="rId4"/>
    <p:sldId id="276" r:id="rId5"/>
    <p:sldId id="293" r:id="rId6"/>
    <p:sldId id="319" r:id="rId7"/>
    <p:sldId id="321" r:id="rId8"/>
    <p:sldId id="323" r:id="rId9"/>
    <p:sldId id="324" r:id="rId10"/>
    <p:sldId id="313" r:id="rId11"/>
    <p:sldId id="274"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12" userDrawn="1">
          <p15:clr>
            <a:srgbClr val="A4A3A4"/>
          </p15:clr>
        </p15:guide>
        <p15:guide id="2" pos="38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4885"/>
    <a:srgbClr val="20B3A1"/>
    <a:srgbClr val="D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2" autoAdjust="0"/>
    <p:restoredTop sz="96337" autoAdjust="0"/>
  </p:normalViewPr>
  <p:slideViewPr>
    <p:cSldViewPr snapToGrid="0" showGuides="1">
      <p:cViewPr varScale="1">
        <p:scale>
          <a:sx n="117" d="100"/>
          <a:sy n="117" d="100"/>
        </p:scale>
        <p:origin x="586" y="82"/>
      </p:cViewPr>
      <p:guideLst>
        <p:guide orient="horz" pos="1212"/>
        <p:guide pos="38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B725A-BFDD-44D0-A8D3-61766B07B7F1}" type="datetimeFigureOut">
              <a:rPr lang="zh-CN" altLang="en-US" smtClean="0"/>
              <a:t>2026/3/12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C932-0C1F-4C94-8B9A-3944ABBB4E3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3508-022B-582C-87C0-83F61D53C2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852673-7FB3-57D6-731D-830FCC85C3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92F204-E1AB-AE78-4E3B-2AF6C759B4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FA3CD25-C260-3DE1-303A-688319F4D543}"/>
              </a:ext>
            </a:extLst>
          </p:cNvPr>
          <p:cNvSpPr>
            <a:spLocks noGrp="1"/>
          </p:cNvSpPr>
          <p:nvPr>
            <p:ph type="sldNum" sz="quarter" idx="10"/>
          </p:nvPr>
        </p:nvSpPr>
        <p:spPr/>
        <p:txBody>
          <a:bodyPr/>
          <a:lstStyle/>
          <a:p>
            <a:fld id="{B9BCC932-0C1F-4C94-8B9A-3944ABBB4E30}" type="slidenum">
              <a:rPr lang="zh-CN" altLang="en-US" smtClean="0"/>
              <a:t>3</a:t>
            </a:fld>
            <a:endParaRPr lang="zh-CN" altLang="en-US"/>
          </a:p>
        </p:txBody>
      </p:sp>
    </p:spTree>
    <p:extLst>
      <p:ext uri="{BB962C8B-B14F-4D97-AF65-F5344CB8AC3E}">
        <p14:creationId xmlns:p14="http://schemas.microsoft.com/office/powerpoint/2010/main" val="3345893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近几年，视觉基础模型涌现</a:t>
            </a:r>
            <a:r>
              <a:rPr lang="en-US" altLang="zh-CN" dirty="0"/>
              <a:t>……</a:t>
            </a:r>
            <a:r>
              <a:rPr lang="zh-CN" altLang="en-US" dirty="0"/>
              <a:t>有一个方向是探索立体匹配</a:t>
            </a:r>
            <a:r>
              <a:rPr lang="en-US" altLang="zh-CN" dirty="0"/>
              <a:t>…….</a:t>
            </a:r>
            <a:r>
              <a:rPr lang="zh-CN" altLang="en-US" dirty="0"/>
              <a:t>举了</a:t>
            </a:r>
            <a:r>
              <a:rPr lang="en-US" altLang="zh-CN" dirty="0"/>
              <a:t>2</a:t>
            </a:r>
            <a:r>
              <a:rPr lang="zh-CN" altLang="en-US" dirty="0"/>
              <a:t>个例子，一个是</a:t>
            </a:r>
            <a:r>
              <a:rPr lang="en-US" altLang="zh-CN" dirty="0" err="1"/>
              <a:t>depthanything</a:t>
            </a:r>
            <a:r>
              <a:rPr lang="zh-CN" altLang="en-US" dirty="0"/>
              <a:t>，是单目深度估计基础模型，一个是</a:t>
            </a:r>
            <a:r>
              <a:rPr lang="en-US" altLang="zh-CN" dirty="0"/>
              <a:t>segment anything</a:t>
            </a:r>
            <a:r>
              <a:rPr lang="zh-CN" altLang="en-US" dirty="0"/>
              <a:t>，是图像分割的基础模型；可以分别提供深度先验和语义先验</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还有一个趋势是注意力机制的引入</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第一大块的研究内容是；第一个工作是</a:t>
            </a:r>
            <a:r>
              <a:rPr lang="en-US" altLang="zh-CN" dirty="0"/>
              <a:t>Monster</a:t>
            </a:r>
            <a:r>
              <a:rPr lang="zh-CN" altLang="en-US" dirty="0"/>
              <a:t>，它构建了单</a:t>
            </a:r>
            <a:r>
              <a:rPr lang="en-US" altLang="zh-CN" dirty="0"/>
              <a:t>/</a:t>
            </a:r>
            <a:r>
              <a:rPr lang="zh-CN" altLang="en-US" dirty="0"/>
              <a:t>双目</a:t>
            </a:r>
            <a:r>
              <a:rPr lang="en-US" altLang="zh-CN" dirty="0"/>
              <a:t>2</a:t>
            </a:r>
            <a:r>
              <a:rPr lang="zh-CN" altLang="en-US" dirty="0"/>
              <a:t>条分支，交互地注入信息，并行迭代优化视差；第二个工作，作者探索了在迭代过程中和迭代结束后单双目融合的方法</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22822044-7566-F149-A27C-C6303730E8DA}" type="datetime1">
              <a:rPr lang="zh-CN" altLang="en-US" smtClean="0"/>
              <a:t>2026/3/12</a:t>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942FE31-2B98-4D44-9D36-9E86278145BA}" type="datetime1">
              <a:rPr lang="zh-CN" altLang="en-US" smtClean="0"/>
              <a:t>2026/3/12</a:t>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A7133B7-8A04-854A-9BDB-9B818B18C6A1}" type="datetime1">
              <a:rPr lang="zh-CN" altLang="en-US" smtClean="0"/>
              <a:t>2026/3/12</a:t>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C55EAD8-241E-A048-B8AE-AD5AD92BC114}" type="datetime1">
              <a:rPr lang="zh-CN" altLang="en-US" smtClean="0"/>
              <a:t>2026/3/12</a:t>
            </a:fld>
            <a:endParaRPr lang="zh-CN" altLang="en-US"/>
          </a:p>
        </p:txBody>
      </p:sp>
      <p:sp>
        <p:nvSpPr>
          <p:cNvPr id="6" name="页脚占位符 5"/>
          <p:cNvSpPr>
            <a:spLocks noGrp="1"/>
          </p:cNvSpPr>
          <p:nvPr>
            <p:ph type="ftr" sz="quarter" idx="11"/>
          </p:nvPr>
        </p:nvSpPr>
        <p:spPr/>
        <p:txBody>
          <a:bodyPr/>
          <a:lstStyle/>
          <a:p>
            <a:r>
              <a:rPr lang="zh-CN" altLang="en-US"/>
              <a:t>华中科技大学硕士毕业答辩</a:t>
            </a:r>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D7A8ABB-B911-0C44-B70E-B3C510A02A24}" type="datetime1">
              <a:rPr lang="zh-CN" altLang="en-US" smtClean="0"/>
              <a:t>2026/3/12</a:t>
            </a:fld>
            <a:endParaRPr lang="zh-CN" altLang="en-US"/>
          </a:p>
        </p:txBody>
      </p:sp>
      <p:sp>
        <p:nvSpPr>
          <p:cNvPr id="8" name="页脚占位符 7"/>
          <p:cNvSpPr>
            <a:spLocks noGrp="1"/>
          </p:cNvSpPr>
          <p:nvPr>
            <p:ph type="ftr" sz="quarter" idx="11"/>
          </p:nvPr>
        </p:nvSpPr>
        <p:spPr/>
        <p:txBody>
          <a:bodyPr/>
          <a:lstStyle/>
          <a:p>
            <a:r>
              <a:rPr lang="zh-CN" altLang="en-US"/>
              <a:t>华中科技大学硕士毕业答辩</a:t>
            </a:r>
          </a:p>
        </p:txBody>
      </p:sp>
      <p:sp>
        <p:nvSpPr>
          <p:cNvPr id="9" name="灯片编号占位符 8"/>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DE7DDC0-3618-4647-84F9-FDCC37085BAE}" type="datetime1">
              <a:rPr lang="zh-CN" altLang="en-US" smtClean="0"/>
              <a:t>2026/3/12</a:t>
            </a:fld>
            <a:endParaRPr lang="zh-CN" altLang="en-US"/>
          </a:p>
        </p:txBody>
      </p:sp>
      <p:sp>
        <p:nvSpPr>
          <p:cNvPr id="4" name="页脚占位符 3"/>
          <p:cNvSpPr>
            <a:spLocks noGrp="1"/>
          </p:cNvSpPr>
          <p:nvPr>
            <p:ph type="ftr" sz="quarter" idx="11"/>
          </p:nvPr>
        </p:nvSpPr>
        <p:spPr/>
        <p:txBody>
          <a:bodyPr/>
          <a:lstStyle/>
          <a:p>
            <a:r>
              <a:rPr lang="zh-CN" altLang="en-US"/>
              <a:t>华中科技大学硕士毕业答辩</a:t>
            </a:r>
          </a:p>
        </p:txBody>
      </p:sp>
      <p:sp>
        <p:nvSpPr>
          <p:cNvPr id="5" name="灯片编号占位符 4"/>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D0D085-E754-7B4A-A967-8E4BD0ECA5FB}" type="datetime1">
              <a:rPr lang="zh-CN" altLang="en-US" smtClean="0"/>
              <a:t>2026/3/12</a:t>
            </a:fld>
            <a:endParaRPr lang="zh-CN" altLang="en-US"/>
          </a:p>
        </p:txBody>
      </p:sp>
      <p:sp>
        <p:nvSpPr>
          <p:cNvPr id="3" name="页脚占位符 2"/>
          <p:cNvSpPr>
            <a:spLocks noGrp="1"/>
          </p:cNvSpPr>
          <p:nvPr>
            <p:ph type="ftr" sz="quarter" idx="11"/>
          </p:nvPr>
        </p:nvSpPr>
        <p:spPr/>
        <p:txBody>
          <a:bodyPr/>
          <a:lstStyle/>
          <a:p>
            <a:r>
              <a:rPr lang="zh-CN" altLang="en-US"/>
              <a:t>华中科技大学硕士毕业答辩</a:t>
            </a:r>
          </a:p>
        </p:txBody>
      </p:sp>
      <p:sp>
        <p:nvSpPr>
          <p:cNvPr id="4" name="灯片编号占位符 3"/>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BA45917-8E34-164B-ACD8-3E25CF3BDD4E}" type="datetime1">
              <a:rPr lang="zh-CN" altLang="en-US" smtClean="0"/>
              <a:t>2026/3/12</a:t>
            </a:fld>
            <a:endParaRPr lang="zh-CN" altLang="en-US"/>
          </a:p>
        </p:txBody>
      </p:sp>
      <p:sp>
        <p:nvSpPr>
          <p:cNvPr id="6" name="页脚占位符 5"/>
          <p:cNvSpPr>
            <a:spLocks noGrp="1"/>
          </p:cNvSpPr>
          <p:nvPr>
            <p:ph type="ftr" sz="quarter" idx="11"/>
          </p:nvPr>
        </p:nvSpPr>
        <p:spPr/>
        <p:txBody>
          <a:bodyPr/>
          <a:lstStyle/>
          <a:p>
            <a:r>
              <a:rPr lang="zh-CN" altLang="en-US"/>
              <a:t>华中科技大学硕士毕业答辩</a:t>
            </a:r>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6B358A5-A245-EE49-8A33-2109CF2D31CA}" type="datetime1">
              <a:rPr lang="zh-CN" altLang="en-US" smtClean="0"/>
              <a:t>2026/3/12</a:t>
            </a:fld>
            <a:endParaRPr lang="zh-CN" altLang="en-US"/>
          </a:p>
        </p:txBody>
      </p:sp>
      <p:sp>
        <p:nvSpPr>
          <p:cNvPr id="6" name="页脚占位符 5"/>
          <p:cNvSpPr>
            <a:spLocks noGrp="1"/>
          </p:cNvSpPr>
          <p:nvPr>
            <p:ph type="ftr" sz="quarter" idx="11"/>
          </p:nvPr>
        </p:nvSpPr>
        <p:spPr/>
        <p:txBody>
          <a:bodyPr/>
          <a:lstStyle/>
          <a:p>
            <a:r>
              <a:rPr lang="zh-CN" altLang="en-US"/>
              <a:t>华中科技大学硕士毕业答辩</a:t>
            </a:r>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979BA2B-18A0-B545-BF3E-DFA59F4FD4B2}" type="datetime1">
              <a:rPr lang="zh-CN" altLang="en-US" smtClean="0"/>
              <a:t>2026/3/12</a:t>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A6D873B-5064-9F4D-B69D-8770BB76FE99}" type="datetime1">
              <a:rPr lang="zh-CN" altLang="en-US" smtClean="0"/>
              <a:t>2026/3/12</a:t>
            </a:fld>
            <a:endParaRPr lang="zh-CN" altLang="en-US"/>
          </a:p>
        </p:txBody>
      </p:sp>
      <p:sp>
        <p:nvSpPr>
          <p:cNvPr id="5" name="页脚占位符 4"/>
          <p:cNvSpPr>
            <a:spLocks noGrp="1"/>
          </p:cNvSpPr>
          <p:nvPr>
            <p:ph type="ftr" sz="quarter" idx="11"/>
          </p:nvPr>
        </p:nvSpPr>
        <p:spPr/>
        <p:txBody>
          <a:bodyPr/>
          <a:lstStyle/>
          <a:p>
            <a:r>
              <a:rPr lang="zh-CN" altLang="en-US"/>
              <a:t>华中科技大学硕士毕业答辩</a:t>
            </a:r>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D46DF5-071C-0B40-B0D9-5330061379B7}" type="datetime1">
              <a:rPr lang="zh-CN" altLang="en-US" smtClean="0"/>
              <a:t>2026/3/12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华中科技大学硕士毕业答辩</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799FB-52B8-4698-BECF-01ADD9E846B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Tm="3000"/>
    </mc:Choice>
    <mc:Fallback xmlns="">
      <p:transition advTm="3000"/>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11.jpeg"/><Relationship Id="rId3" Type="http://schemas.openxmlformats.org/officeDocument/2006/relationships/tags" Target="../tags/tag4.xml"/><Relationship Id="rId7" Type="http://schemas.openxmlformats.org/officeDocument/2006/relationships/slideLayout" Target="../slideLayouts/slideLayout2.xml"/><Relationship Id="rId12" Type="http://schemas.openxmlformats.org/officeDocument/2006/relationships/image" Target="../media/image10.png"/><Relationship Id="rId2" Type="http://schemas.openxmlformats.org/officeDocument/2006/relationships/tags" Target="../tags/tag3.xml"/><Relationship Id="rId16" Type="http://schemas.openxmlformats.org/officeDocument/2006/relationships/image" Target="../media/image14.jpe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9.png"/><Relationship Id="rId5" Type="http://schemas.openxmlformats.org/officeDocument/2006/relationships/tags" Target="../tags/tag6.xml"/><Relationship Id="rId15" Type="http://schemas.openxmlformats.org/officeDocument/2006/relationships/image" Target="../media/image13.jpeg"/><Relationship Id="rId10" Type="http://schemas.openxmlformats.org/officeDocument/2006/relationships/image" Target="../media/image8.png"/><Relationship Id="rId4" Type="http://schemas.openxmlformats.org/officeDocument/2006/relationships/tags" Target="../tags/tag5.xml"/><Relationship Id="rId9" Type="http://schemas.openxmlformats.org/officeDocument/2006/relationships/image" Target="../media/image2.jpeg"/><Relationship Id="rId1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33692" y="356694"/>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1663846" y="2834134"/>
            <a:ext cx="8925443" cy="645160"/>
          </a:xfrm>
          <a:prstGeom prst="rect">
            <a:avLst/>
          </a:prstGeom>
          <a:noFill/>
        </p:spPr>
        <p:txBody>
          <a:bodyPr wrap="square" rtlCol="0">
            <a:spAutoFit/>
          </a:bodyPr>
          <a:lstStyle/>
          <a:p>
            <a:pPr algn="dist"/>
            <a:r>
              <a:rPr lang="zh-CN" altLang="en-US" sz="3600" dirty="0">
                <a:solidFill>
                  <a:srgbClr val="1C4885"/>
                </a:solidFill>
                <a:latin typeface="微软雅黑" panose="020B0503020204020204" pitchFamily="34" charset="-122"/>
                <a:ea typeface="微软雅黑" panose="020B0503020204020204" pitchFamily="34" charset="-122"/>
              </a:rPr>
              <a:t>基于单目先验的泛化立体匹配方法研究</a:t>
            </a:r>
          </a:p>
        </p:txBody>
      </p:sp>
      <p:cxnSp>
        <p:nvCxnSpPr>
          <p:cNvPr id="18" name="直接连接符 17"/>
          <p:cNvCxnSpPr/>
          <p:nvPr/>
        </p:nvCxnSpPr>
        <p:spPr>
          <a:xfrm>
            <a:off x="4498015" y="3676911"/>
            <a:ext cx="3054184"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378075" y="2280920"/>
            <a:ext cx="6962140" cy="398780"/>
          </a:xfrm>
          <a:prstGeom prst="rect">
            <a:avLst/>
          </a:prstGeom>
          <a:noFill/>
        </p:spPr>
        <p:txBody>
          <a:bodyPr wrap="square" rtlCol="0">
            <a:spAutoFit/>
          </a:bodyPr>
          <a:lstStyle/>
          <a:p>
            <a:pPr algn="ctr"/>
            <a:r>
              <a:rPr lang="zh-CN" altLang="en-US" sz="2000" b="1" dirty="0">
                <a:latin typeface="华文楷体" panose="02010600040101010101" pitchFamily="2" charset="-122"/>
                <a:ea typeface="华文楷体" panose="02010600040101010101" pitchFamily="2" charset="-122"/>
                <a:sym typeface="+mn-ea"/>
              </a:rPr>
              <a:t>华中科技大学本科生毕业设计（论文）开题答辩</a:t>
            </a:r>
            <a:endParaRPr lang="zh-CN" altLang="en-US" sz="2000"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810336" y="879678"/>
            <a:ext cx="2591232" cy="604026"/>
            <a:chOff x="660400" y="478901"/>
            <a:chExt cx="2073175" cy="454750"/>
          </a:xfrm>
        </p:grpSpPr>
        <p:grpSp>
          <p:nvGrpSpPr>
            <p:cNvPr id="19" name="组合 18"/>
            <p:cNvGrpSpPr/>
            <p:nvPr/>
          </p:nvGrpSpPr>
          <p:grpSpPr>
            <a:xfrm>
              <a:off x="1398488" y="519026"/>
              <a:ext cx="1335087" cy="374499"/>
              <a:chOff x="10078451" y="394099"/>
              <a:chExt cx="1440449" cy="387474"/>
            </a:xfrm>
            <a:solidFill>
              <a:srgbClr val="E60012"/>
            </a:solidFill>
          </p:grpSpPr>
          <p:sp>
            <p:nvSpPr>
              <p:cNvPr id="87" name="ïṡľïďè"/>
              <p:cNvSpPr/>
              <p:nvPr/>
            </p:nvSpPr>
            <p:spPr bwMode="auto">
              <a:xfrm>
                <a:off x="10078451" y="394099"/>
                <a:ext cx="1433740" cy="292284"/>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grpFill/>
              <a:ln>
                <a:noFill/>
              </a:ln>
            </p:spPr>
            <p:txBody>
              <a:bodyPr anchor="ctr"/>
              <a:lstStyle/>
              <a:p>
                <a:pPr algn="ctr"/>
                <a:endParaRPr sz="1800" dirty="0"/>
              </a:p>
            </p:txBody>
          </p:sp>
          <p:sp>
            <p:nvSpPr>
              <p:cNvPr id="88" name="iṩḻîḑè"/>
              <p:cNvSpPr/>
              <p:nvPr/>
            </p:nvSpPr>
            <p:spPr bwMode="auto">
              <a:xfrm>
                <a:off x="10109901" y="721607"/>
                <a:ext cx="36902" cy="46547"/>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grpFill/>
              <a:ln>
                <a:noFill/>
              </a:ln>
            </p:spPr>
            <p:txBody>
              <a:bodyPr anchor="ctr"/>
              <a:lstStyle/>
              <a:p>
                <a:pPr algn="ctr"/>
                <a:endParaRPr sz="1800" dirty="0"/>
              </a:p>
            </p:txBody>
          </p:sp>
          <p:sp>
            <p:nvSpPr>
              <p:cNvPr id="89" name="íṥḻïďê"/>
              <p:cNvSpPr/>
              <p:nvPr/>
            </p:nvSpPr>
            <p:spPr bwMode="auto">
              <a:xfrm>
                <a:off x="10156029" y="734187"/>
                <a:ext cx="27258" cy="34386"/>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grpFill/>
              <a:ln>
                <a:noFill/>
              </a:ln>
            </p:spPr>
            <p:txBody>
              <a:bodyPr anchor="ctr"/>
              <a:lstStyle/>
              <a:p>
                <a:pPr algn="ctr"/>
                <a:endParaRPr sz="1800" dirty="0"/>
              </a:p>
            </p:txBody>
          </p:sp>
          <p:sp>
            <p:nvSpPr>
              <p:cNvPr id="90" name="íşlíḋè"/>
              <p:cNvSpPr/>
              <p:nvPr/>
            </p:nvSpPr>
            <p:spPr bwMode="auto">
              <a:xfrm>
                <a:off x="10189996"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sz="1800" dirty="0"/>
              </a:p>
            </p:txBody>
          </p:sp>
          <p:sp>
            <p:nvSpPr>
              <p:cNvPr id="91" name="ïṣlíďe"/>
              <p:cNvSpPr/>
              <p:nvPr/>
            </p:nvSpPr>
            <p:spPr bwMode="auto">
              <a:xfrm>
                <a:off x="10225640" y="734187"/>
                <a:ext cx="28515" cy="33967"/>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grpFill/>
              <a:ln>
                <a:noFill/>
              </a:ln>
            </p:spPr>
            <p:txBody>
              <a:bodyPr anchor="ctr"/>
              <a:lstStyle/>
              <a:p>
                <a:pPr algn="ctr"/>
                <a:endParaRPr sz="1800" dirty="0"/>
              </a:p>
            </p:txBody>
          </p:sp>
          <p:sp>
            <p:nvSpPr>
              <p:cNvPr id="92" name="íṧľîḑe"/>
              <p:cNvSpPr/>
              <p:nvPr/>
            </p:nvSpPr>
            <p:spPr bwMode="auto">
              <a:xfrm>
                <a:off x="10260446" y="721607"/>
                <a:ext cx="27677"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grpFill/>
              <a:ln>
                <a:noFill/>
              </a:ln>
            </p:spPr>
            <p:txBody>
              <a:bodyPr anchor="ctr"/>
              <a:lstStyle/>
              <a:p>
                <a:pPr algn="ctr"/>
                <a:endParaRPr sz="1800" dirty="0"/>
              </a:p>
            </p:txBody>
          </p:sp>
          <p:sp>
            <p:nvSpPr>
              <p:cNvPr id="93" name="išliḍé"/>
              <p:cNvSpPr/>
              <p:nvPr/>
            </p:nvSpPr>
            <p:spPr bwMode="auto">
              <a:xfrm>
                <a:off x="10294413"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grpFill/>
              <a:ln>
                <a:noFill/>
              </a:ln>
            </p:spPr>
            <p:txBody>
              <a:bodyPr anchor="ctr"/>
              <a:lstStyle/>
              <a:p>
                <a:pPr algn="ctr"/>
                <a:endParaRPr sz="1800" dirty="0"/>
              </a:p>
            </p:txBody>
          </p:sp>
          <p:sp>
            <p:nvSpPr>
              <p:cNvPr id="94" name="iŝliďé"/>
              <p:cNvSpPr/>
              <p:nvPr/>
            </p:nvSpPr>
            <p:spPr bwMode="auto">
              <a:xfrm>
                <a:off x="10332573"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grpFill/>
              <a:ln>
                <a:noFill/>
              </a:ln>
            </p:spPr>
            <p:txBody>
              <a:bodyPr anchor="ctr"/>
              <a:lstStyle/>
              <a:p>
                <a:pPr algn="ctr"/>
                <a:endParaRPr sz="1800" dirty="0"/>
              </a:p>
            </p:txBody>
          </p:sp>
          <p:sp>
            <p:nvSpPr>
              <p:cNvPr id="95" name="íṥľïdê"/>
              <p:cNvSpPr/>
              <p:nvPr/>
            </p:nvSpPr>
            <p:spPr bwMode="auto">
              <a:xfrm>
                <a:off x="10366960" y="732929"/>
                <a:ext cx="29774"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sz="1800" dirty="0"/>
              </a:p>
            </p:txBody>
          </p:sp>
          <p:sp>
            <p:nvSpPr>
              <p:cNvPr id="96" name="ïṡ1iďe"/>
              <p:cNvSpPr/>
              <p:nvPr/>
            </p:nvSpPr>
            <p:spPr bwMode="auto">
              <a:xfrm>
                <a:off x="10423571" y="721607"/>
                <a:ext cx="36483" cy="47386"/>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grpFill/>
              <a:ln>
                <a:noFill/>
              </a:ln>
            </p:spPr>
            <p:txBody>
              <a:bodyPr anchor="ctr"/>
              <a:lstStyle/>
              <a:p>
                <a:pPr algn="ctr"/>
                <a:endParaRPr sz="1800" dirty="0"/>
              </a:p>
            </p:txBody>
          </p:sp>
          <p:sp>
            <p:nvSpPr>
              <p:cNvPr id="97" name="ïṧľïḋé"/>
              <p:cNvSpPr/>
              <p:nvPr/>
            </p:nvSpPr>
            <p:spPr bwMode="auto">
              <a:xfrm>
                <a:off x="10469280"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grpFill/>
              <a:ln>
                <a:noFill/>
              </a:ln>
            </p:spPr>
            <p:txBody>
              <a:bodyPr anchor="ctr"/>
              <a:lstStyle/>
              <a:p>
                <a:pPr algn="ctr"/>
                <a:endParaRPr sz="1800" dirty="0"/>
              </a:p>
            </p:txBody>
          </p:sp>
          <p:sp>
            <p:nvSpPr>
              <p:cNvPr id="98" name="ïṧ1ïḓe"/>
              <p:cNvSpPr/>
              <p:nvPr/>
            </p:nvSpPr>
            <p:spPr bwMode="auto">
              <a:xfrm>
                <a:off x="10505763" y="721607"/>
                <a:ext cx="5452" cy="46547"/>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grpFill/>
              <a:ln>
                <a:noFill/>
              </a:ln>
            </p:spPr>
            <p:txBody>
              <a:bodyPr anchor="ctr"/>
              <a:lstStyle/>
              <a:p>
                <a:pPr algn="ctr"/>
                <a:endParaRPr sz="1800" dirty="0"/>
              </a:p>
            </p:txBody>
          </p:sp>
          <p:sp>
            <p:nvSpPr>
              <p:cNvPr id="99" name="îśľîḋé"/>
              <p:cNvSpPr/>
              <p:nvPr/>
            </p:nvSpPr>
            <p:spPr bwMode="auto">
              <a:xfrm>
                <a:off x="10515827" y="734187"/>
                <a:ext cx="31451" cy="33967"/>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grpFill/>
              <a:ln>
                <a:noFill/>
              </a:ln>
            </p:spPr>
            <p:txBody>
              <a:bodyPr anchor="ctr"/>
              <a:lstStyle/>
              <a:p>
                <a:pPr algn="ctr"/>
                <a:endParaRPr sz="1800" dirty="0"/>
              </a:p>
            </p:txBody>
          </p:sp>
          <p:sp>
            <p:nvSpPr>
              <p:cNvPr id="100" name="iṧḷïdè"/>
              <p:cNvSpPr/>
              <p:nvPr/>
            </p:nvSpPr>
            <p:spPr bwMode="auto">
              <a:xfrm>
                <a:off x="10550213" y="732929"/>
                <a:ext cx="31032" cy="35644"/>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grpFill/>
              <a:ln>
                <a:noFill/>
              </a:ln>
            </p:spPr>
            <p:txBody>
              <a:bodyPr anchor="ctr"/>
              <a:lstStyle/>
              <a:p>
                <a:pPr algn="ctr"/>
                <a:endParaRPr sz="1800" dirty="0"/>
              </a:p>
            </p:txBody>
          </p:sp>
          <p:sp>
            <p:nvSpPr>
              <p:cNvPr id="101" name="îṩḷîḓe"/>
              <p:cNvSpPr/>
              <p:nvPr/>
            </p:nvSpPr>
            <p:spPr bwMode="auto">
              <a:xfrm>
                <a:off x="10588793" y="732929"/>
                <a:ext cx="16774" cy="35225"/>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grpFill/>
              <a:ln>
                <a:noFill/>
              </a:ln>
            </p:spPr>
            <p:txBody>
              <a:bodyPr anchor="ctr"/>
              <a:lstStyle/>
              <a:p>
                <a:pPr algn="ctr"/>
                <a:endParaRPr sz="1800" dirty="0"/>
              </a:p>
            </p:txBody>
          </p:sp>
          <p:sp>
            <p:nvSpPr>
              <p:cNvPr id="102" name="is1idé"/>
              <p:cNvSpPr/>
              <p:nvPr/>
            </p:nvSpPr>
            <p:spPr bwMode="auto">
              <a:xfrm>
                <a:off x="10607244" y="732929"/>
                <a:ext cx="28096" cy="35644"/>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grpFill/>
              <a:ln>
                <a:noFill/>
              </a:ln>
            </p:spPr>
            <p:txBody>
              <a:bodyPr anchor="ctr"/>
              <a:lstStyle/>
              <a:p>
                <a:pPr algn="ctr"/>
                <a:endParaRPr sz="1800" dirty="0"/>
              </a:p>
            </p:txBody>
          </p:sp>
          <p:sp>
            <p:nvSpPr>
              <p:cNvPr id="103" name="iśľîḋe"/>
              <p:cNvSpPr/>
              <p:nvPr/>
            </p:nvSpPr>
            <p:spPr bwMode="auto">
              <a:xfrm>
                <a:off x="1064205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sz="1800" dirty="0"/>
              </a:p>
            </p:txBody>
          </p:sp>
          <p:sp>
            <p:nvSpPr>
              <p:cNvPr id="104" name="îṩḻíḍé"/>
              <p:cNvSpPr/>
              <p:nvPr/>
            </p:nvSpPr>
            <p:spPr bwMode="auto">
              <a:xfrm>
                <a:off x="10652953" y="724542"/>
                <a:ext cx="15935" cy="43612"/>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grpFill/>
              <a:ln>
                <a:noFill/>
              </a:ln>
            </p:spPr>
            <p:txBody>
              <a:bodyPr anchor="ctr"/>
              <a:lstStyle/>
              <a:p>
                <a:pPr algn="ctr"/>
                <a:endParaRPr sz="1800" dirty="0"/>
              </a:p>
            </p:txBody>
          </p:sp>
          <p:sp>
            <p:nvSpPr>
              <p:cNvPr id="105" name="íS1íde"/>
              <p:cNvSpPr/>
              <p:nvPr/>
            </p:nvSpPr>
            <p:spPr bwMode="auto">
              <a:xfrm>
                <a:off x="10670565" y="734187"/>
                <a:ext cx="31032" cy="47386"/>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grpFill/>
              <a:ln>
                <a:noFill/>
              </a:ln>
            </p:spPr>
            <p:txBody>
              <a:bodyPr anchor="ctr"/>
              <a:lstStyle/>
              <a:p>
                <a:pPr algn="ctr"/>
                <a:endParaRPr sz="1800" dirty="0"/>
              </a:p>
            </p:txBody>
          </p:sp>
          <p:sp>
            <p:nvSpPr>
              <p:cNvPr id="106" name="îsḷiḋê"/>
              <p:cNvSpPr/>
              <p:nvPr/>
            </p:nvSpPr>
            <p:spPr bwMode="auto">
              <a:xfrm>
                <a:off x="10722564" y="732929"/>
                <a:ext cx="31870"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grpFill/>
              <a:ln>
                <a:noFill/>
              </a:ln>
            </p:spPr>
            <p:txBody>
              <a:bodyPr anchor="ctr"/>
              <a:lstStyle/>
              <a:p>
                <a:pPr algn="ctr"/>
                <a:endParaRPr sz="1800" dirty="0"/>
              </a:p>
            </p:txBody>
          </p:sp>
          <p:sp>
            <p:nvSpPr>
              <p:cNvPr id="107" name="ïś1ïḓé"/>
              <p:cNvSpPr/>
              <p:nvPr/>
            </p:nvSpPr>
            <p:spPr bwMode="auto">
              <a:xfrm>
                <a:off x="10757370" y="720768"/>
                <a:ext cx="15935" cy="47386"/>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grpFill/>
              <a:ln>
                <a:noFill/>
              </a:ln>
            </p:spPr>
            <p:txBody>
              <a:bodyPr anchor="ctr"/>
              <a:lstStyle/>
              <a:p>
                <a:pPr algn="ctr"/>
                <a:endParaRPr sz="1800" dirty="0"/>
              </a:p>
            </p:txBody>
          </p:sp>
          <p:sp>
            <p:nvSpPr>
              <p:cNvPr id="108" name="iṥlïḑê"/>
              <p:cNvSpPr/>
              <p:nvPr/>
            </p:nvSpPr>
            <p:spPr bwMode="auto">
              <a:xfrm>
                <a:off x="10795530" y="720349"/>
                <a:ext cx="36902" cy="48644"/>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grpFill/>
              <a:ln>
                <a:noFill/>
              </a:ln>
            </p:spPr>
            <p:txBody>
              <a:bodyPr anchor="ctr"/>
              <a:lstStyle/>
              <a:p>
                <a:pPr algn="ctr"/>
                <a:endParaRPr sz="1800" dirty="0"/>
              </a:p>
            </p:txBody>
          </p:sp>
          <p:sp>
            <p:nvSpPr>
              <p:cNvPr id="109" name="iṩļîḋé"/>
              <p:cNvSpPr/>
              <p:nvPr/>
            </p:nvSpPr>
            <p:spPr bwMode="auto">
              <a:xfrm>
                <a:off x="10837884" y="732929"/>
                <a:ext cx="28515" cy="35644"/>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grpFill/>
              <a:ln>
                <a:noFill/>
              </a:ln>
            </p:spPr>
            <p:txBody>
              <a:bodyPr anchor="ctr"/>
              <a:lstStyle/>
              <a:p>
                <a:pPr algn="ctr"/>
                <a:endParaRPr sz="1800" dirty="0"/>
              </a:p>
            </p:txBody>
          </p:sp>
          <p:sp>
            <p:nvSpPr>
              <p:cNvPr id="110" name="îs1iḋé"/>
              <p:cNvSpPr/>
              <p:nvPr/>
            </p:nvSpPr>
            <p:spPr bwMode="auto">
              <a:xfrm>
                <a:off x="1087227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sz="1800" dirty="0"/>
              </a:p>
            </p:txBody>
          </p:sp>
          <p:sp>
            <p:nvSpPr>
              <p:cNvPr id="111" name="iṣ1ïḑê"/>
              <p:cNvSpPr/>
              <p:nvPr/>
            </p:nvSpPr>
            <p:spPr bwMode="auto">
              <a:xfrm>
                <a:off x="10884851"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sz="1800" dirty="0"/>
              </a:p>
            </p:txBody>
          </p:sp>
          <p:sp>
            <p:nvSpPr>
              <p:cNvPr id="112" name="ïS1îḑê"/>
              <p:cNvSpPr/>
              <p:nvPr/>
            </p:nvSpPr>
            <p:spPr bwMode="auto">
              <a:xfrm>
                <a:off x="10922172" y="732929"/>
                <a:ext cx="28096"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sz="1800" dirty="0"/>
              </a:p>
            </p:txBody>
          </p:sp>
          <p:sp>
            <p:nvSpPr>
              <p:cNvPr id="113" name="iŝḷíḍê"/>
              <p:cNvSpPr/>
              <p:nvPr/>
            </p:nvSpPr>
            <p:spPr bwMode="auto">
              <a:xfrm>
                <a:off x="10956139" y="732929"/>
                <a:ext cx="29354"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sz="1800" dirty="0"/>
              </a:p>
            </p:txBody>
          </p:sp>
          <p:sp>
            <p:nvSpPr>
              <p:cNvPr id="114" name="îṥľíḍé"/>
              <p:cNvSpPr/>
              <p:nvPr/>
            </p:nvSpPr>
            <p:spPr bwMode="auto">
              <a:xfrm>
                <a:off x="10989268"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grpFill/>
              <a:ln>
                <a:noFill/>
              </a:ln>
            </p:spPr>
            <p:txBody>
              <a:bodyPr anchor="ctr"/>
              <a:lstStyle/>
              <a:p>
                <a:pPr algn="ctr"/>
                <a:endParaRPr sz="1800" dirty="0"/>
              </a:p>
            </p:txBody>
          </p:sp>
          <p:sp>
            <p:nvSpPr>
              <p:cNvPr id="115" name="îşḻiḍe"/>
              <p:cNvSpPr/>
              <p:nvPr/>
            </p:nvSpPr>
            <p:spPr bwMode="auto">
              <a:xfrm>
                <a:off x="11060975"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sz="1800" dirty="0"/>
              </a:p>
            </p:txBody>
          </p:sp>
          <p:sp>
            <p:nvSpPr>
              <p:cNvPr id="116" name="ïşḻíḓe"/>
              <p:cNvSpPr/>
              <p:nvPr/>
            </p:nvSpPr>
            <p:spPr bwMode="auto">
              <a:xfrm>
                <a:off x="11099136"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sz="1800" dirty="0"/>
              </a:p>
            </p:txBody>
          </p:sp>
          <p:sp>
            <p:nvSpPr>
              <p:cNvPr id="117" name="îS1iḓé"/>
              <p:cNvSpPr/>
              <p:nvPr/>
            </p:nvSpPr>
            <p:spPr bwMode="auto">
              <a:xfrm>
                <a:off x="11133103" y="721607"/>
                <a:ext cx="30193" cy="46967"/>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grpFill/>
              <a:ln>
                <a:noFill/>
              </a:ln>
            </p:spPr>
            <p:txBody>
              <a:bodyPr anchor="ctr"/>
              <a:lstStyle/>
              <a:p>
                <a:pPr algn="ctr"/>
                <a:endParaRPr sz="1800" dirty="0"/>
              </a:p>
            </p:txBody>
          </p:sp>
          <p:sp>
            <p:nvSpPr>
              <p:cNvPr id="118" name="ïṥḻîḍé"/>
              <p:cNvSpPr/>
              <p:nvPr/>
            </p:nvSpPr>
            <p:spPr bwMode="auto">
              <a:xfrm>
                <a:off x="11185940" y="721607"/>
                <a:ext cx="37741" cy="46547"/>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grpFill/>
              <a:ln>
                <a:noFill/>
              </a:ln>
            </p:spPr>
            <p:txBody>
              <a:bodyPr anchor="ctr"/>
              <a:lstStyle/>
              <a:p>
                <a:pPr algn="ctr"/>
                <a:endParaRPr sz="1800" dirty="0"/>
              </a:p>
            </p:txBody>
          </p:sp>
          <p:sp>
            <p:nvSpPr>
              <p:cNvPr id="119" name="ïṡḷíḍé"/>
              <p:cNvSpPr/>
              <p:nvPr/>
            </p:nvSpPr>
            <p:spPr bwMode="auto">
              <a:xfrm>
                <a:off x="11227036" y="732929"/>
                <a:ext cx="3061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sz="1800" dirty="0"/>
              </a:p>
            </p:txBody>
          </p:sp>
          <p:sp>
            <p:nvSpPr>
              <p:cNvPr id="120" name="íṧlíḍé"/>
              <p:cNvSpPr/>
              <p:nvPr/>
            </p:nvSpPr>
            <p:spPr bwMode="auto">
              <a:xfrm>
                <a:off x="11262261" y="732929"/>
                <a:ext cx="28935"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sz="1800" dirty="0"/>
              </a:p>
            </p:txBody>
          </p:sp>
          <p:sp>
            <p:nvSpPr>
              <p:cNvPr id="121" name="išļïḓé"/>
              <p:cNvSpPr/>
              <p:nvPr/>
            </p:nvSpPr>
            <p:spPr bwMode="auto">
              <a:xfrm>
                <a:off x="11297067" y="721607"/>
                <a:ext cx="27258"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grpFill/>
              <a:ln>
                <a:noFill/>
              </a:ln>
            </p:spPr>
            <p:txBody>
              <a:bodyPr anchor="ctr"/>
              <a:lstStyle/>
              <a:p>
                <a:pPr algn="ctr"/>
                <a:endParaRPr sz="1800" dirty="0"/>
              </a:p>
            </p:txBody>
          </p:sp>
          <p:sp>
            <p:nvSpPr>
              <p:cNvPr id="122" name="ïšḻîḓè"/>
              <p:cNvSpPr/>
              <p:nvPr/>
            </p:nvSpPr>
            <p:spPr bwMode="auto">
              <a:xfrm>
                <a:off x="11333130"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grpFill/>
              <a:ln>
                <a:noFill/>
              </a:ln>
            </p:spPr>
            <p:txBody>
              <a:bodyPr anchor="ctr"/>
              <a:lstStyle/>
              <a:p>
                <a:pPr algn="ctr"/>
                <a:endParaRPr sz="1800" dirty="0"/>
              </a:p>
            </p:txBody>
          </p:sp>
          <p:sp>
            <p:nvSpPr>
              <p:cNvPr id="123" name="ïṡḷïḍê"/>
              <p:cNvSpPr/>
              <p:nvPr/>
            </p:nvSpPr>
            <p:spPr bwMode="auto">
              <a:xfrm>
                <a:off x="11367097"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grpFill/>
              <a:ln>
                <a:noFill/>
              </a:ln>
            </p:spPr>
            <p:txBody>
              <a:bodyPr anchor="ctr"/>
              <a:lstStyle/>
              <a:p>
                <a:pPr algn="ctr"/>
                <a:endParaRPr sz="1800" dirty="0"/>
              </a:p>
            </p:txBody>
          </p:sp>
          <p:sp>
            <p:nvSpPr>
              <p:cNvPr id="124" name="îşļíḋe"/>
              <p:cNvSpPr/>
              <p:nvPr/>
            </p:nvSpPr>
            <p:spPr bwMode="auto">
              <a:xfrm>
                <a:off x="11405258" y="721607"/>
                <a:ext cx="5871" cy="46547"/>
              </a:xfrm>
              <a:prstGeom prst="rect">
                <a:avLst/>
              </a:prstGeom>
              <a:grpFill/>
              <a:ln>
                <a:noFill/>
              </a:ln>
            </p:spPr>
            <p:txBody>
              <a:bodyPr anchor="ctr"/>
              <a:lstStyle/>
              <a:p>
                <a:pPr algn="ctr"/>
                <a:endParaRPr sz="1800" dirty="0"/>
              </a:p>
            </p:txBody>
          </p:sp>
          <p:sp>
            <p:nvSpPr>
              <p:cNvPr id="125" name="íṩľide"/>
              <p:cNvSpPr/>
              <p:nvPr/>
            </p:nvSpPr>
            <p:spPr bwMode="auto">
              <a:xfrm>
                <a:off x="11417419"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grpFill/>
              <a:ln>
                <a:noFill/>
              </a:ln>
            </p:spPr>
            <p:txBody>
              <a:bodyPr anchor="ctr"/>
              <a:lstStyle/>
              <a:p>
                <a:pPr algn="ctr"/>
                <a:endParaRPr sz="1800" dirty="0"/>
              </a:p>
            </p:txBody>
          </p:sp>
          <p:sp>
            <p:nvSpPr>
              <p:cNvPr id="126" name="ïSļídê"/>
              <p:cNvSpPr/>
              <p:nvPr/>
            </p:nvSpPr>
            <p:spPr bwMode="auto">
              <a:xfrm>
                <a:off x="11453482" y="732929"/>
                <a:ext cx="30193"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sz="1800" dirty="0"/>
              </a:p>
            </p:txBody>
          </p:sp>
          <p:sp>
            <p:nvSpPr>
              <p:cNvPr id="127" name="işḷíḑè"/>
              <p:cNvSpPr/>
              <p:nvPr/>
            </p:nvSpPr>
            <p:spPr bwMode="auto">
              <a:xfrm>
                <a:off x="11487868" y="734187"/>
                <a:ext cx="31032" cy="47386"/>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grpFill/>
              <a:ln>
                <a:noFill/>
              </a:ln>
            </p:spPr>
            <p:txBody>
              <a:bodyPr anchor="ctr"/>
              <a:lstStyle/>
              <a:p>
                <a:pPr algn="ctr"/>
                <a:endParaRPr sz="1800" dirty="0"/>
              </a:p>
            </p:txBody>
          </p:sp>
        </p:grpSp>
        <p:grpSp>
          <p:nvGrpSpPr>
            <p:cNvPr id="23" name="组合 22"/>
            <p:cNvGrpSpPr/>
            <p:nvPr/>
          </p:nvGrpSpPr>
          <p:grpSpPr>
            <a:xfrm>
              <a:off x="660400" y="478901"/>
              <a:ext cx="601275" cy="454750"/>
              <a:chOff x="2201863" y="2538413"/>
              <a:chExt cx="1776413" cy="1781175"/>
            </a:xfrm>
            <a:solidFill>
              <a:schemeClr val="accent1"/>
            </a:solidFill>
          </p:grpSpPr>
          <p:sp>
            <p:nvSpPr>
              <p:cNvPr id="24" name="íṣḷîďé"/>
              <p:cNvSpPr/>
              <p:nvPr/>
            </p:nvSpPr>
            <p:spPr bwMode="auto">
              <a:xfrm>
                <a:off x="2201863" y="2538413"/>
                <a:ext cx="1776413" cy="1781175"/>
              </a:xfrm>
              <a:prstGeom prst="ellipse">
                <a:avLst/>
              </a:prstGeom>
              <a:noFill/>
              <a:ln w="19050" cap="flat">
                <a:solidFill>
                  <a:schemeClr val="accent1"/>
                </a:solidFill>
                <a:prstDash val="solid"/>
                <a:round/>
              </a:ln>
            </p:spPr>
            <p:txBody>
              <a:bodyPr anchor="ctr"/>
              <a:lstStyle/>
              <a:p>
                <a:pPr algn="ctr"/>
                <a:endParaRPr sz="1800" dirty="0"/>
              </a:p>
            </p:txBody>
          </p:sp>
          <p:sp>
            <p:nvSpPr>
              <p:cNvPr id="25" name="îSlïdê"/>
              <p:cNvSpPr/>
              <p:nvPr/>
            </p:nvSpPr>
            <p:spPr bwMode="auto">
              <a:xfrm>
                <a:off x="2349501" y="2976563"/>
                <a:ext cx="158750" cy="184150"/>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p:spPr>
            <p:txBody>
              <a:bodyPr anchor="ctr"/>
              <a:lstStyle/>
              <a:p>
                <a:pPr algn="ctr"/>
                <a:endParaRPr sz="1800" dirty="0"/>
              </a:p>
            </p:txBody>
          </p:sp>
          <p:sp>
            <p:nvSpPr>
              <p:cNvPr id="26" name="îSļíḍê"/>
              <p:cNvSpPr/>
              <p:nvPr/>
            </p:nvSpPr>
            <p:spPr bwMode="auto">
              <a:xfrm>
                <a:off x="2319338" y="3086101"/>
                <a:ext cx="144463" cy="157163"/>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p:spPr>
            <p:txBody>
              <a:bodyPr anchor="ctr"/>
              <a:lstStyle/>
              <a:p>
                <a:pPr algn="ctr"/>
                <a:endParaRPr sz="1800" dirty="0"/>
              </a:p>
            </p:txBody>
          </p:sp>
          <p:sp>
            <p:nvSpPr>
              <p:cNvPr id="27" name="ïşḻiḑe"/>
              <p:cNvSpPr/>
              <p:nvPr/>
            </p:nvSpPr>
            <p:spPr bwMode="auto">
              <a:xfrm>
                <a:off x="2279651" y="3140076"/>
                <a:ext cx="147638" cy="127000"/>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p:spPr>
            <p:txBody>
              <a:bodyPr anchor="ctr"/>
              <a:lstStyle/>
              <a:p>
                <a:pPr algn="ctr"/>
                <a:endParaRPr sz="1800" dirty="0"/>
              </a:p>
            </p:txBody>
          </p:sp>
          <p:sp>
            <p:nvSpPr>
              <p:cNvPr id="28" name="ïṡļiḑê"/>
              <p:cNvSpPr/>
              <p:nvPr/>
            </p:nvSpPr>
            <p:spPr bwMode="auto">
              <a:xfrm>
                <a:off x="2266951" y="3238501"/>
                <a:ext cx="152400" cy="103188"/>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p:spPr>
            <p:txBody>
              <a:bodyPr anchor="ctr"/>
              <a:lstStyle/>
              <a:p>
                <a:pPr algn="ctr"/>
                <a:endParaRPr sz="1800" dirty="0"/>
              </a:p>
            </p:txBody>
          </p:sp>
          <p:sp>
            <p:nvSpPr>
              <p:cNvPr id="29" name="ï$ḷiḋe"/>
              <p:cNvSpPr/>
              <p:nvPr/>
            </p:nvSpPr>
            <p:spPr bwMode="auto">
              <a:xfrm>
                <a:off x="2251076" y="3325813"/>
                <a:ext cx="152400" cy="112713"/>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p:spPr>
            <p:txBody>
              <a:bodyPr anchor="ctr"/>
              <a:lstStyle/>
              <a:p>
                <a:pPr algn="ctr"/>
                <a:endParaRPr sz="1800" dirty="0"/>
              </a:p>
            </p:txBody>
          </p:sp>
          <p:sp>
            <p:nvSpPr>
              <p:cNvPr id="30" name="iś1íḋè"/>
              <p:cNvSpPr/>
              <p:nvPr/>
            </p:nvSpPr>
            <p:spPr bwMode="auto">
              <a:xfrm>
                <a:off x="2252663" y="3433763"/>
                <a:ext cx="150813" cy="87313"/>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p:spPr>
            <p:txBody>
              <a:bodyPr anchor="ctr"/>
              <a:lstStyle/>
              <a:p>
                <a:pPr algn="ctr"/>
                <a:endParaRPr sz="1800" dirty="0"/>
              </a:p>
            </p:txBody>
          </p:sp>
          <p:sp>
            <p:nvSpPr>
              <p:cNvPr id="31" name="ïšlíďe"/>
              <p:cNvSpPr/>
              <p:nvPr/>
            </p:nvSpPr>
            <p:spPr bwMode="auto">
              <a:xfrm>
                <a:off x="2262188" y="3495676"/>
                <a:ext cx="158750" cy="122238"/>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p:spPr>
            <p:txBody>
              <a:bodyPr anchor="ctr"/>
              <a:lstStyle/>
              <a:p>
                <a:pPr algn="ctr"/>
                <a:endParaRPr sz="1800" dirty="0"/>
              </a:p>
            </p:txBody>
          </p:sp>
          <p:sp>
            <p:nvSpPr>
              <p:cNvPr id="32" name="ï$ļîďe"/>
              <p:cNvSpPr/>
              <p:nvPr/>
            </p:nvSpPr>
            <p:spPr bwMode="auto">
              <a:xfrm>
                <a:off x="2287588" y="3595688"/>
                <a:ext cx="146050" cy="122238"/>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p:spPr>
            <p:txBody>
              <a:bodyPr anchor="ctr"/>
              <a:lstStyle/>
              <a:p>
                <a:pPr algn="ctr"/>
                <a:endParaRPr sz="1800" dirty="0"/>
              </a:p>
            </p:txBody>
          </p:sp>
          <p:sp>
            <p:nvSpPr>
              <p:cNvPr id="33" name="ïs1îḓè"/>
              <p:cNvSpPr/>
              <p:nvPr/>
            </p:nvSpPr>
            <p:spPr bwMode="auto">
              <a:xfrm>
                <a:off x="2362201" y="3686176"/>
                <a:ext cx="141288" cy="166688"/>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p:spPr>
            <p:txBody>
              <a:bodyPr anchor="ctr"/>
              <a:lstStyle/>
              <a:p>
                <a:pPr algn="ctr"/>
                <a:endParaRPr sz="1800" dirty="0"/>
              </a:p>
            </p:txBody>
          </p:sp>
          <p:sp>
            <p:nvSpPr>
              <p:cNvPr id="34" name="iṣľíďê"/>
              <p:cNvSpPr/>
              <p:nvPr/>
            </p:nvSpPr>
            <p:spPr bwMode="auto">
              <a:xfrm>
                <a:off x="2403476" y="3760788"/>
                <a:ext cx="155575" cy="190500"/>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p:spPr>
            <p:txBody>
              <a:bodyPr anchor="ctr"/>
              <a:lstStyle/>
              <a:p>
                <a:pPr algn="ctr"/>
                <a:endParaRPr sz="1800" dirty="0"/>
              </a:p>
            </p:txBody>
          </p:sp>
          <p:sp>
            <p:nvSpPr>
              <p:cNvPr id="35" name="iŝḷíde"/>
              <p:cNvSpPr/>
              <p:nvPr/>
            </p:nvSpPr>
            <p:spPr bwMode="auto">
              <a:xfrm>
                <a:off x="2476501" y="3825876"/>
                <a:ext cx="107950" cy="179388"/>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p:spPr>
            <p:txBody>
              <a:bodyPr anchor="ctr"/>
              <a:lstStyle/>
              <a:p>
                <a:pPr algn="ctr"/>
                <a:endParaRPr sz="1800" dirty="0"/>
              </a:p>
            </p:txBody>
          </p:sp>
          <p:sp>
            <p:nvSpPr>
              <p:cNvPr id="36" name="îṡḷíḍé"/>
              <p:cNvSpPr/>
              <p:nvPr/>
            </p:nvSpPr>
            <p:spPr bwMode="auto">
              <a:xfrm>
                <a:off x="2533651" y="3856038"/>
                <a:ext cx="112713" cy="187325"/>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p:spPr>
            <p:txBody>
              <a:bodyPr anchor="ctr"/>
              <a:lstStyle/>
              <a:p>
                <a:pPr algn="ctr"/>
                <a:endParaRPr sz="1800" dirty="0"/>
              </a:p>
            </p:txBody>
          </p:sp>
          <p:sp>
            <p:nvSpPr>
              <p:cNvPr id="37" name="ïṡľîdè"/>
              <p:cNvSpPr/>
              <p:nvPr/>
            </p:nvSpPr>
            <p:spPr bwMode="auto">
              <a:xfrm>
                <a:off x="2578101" y="3905251"/>
                <a:ext cx="119063" cy="201613"/>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p:spPr>
            <p:txBody>
              <a:bodyPr anchor="ctr"/>
              <a:lstStyle/>
              <a:p>
                <a:pPr algn="ctr"/>
                <a:endParaRPr sz="1800" dirty="0"/>
              </a:p>
            </p:txBody>
          </p:sp>
          <p:sp>
            <p:nvSpPr>
              <p:cNvPr id="38" name="íślîde"/>
              <p:cNvSpPr/>
              <p:nvPr/>
            </p:nvSpPr>
            <p:spPr bwMode="auto">
              <a:xfrm>
                <a:off x="2633663" y="3940176"/>
                <a:ext cx="107950" cy="209550"/>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p:spPr>
            <p:txBody>
              <a:bodyPr anchor="ctr"/>
              <a:lstStyle/>
              <a:p>
                <a:pPr algn="ctr"/>
                <a:endParaRPr sz="1800" dirty="0"/>
              </a:p>
            </p:txBody>
          </p:sp>
          <p:sp>
            <p:nvSpPr>
              <p:cNvPr id="39" name="iŝļîḍé"/>
              <p:cNvSpPr/>
              <p:nvPr/>
            </p:nvSpPr>
            <p:spPr bwMode="auto">
              <a:xfrm>
                <a:off x="2703513" y="3976688"/>
                <a:ext cx="84138" cy="193675"/>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p:spPr>
            <p:txBody>
              <a:bodyPr anchor="ctr"/>
              <a:lstStyle/>
              <a:p>
                <a:pPr algn="ctr"/>
                <a:endParaRPr sz="1800" dirty="0"/>
              </a:p>
            </p:txBody>
          </p:sp>
          <p:sp>
            <p:nvSpPr>
              <p:cNvPr id="40" name="iṩḻíḋè"/>
              <p:cNvSpPr/>
              <p:nvPr/>
            </p:nvSpPr>
            <p:spPr bwMode="auto">
              <a:xfrm>
                <a:off x="2749551" y="3994151"/>
                <a:ext cx="73025" cy="193675"/>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p:spPr>
            <p:txBody>
              <a:bodyPr anchor="ctr"/>
              <a:lstStyle/>
              <a:p>
                <a:pPr algn="ctr"/>
                <a:endParaRPr sz="1800" dirty="0"/>
              </a:p>
            </p:txBody>
          </p:sp>
          <p:sp>
            <p:nvSpPr>
              <p:cNvPr id="41" name="iṥ1íďé"/>
              <p:cNvSpPr/>
              <p:nvPr/>
            </p:nvSpPr>
            <p:spPr bwMode="auto">
              <a:xfrm>
                <a:off x="2803526" y="4005263"/>
                <a:ext cx="80963" cy="200025"/>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p:spPr>
            <p:txBody>
              <a:bodyPr anchor="ctr"/>
              <a:lstStyle/>
              <a:p>
                <a:pPr algn="ctr"/>
                <a:endParaRPr sz="1800" dirty="0"/>
              </a:p>
            </p:txBody>
          </p:sp>
          <p:sp>
            <p:nvSpPr>
              <p:cNvPr id="42" name="íṥḷíḑè"/>
              <p:cNvSpPr/>
              <p:nvPr/>
            </p:nvSpPr>
            <p:spPr bwMode="auto">
              <a:xfrm>
                <a:off x="2876551" y="4029076"/>
                <a:ext cx="74613" cy="200025"/>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p:spPr>
            <p:txBody>
              <a:bodyPr anchor="ctr"/>
              <a:lstStyle/>
              <a:p>
                <a:pPr algn="ctr"/>
                <a:endParaRPr sz="1800" dirty="0"/>
              </a:p>
            </p:txBody>
          </p:sp>
          <p:sp>
            <p:nvSpPr>
              <p:cNvPr id="43" name="iṡļiďé"/>
              <p:cNvSpPr/>
              <p:nvPr/>
            </p:nvSpPr>
            <p:spPr bwMode="auto">
              <a:xfrm>
                <a:off x="2973388" y="4051301"/>
                <a:ext cx="65088" cy="200025"/>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p:spPr>
            <p:txBody>
              <a:bodyPr anchor="ctr"/>
              <a:lstStyle/>
              <a:p>
                <a:pPr algn="ctr"/>
                <a:endParaRPr sz="1800" dirty="0"/>
              </a:p>
            </p:txBody>
          </p:sp>
          <p:sp>
            <p:nvSpPr>
              <p:cNvPr id="44" name="îṥļîḍè"/>
              <p:cNvSpPr/>
              <p:nvPr/>
            </p:nvSpPr>
            <p:spPr bwMode="auto">
              <a:xfrm>
                <a:off x="3033713" y="4057651"/>
                <a:ext cx="52388" cy="190500"/>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p:spPr>
            <p:txBody>
              <a:bodyPr anchor="ctr"/>
              <a:lstStyle/>
              <a:p>
                <a:pPr algn="ctr"/>
                <a:endParaRPr sz="1800" dirty="0"/>
              </a:p>
            </p:txBody>
          </p:sp>
          <p:sp>
            <p:nvSpPr>
              <p:cNvPr id="45" name="îsḻiḍê"/>
              <p:cNvSpPr/>
              <p:nvPr/>
            </p:nvSpPr>
            <p:spPr bwMode="auto">
              <a:xfrm>
                <a:off x="3124201" y="4059238"/>
                <a:ext cx="53975" cy="198438"/>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p:spPr>
            <p:txBody>
              <a:bodyPr anchor="ctr"/>
              <a:lstStyle/>
              <a:p>
                <a:pPr algn="ctr"/>
                <a:endParaRPr sz="1800" dirty="0"/>
              </a:p>
            </p:txBody>
          </p:sp>
          <p:sp>
            <p:nvSpPr>
              <p:cNvPr id="46" name="îṣ1iḍé"/>
              <p:cNvSpPr/>
              <p:nvPr/>
            </p:nvSpPr>
            <p:spPr bwMode="auto">
              <a:xfrm>
                <a:off x="3171826" y="4054476"/>
                <a:ext cx="65088" cy="198438"/>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p:spPr>
            <p:txBody>
              <a:bodyPr anchor="ctr"/>
              <a:lstStyle/>
              <a:p>
                <a:pPr algn="ctr"/>
                <a:endParaRPr sz="1800" dirty="0"/>
              </a:p>
            </p:txBody>
          </p:sp>
          <p:sp>
            <p:nvSpPr>
              <p:cNvPr id="47" name="íşľîḋé"/>
              <p:cNvSpPr/>
              <p:nvPr/>
            </p:nvSpPr>
            <p:spPr bwMode="auto">
              <a:xfrm>
                <a:off x="3222626" y="4043363"/>
                <a:ext cx="57150" cy="195263"/>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p:spPr>
            <p:txBody>
              <a:bodyPr anchor="ctr"/>
              <a:lstStyle/>
              <a:p>
                <a:pPr algn="ctr"/>
                <a:endParaRPr sz="1800" dirty="0"/>
              </a:p>
            </p:txBody>
          </p:sp>
          <p:sp>
            <p:nvSpPr>
              <p:cNvPr id="48" name="íṣ1iḍe"/>
              <p:cNvSpPr/>
              <p:nvPr/>
            </p:nvSpPr>
            <p:spPr bwMode="auto">
              <a:xfrm>
                <a:off x="3257551" y="4022726"/>
                <a:ext cx="88900" cy="201613"/>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p:spPr>
            <p:txBody>
              <a:bodyPr anchor="ctr"/>
              <a:lstStyle/>
              <a:p>
                <a:pPr algn="ctr"/>
                <a:endParaRPr sz="1800" dirty="0"/>
              </a:p>
            </p:txBody>
          </p:sp>
          <p:sp>
            <p:nvSpPr>
              <p:cNvPr id="49" name="işľíḑê"/>
              <p:cNvSpPr/>
              <p:nvPr/>
            </p:nvSpPr>
            <p:spPr bwMode="auto">
              <a:xfrm>
                <a:off x="3314701" y="4000501"/>
                <a:ext cx="95250" cy="207963"/>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p:spPr>
            <p:txBody>
              <a:bodyPr anchor="ctr"/>
              <a:lstStyle/>
              <a:p>
                <a:pPr algn="ctr"/>
                <a:endParaRPr sz="1800" dirty="0"/>
              </a:p>
            </p:txBody>
          </p:sp>
          <p:sp>
            <p:nvSpPr>
              <p:cNvPr id="50" name="îṥ1îďê"/>
              <p:cNvSpPr/>
              <p:nvPr/>
            </p:nvSpPr>
            <p:spPr bwMode="auto">
              <a:xfrm>
                <a:off x="3392488" y="3979863"/>
                <a:ext cx="76200" cy="198438"/>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p:spPr>
            <p:txBody>
              <a:bodyPr anchor="ctr"/>
              <a:lstStyle/>
              <a:p>
                <a:pPr algn="ctr"/>
                <a:endParaRPr sz="1800" dirty="0"/>
              </a:p>
            </p:txBody>
          </p:sp>
          <p:sp>
            <p:nvSpPr>
              <p:cNvPr id="51" name="îś1îḓe"/>
              <p:cNvSpPr/>
              <p:nvPr/>
            </p:nvSpPr>
            <p:spPr bwMode="auto">
              <a:xfrm>
                <a:off x="3438526" y="3952876"/>
                <a:ext cx="103188" cy="203200"/>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p:spPr>
            <p:txBody>
              <a:bodyPr anchor="ctr"/>
              <a:lstStyle/>
              <a:p>
                <a:pPr algn="ctr"/>
                <a:endParaRPr sz="1800" dirty="0"/>
              </a:p>
            </p:txBody>
          </p:sp>
          <p:sp>
            <p:nvSpPr>
              <p:cNvPr id="52" name="íşḻiḓe"/>
              <p:cNvSpPr/>
              <p:nvPr/>
            </p:nvSpPr>
            <p:spPr bwMode="auto">
              <a:xfrm>
                <a:off x="3540126" y="3905251"/>
                <a:ext cx="101600" cy="193675"/>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p:spPr>
            <p:txBody>
              <a:bodyPr anchor="ctr"/>
              <a:lstStyle/>
              <a:p>
                <a:pPr algn="ctr"/>
                <a:endParaRPr sz="1800" dirty="0"/>
              </a:p>
            </p:txBody>
          </p:sp>
          <p:sp>
            <p:nvSpPr>
              <p:cNvPr id="53" name="iSliḋê"/>
              <p:cNvSpPr/>
              <p:nvPr/>
            </p:nvSpPr>
            <p:spPr bwMode="auto">
              <a:xfrm>
                <a:off x="3557588" y="3838576"/>
                <a:ext cx="133350" cy="211138"/>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p:spPr>
            <p:txBody>
              <a:bodyPr anchor="ctr"/>
              <a:lstStyle/>
              <a:p>
                <a:pPr algn="ctr"/>
                <a:endParaRPr sz="1800" dirty="0"/>
              </a:p>
            </p:txBody>
          </p:sp>
          <p:sp>
            <p:nvSpPr>
              <p:cNvPr id="54" name="íṡļïďè"/>
              <p:cNvSpPr/>
              <p:nvPr/>
            </p:nvSpPr>
            <p:spPr bwMode="auto">
              <a:xfrm>
                <a:off x="3624263" y="3802063"/>
                <a:ext cx="112713" cy="185738"/>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p:spPr>
            <p:txBody>
              <a:bodyPr anchor="ctr"/>
              <a:lstStyle/>
              <a:p>
                <a:pPr algn="ctr"/>
                <a:endParaRPr sz="1800" dirty="0"/>
              </a:p>
            </p:txBody>
          </p:sp>
          <p:sp>
            <p:nvSpPr>
              <p:cNvPr id="55" name="íṡ1íḍê"/>
              <p:cNvSpPr/>
              <p:nvPr/>
            </p:nvSpPr>
            <p:spPr bwMode="auto">
              <a:xfrm>
                <a:off x="3683001" y="3697288"/>
                <a:ext cx="142875" cy="160338"/>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p:spPr>
            <p:txBody>
              <a:bodyPr anchor="ctr"/>
              <a:lstStyle/>
              <a:p>
                <a:pPr algn="ctr"/>
                <a:endParaRPr sz="1800" dirty="0"/>
              </a:p>
            </p:txBody>
          </p:sp>
          <p:sp>
            <p:nvSpPr>
              <p:cNvPr id="56" name="íṥ1îdê"/>
              <p:cNvSpPr/>
              <p:nvPr/>
            </p:nvSpPr>
            <p:spPr bwMode="auto">
              <a:xfrm>
                <a:off x="3717926" y="3638551"/>
                <a:ext cx="152400" cy="160338"/>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p:spPr>
            <p:txBody>
              <a:bodyPr anchor="ctr"/>
              <a:lstStyle/>
              <a:p>
                <a:pPr algn="ctr"/>
                <a:endParaRPr sz="1800" dirty="0"/>
              </a:p>
            </p:txBody>
          </p:sp>
          <p:sp>
            <p:nvSpPr>
              <p:cNvPr id="57" name="íṧḻïďé"/>
              <p:cNvSpPr/>
              <p:nvPr/>
            </p:nvSpPr>
            <p:spPr bwMode="auto">
              <a:xfrm>
                <a:off x="3756026" y="3581401"/>
                <a:ext cx="144463" cy="115888"/>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p:spPr>
            <p:txBody>
              <a:bodyPr anchor="ctr"/>
              <a:lstStyle/>
              <a:p>
                <a:pPr algn="ctr"/>
                <a:endParaRPr sz="1800" dirty="0"/>
              </a:p>
            </p:txBody>
          </p:sp>
          <p:sp>
            <p:nvSpPr>
              <p:cNvPr id="58" name="iSlídè"/>
              <p:cNvSpPr/>
              <p:nvPr/>
            </p:nvSpPr>
            <p:spPr bwMode="auto">
              <a:xfrm>
                <a:off x="3767138" y="3487738"/>
                <a:ext cx="155575" cy="131763"/>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p:spPr>
            <p:txBody>
              <a:bodyPr anchor="ctr"/>
              <a:lstStyle/>
              <a:p>
                <a:pPr algn="ctr"/>
                <a:endParaRPr sz="1800" dirty="0"/>
              </a:p>
            </p:txBody>
          </p:sp>
          <p:sp>
            <p:nvSpPr>
              <p:cNvPr id="59" name="îṣľíḋé"/>
              <p:cNvSpPr/>
              <p:nvPr/>
            </p:nvSpPr>
            <p:spPr bwMode="auto">
              <a:xfrm>
                <a:off x="3783013" y="3394076"/>
                <a:ext cx="147638" cy="96838"/>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p:spPr>
            <p:txBody>
              <a:bodyPr anchor="ctr"/>
              <a:lstStyle/>
              <a:p>
                <a:pPr algn="ctr"/>
                <a:endParaRPr sz="1800" dirty="0"/>
              </a:p>
            </p:txBody>
          </p:sp>
          <p:sp>
            <p:nvSpPr>
              <p:cNvPr id="60" name="iṧľîḋè"/>
              <p:cNvSpPr/>
              <p:nvPr/>
            </p:nvSpPr>
            <p:spPr bwMode="auto">
              <a:xfrm>
                <a:off x="3779838" y="3303588"/>
                <a:ext cx="152400" cy="88900"/>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p:spPr>
            <p:txBody>
              <a:bodyPr anchor="ctr"/>
              <a:lstStyle/>
              <a:p>
                <a:pPr algn="ctr"/>
                <a:endParaRPr sz="1800" dirty="0"/>
              </a:p>
            </p:txBody>
          </p:sp>
          <p:sp>
            <p:nvSpPr>
              <p:cNvPr id="61" name="ïSļiḓe"/>
              <p:cNvSpPr/>
              <p:nvPr/>
            </p:nvSpPr>
            <p:spPr bwMode="auto">
              <a:xfrm>
                <a:off x="3770313" y="3214688"/>
                <a:ext cx="147638" cy="112713"/>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p:spPr>
            <p:txBody>
              <a:bodyPr anchor="ctr"/>
              <a:lstStyle/>
              <a:p>
                <a:pPr algn="ctr"/>
                <a:endParaRPr sz="1800" dirty="0"/>
              </a:p>
            </p:txBody>
          </p:sp>
          <p:sp>
            <p:nvSpPr>
              <p:cNvPr id="62" name="ïṥḻíḑè"/>
              <p:cNvSpPr/>
              <p:nvPr/>
            </p:nvSpPr>
            <p:spPr bwMode="auto">
              <a:xfrm>
                <a:off x="3744913" y="3141663"/>
                <a:ext cx="144463" cy="112713"/>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p:spPr>
            <p:txBody>
              <a:bodyPr anchor="ctr"/>
              <a:lstStyle/>
              <a:p>
                <a:pPr algn="ctr"/>
                <a:endParaRPr sz="1800" dirty="0"/>
              </a:p>
            </p:txBody>
          </p:sp>
          <p:sp>
            <p:nvSpPr>
              <p:cNvPr id="63" name="ïṩľiḓê"/>
              <p:cNvSpPr/>
              <p:nvPr/>
            </p:nvSpPr>
            <p:spPr bwMode="auto">
              <a:xfrm>
                <a:off x="3713163" y="3041651"/>
                <a:ext cx="139700" cy="138113"/>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p:spPr>
            <p:txBody>
              <a:bodyPr anchor="ctr"/>
              <a:lstStyle/>
              <a:p>
                <a:pPr algn="ctr"/>
                <a:endParaRPr sz="1800" dirty="0"/>
              </a:p>
            </p:txBody>
          </p:sp>
          <p:sp>
            <p:nvSpPr>
              <p:cNvPr id="64" name="íşlîḓê"/>
              <p:cNvSpPr/>
              <p:nvPr/>
            </p:nvSpPr>
            <p:spPr bwMode="auto">
              <a:xfrm>
                <a:off x="3665538" y="2970213"/>
                <a:ext cx="142875" cy="166688"/>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p:spPr>
            <p:txBody>
              <a:bodyPr anchor="ctr"/>
              <a:lstStyle/>
              <a:p>
                <a:pPr algn="ctr"/>
                <a:endParaRPr sz="1800" dirty="0"/>
              </a:p>
            </p:txBody>
          </p:sp>
          <p:sp>
            <p:nvSpPr>
              <p:cNvPr id="65" name="íşlîḍè"/>
              <p:cNvSpPr/>
              <p:nvPr/>
            </p:nvSpPr>
            <p:spPr bwMode="auto">
              <a:xfrm>
                <a:off x="2770188" y="3314701"/>
                <a:ext cx="93663" cy="185738"/>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sz="1800" dirty="0"/>
              </a:p>
            </p:txBody>
          </p:sp>
          <p:sp>
            <p:nvSpPr>
              <p:cNvPr id="66" name="îšļîďê"/>
              <p:cNvSpPr/>
              <p:nvPr/>
            </p:nvSpPr>
            <p:spPr bwMode="auto">
              <a:xfrm>
                <a:off x="2841626" y="3314701"/>
                <a:ext cx="100013" cy="185738"/>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sz="1800" dirty="0"/>
              </a:p>
            </p:txBody>
          </p:sp>
          <p:sp>
            <p:nvSpPr>
              <p:cNvPr id="67" name="ïSľïḑé"/>
              <p:cNvSpPr/>
              <p:nvPr/>
            </p:nvSpPr>
            <p:spPr bwMode="auto">
              <a:xfrm>
                <a:off x="2825751" y="3427413"/>
                <a:ext cx="39688" cy="23813"/>
              </a:xfrm>
              <a:prstGeom prst="rect">
                <a:avLst/>
              </a:prstGeom>
              <a:grpFill/>
              <a:ln>
                <a:noFill/>
              </a:ln>
            </p:spPr>
            <p:txBody>
              <a:bodyPr anchor="ctr"/>
              <a:lstStyle/>
              <a:p>
                <a:pPr algn="ctr"/>
                <a:endParaRPr sz="1800" dirty="0"/>
              </a:p>
            </p:txBody>
          </p:sp>
          <p:sp>
            <p:nvSpPr>
              <p:cNvPr id="68" name="í$ḻïḍê"/>
              <p:cNvSpPr/>
              <p:nvPr/>
            </p:nvSpPr>
            <p:spPr bwMode="auto">
              <a:xfrm>
                <a:off x="2916238" y="3314701"/>
                <a:ext cx="95250" cy="185738"/>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sz="1800" dirty="0"/>
              </a:p>
            </p:txBody>
          </p:sp>
          <p:sp>
            <p:nvSpPr>
              <p:cNvPr id="69" name="is1íḋe"/>
              <p:cNvSpPr/>
              <p:nvPr/>
            </p:nvSpPr>
            <p:spPr bwMode="auto">
              <a:xfrm>
                <a:off x="2987676" y="3314701"/>
                <a:ext cx="93663" cy="185738"/>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sz="1800" dirty="0"/>
              </a:p>
            </p:txBody>
          </p:sp>
          <p:sp>
            <p:nvSpPr>
              <p:cNvPr id="70" name="iṩlîḓé"/>
              <p:cNvSpPr/>
              <p:nvPr/>
            </p:nvSpPr>
            <p:spPr bwMode="auto">
              <a:xfrm>
                <a:off x="2965451" y="3475038"/>
                <a:ext cx="39688" cy="25400"/>
              </a:xfrm>
              <a:prstGeom prst="rect">
                <a:avLst/>
              </a:prstGeom>
              <a:grpFill/>
              <a:ln>
                <a:noFill/>
              </a:ln>
            </p:spPr>
            <p:txBody>
              <a:bodyPr anchor="ctr"/>
              <a:lstStyle/>
              <a:p>
                <a:pPr algn="ctr"/>
                <a:endParaRPr sz="1800" dirty="0"/>
              </a:p>
            </p:txBody>
          </p:sp>
          <p:sp>
            <p:nvSpPr>
              <p:cNvPr id="71" name="ïṩ1îḑê"/>
              <p:cNvSpPr/>
              <p:nvPr/>
            </p:nvSpPr>
            <p:spPr bwMode="auto">
              <a:xfrm>
                <a:off x="2700338" y="3032126"/>
                <a:ext cx="776288" cy="519113"/>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sz="1800" dirty="0"/>
              </a:p>
            </p:txBody>
          </p:sp>
          <p:sp>
            <p:nvSpPr>
              <p:cNvPr id="72" name="ïṡľîdé"/>
              <p:cNvSpPr/>
              <p:nvPr/>
            </p:nvSpPr>
            <p:spPr bwMode="auto">
              <a:xfrm>
                <a:off x="3200401" y="3295651"/>
                <a:ext cx="111125" cy="250825"/>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sz="1800" dirty="0"/>
              </a:p>
            </p:txBody>
          </p:sp>
          <p:sp>
            <p:nvSpPr>
              <p:cNvPr id="73" name="îśľîdé"/>
              <p:cNvSpPr/>
              <p:nvPr/>
            </p:nvSpPr>
            <p:spPr bwMode="auto">
              <a:xfrm>
                <a:off x="3097213" y="2620963"/>
                <a:ext cx="166688" cy="196850"/>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E60012"/>
              </a:solidFill>
              <a:ln>
                <a:noFill/>
              </a:ln>
            </p:spPr>
            <p:txBody>
              <a:bodyPr anchor="ctr"/>
              <a:lstStyle/>
              <a:p>
                <a:pPr algn="ctr"/>
                <a:endParaRPr sz="1800" dirty="0"/>
              </a:p>
            </p:txBody>
          </p:sp>
          <p:sp>
            <p:nvSpPr>
              <p:cNvPr id="74" name="ïṩļíḑè"/>
              <p:cNvSpPr/>
              <p:nvPr/>
            </p:nvSpPr>
            <p:spPr bwMode="auto">
              <a:xfrm>
                <a:off x="3298826" y="2668588"/>
                <a:ext cx="149225" cy="203200"/>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E60012"/>
              </a:solidFill>
              <a:ln>
                <a:noFill/>
              </a:ln>
            </p:spPr>
            <p:txBody>
              <a:bodyPr anchor="ctr"/>
              <a:lstStyle/>
              <a:p>
                <a:pPr algn="ctr"/>
                <a:endParaRPr sz="1800" dirty="0"/>
              </a:p>
            </p:txBody>
          </p:sp>
          <p:sp>
            <p:nvSpPr>
              <p:cNvPr id="75" name="i$ļíḍé"/>
              <p:cNvSpPr/>
              <p:nvPr/>
            </p:nvSpPr>
            <p:spPr bwMode="auto">
              <a:xfrm>
                <a:off x="2711451" y="2667001"/>
                <a:ext cx="95250" cy="222250"/>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E60012"/>
              </a:solidFill>
              <a:ln>
                <a:noFill/>
              </a:ln>
            </p:spPr>
            <p:txBody>
              <a:bodyPr anchor="ctr"/>
              <a:lstStyle/>
              <a:p>
                <a:pPr algn="ctr"/>
                <a:endParaRPr sz="1800" dirty="0"/>
              </a:p>
            </p:txBody>
          </p:sp>
          <p:sp>
            <p:nvSpPr>
              <p:cNvPr id="76" name="î$lîde"/>
              <p:cNvSpPr/>
              <p:nvPr/>
            </p:nvSpPr>
            <p:spPr bwMode="auto">
              <a:xfrm>
                <a:off x="3482976" y="2732088"/>
                <a:ext cx="207963" cy="249238"/>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E60012"/>
              </a:solidFill>
              <a:ln>
                <a:noFill/>
              </a:ln>
            </p:spPr>
            <p:txBody>
              <a:bodyPr anchor="ctr"/>
              <a:lstStyle/>
              <a:p>
                <a:pPr algn="ctr"/>
                <a:endParaRPr sz="1800" dirty="0"/>
              </a:p>
            </p:txBody>
          </p:sp>
          <p:sp>
            <p:nvSpPr>
              <p:cNvPr id="77" name="íṧļide"/>
              <p:cNvSpPr/>
              <p:nvPr/>
            </p:nvSpPr>
            <p:spPr bwMode="auto">
              <a:xfrm>
                <a:off x="2887663" y="2605088"/>
                <a:ext cx="152400" cy="23336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E60012"/>
              </a:solidFill>
              <a:ln>
                <a:noFill/>
              </a:ln>
            </p:spPr>
            <p:txBody>
              <a:bodyPr anchor="ctr"/>
              <a:lstStyle/>
              <a:p>
                <a:pPr algn="ctr"/>
                <a:endParaRPr sz="1800" dirty="0"/>
              </a:p>
            </p:txBody>
          </p:sp>
          <p:sp>
            <p:nvSpPr>
              <p:cNvPr id="78" name="íṩḻíḓe"/>
              <p:cNvSpPr/>
              <p:nvPr/>
            </p:nvSpPr>
            <p:spPr bwMode="auto">
              <a:xfrm>
                <a:off x="2519363" y="2747963"/>
                <a:ext cx="141288" cy="239713"/>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E60012"/>
              </a:solidFill>
              <a:ln>
                <a:noFill/>
              </a:ln>
            </p:spPr>
            <p:txBody>
              <a:bodyPr anchor="ctr"/>
              <a:lstStyle/>
              <a:p>
                <a:pPr algn="ctr"/>
                <a:endParaRPr sz="1800" dirty="0"/>
              </a:p>
            </p:txBody>
          </p:sp>
          <p:sp>
            <p:nvSpPr>
              <p:cNvPr id="79" name="îsļíḑe"/>
              <p:cNvSpPr/>
              <p:nvPr/>
            </p:nvSpPr>
            <p:spPr bwMode="auto">
              <a:xfrm>
                <a:off x="2944813" y="3798888"/>
                <a:ext cx="292100" cy="53975"/>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grpFill/>
              <a:ln>
                <a:noFill/>
              </a:ln>
            </p:spPr>
            <p:txBody>
              <a:bodyPr anchor="ctr"/>
              <a:lstStyle/>
              <a:p>
                <a:pPr algn="ctr"/>
                <a:endParaRPr sz="1800" dirty="0"/>
              </a:p>
            </p:txBody>
          </p:sp>
          <p:sp>
            <p:nvSpPr>
              <p:cNvPr id="80" name="ïṩľíḓè"/>
              <p:cNvSpPr/>
              <p:nvPr/>
            </p:nvSpPr>
            <p:spPr bwMode="auto">
              <a:xfrm>
                <a:off x="2601913" y="3629026"/>
                <a:ext cx="976313" cy="134938"/>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noFill/>
              <a:ln>
                <a:solidFill>
                  <a:schemeClr val="accent1"/>
                </a:solidFill>
              </a:ln>
            </p:spPr>
            <p:txBody>
              <a:bodyPr anchor="ctr"/>
              <a:lstStyle/>
              <a:p>
                <a:pPr algn="ctr"/>
                <a:endParaRPr sz="1800" dirty="0"/>
              </a:p>
            </p:txBody>
          </p:sp>
          <p:sp>
            <p:nvSpPr>
              <p:cNvPr id="81" name="ïŝļíḑè"/>
              <p:cNvSpPr/>
              <p:nvPr/>
            </p:nvSpPr>
            <p:spPr bwMode="auto">
              <a:xfrm>
                <a:off x="2709863" y="3643313"/>
                <a:ext cx="493713" cy="95250"/>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grpFill/>
              <a:ln>
                <a:noFill/>
              </a:ln>
            </p:spPr>
            <p:txBody>
              <a:bodyPr anchor="ctr"/>
              <a:lstStyle/>
              <a:p>
                <a:pPr algn="ctr"/>
                <a:endParaRPr sz="1800" dirty="0"/>
              </a:p>
            </p:txBody>
          </p:sp>
          <p:sp>
            <p:nvSpPr>
              <p:cNvPr id="82" name="iŝḷïďé"/>
              <p:cNvSpPr/>
              <p:nvPr/>
            </p:nvSpPr>
            <p:spPr bwMode="auto">
              <a:xfrm>
                <a:off x="3214688" y="3644901"/>
                <a:ext cx="268288" cy="95250"/>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grpFill/>
              <a:ln>
                <a:noFill/>
              </a:ln>
            </p:spPr>
            <p:txBody>
              <a:bodyPr anchor="ctr"/>
              <a:lstStyle/>
              <a:p>
                <a:pPr algn="ctr"/>
                <a:endParaRPr sz="1800" dirty="0"/>
              </a:p>
            </p:txBody>
          </p:sp>
          <p:sp>
            <p:nvSpPr>
              <p:cNvPr id="83" name="îślïḓè"/>
              <p:cNvSpPr/>
              <p:nvPr/>
            </p:nvSpPr>
            <p:spPr bwMode="auto">
              <a:xfrm>
                <a:off x="2565401" y="2881313"/>
                <a:ext cx="1050925" cy="1093788"/>
              </a:xfrm>
              <a:prstGeom prst="ellipse">
                <a:avLst/>
              </a:prstGeom>
              <a:noFill/>
              <a:ln w="14288" cap="flat">
                <a:solidFill>
                  <a:schemeClr val="accent1"/>
                </a:solidFill>
                <a:prstDash val="solid"/>
                <a:round/>
              </a:ln>
            </p:spPr>
            <p:txBody>
              <a:bodyPr anchor="ctr"/>
              <a:lstStyle/>
              <a:p>
                <a:pPr algn="ctr"/>
                <a:endParaRPr sz="1800" dirty="0"/>
              </a:p>
            </p:txBody>
          </p:sp>
          <p:sp>
            <p:nvSpPr>
              <p:cNvPr id="84" name="ïṡliḓe"/>
              <p:cNvSpPr/>
              <p:nvPr/>
            </p:nvSpPr>
            <p:spPr bwMode="auto">
              <a:xfrm>
                <a:off x="2451101" y="2881313"/>
                <a:ext cx="1277938" cy="1093788"/>
              </a:xfrm>
              <a:prstGeom prst="ellipse">
                <a:avLst/>
              </a:prstGeom>
              <a:noFill/>
              <a:ln w="15875" cap="flat">
                <a:solidFill>
                  <a:schemeClr val="accent1"/>
                </a:solidFill>
                <a:prstDash val="solid"/>
                <a:round/>
              </a:ln>
            </p:spPr>
            <p:txBody>
              <a:bodyPr anchor="ctr"/>
              <a:lstStyle/>
              <a:p>
                <a:pPr algn="ctr"/>
                <a:endParaRPr sz="1800" dirty="0"/>
              </a:p>
            </p:txBody>
          </p:sp>
          <p:sp>
            <p:nvSpPr>
              <p:cNvPr id="85" name="íšḻíḋé"/>
              <p:cNvSpPr/>
              <p:nvPr/>
            </p:nvSpPr>
            <p:spPr bwMode="auto">
              <a:xfrm>
                <a:off x="2727326" y="2957513"/>
                <a:ext cx="727075" cy="20638"/>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grpFill/>
              <a:ln>
                <a:noFill/>
              </a:ln>
            </p:spPr>
            <p:txBody>
              <a:bodyPr anchor="ctr"/>
              <a:lstStyle/>
              <a:p>
                <a:pPr algn="ctr"/>
                <a:endParaRPr sz="1800" dirty="0"/>
              </a:p>
            </p:txBody>
          </p:sp>
          <p:sp>
            <p:nvSpPr>
              <p:cNvPr id="86" name="îṡliḑè"/>
              <p:cNvSpPr/>
              <p:nvPr/>
            </p:nvSpPr>
            <p:spPr bwMode="auto">
              <a:xfrm>
                <a:off x="2735263" y="3881438"/>
                <a:ext cx="711200" cy="22225"/>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grpFill/>
              <a:ln>
                <a:noFill/>
              </a:ln>
            </p:spPr>
            <p:txBody>
              <a:bodyPr anchor="ctr"/>
              <a:lstStyle/>
              <a:p>
                <a:pPr algn="ctr"/>
                <a:endParaRPr sz="1800" dirty="0"/>
              </a:p>
            </p:txBody>
          </p:sp>
        </p:grpSp>
      </p:grpSp>
      <p:pic>
        <p:nvPicPr>
          <p:cNvPr id="128" name="图片 127"/>
          <p:cNvPicPr>
            <a:picLocks noChangeAspect="1"/>
          </p:cNvPicPr>
          <p:nvPr/>
        </p:nvPicPr>
        <p:blipFill>
          <a:blip r:embed="rId3"/>
          <a:stretch>
            <a:fillRect/>
          </a:stretch>
        </p:blipFill>
        <p:spPr>
          <a:xfrm>
            <a:off x="8674999" y="945647"/>
            <a:ext cx="2991230" cy="433512"/>
          </a:xfrm>
          <a:prstGeom prst="rect">
            <a:avLst/>
          </a:prstGeom>
        </p:spPr>
      </p:pic>
      <p:sp>
        <p:nvSpPr>
          <p:cNvPr id="9" name="灯片编号占位符 8"/>
          <p:cNvSpPr>
            <a:spLocks noGrp="1"/>
          </p:cNvSpPr>
          <p:nvPr>
            <p:ph type="sldNum" sz="quarter" idx="12"/>
          </p:nvPr>
        </p:nvSpPr>
        <p:spPr/>
        <p:txBody>
          <a:bodyPr/>
          <a:lstStyle/>
          <a:p>
            <a:fld id="{F46799FB-52B8-4698-BECF-01ADD9E846BE}" type="slidenum">
              <a:rPr lang="zh-CN" altLang="en-US" smtClean="0"/>
              <a:t>1</a:t>
            </a:fld>
            <a:endParaRPr lang="zh-CN" altLang="en-US"/>
          </a:p>
        </p:txBody>
      </p:sp>
      <p:graphicFrame>
        <p:nvGraphicFramePr>
          <p:cNvPr id="10" name="表格 9"/>
          <p:cNvGraphicFramePr>
            <a:graphicFrameLocks noGrp="1"/>
          </p:cNvGraphicFramePr>
          <p:nvPr/>
        </p:nvGraphicFramePr>
        <p:xfrm>
          <a:off x="3992245" y="3898900"/>
          <a:ext cx="4483735" cy="2165350"/>
        </p:xfrm>
        <a:graphic>
          <a:graphicData uri="http://schemas.openxmlformats.org/drawingml/2006/table">
            <a:tbl>
              <a:tblPr/>
              <a:tblGrid>
                <a:gridCol w="1561465">
                  <a:extLst>
                    <a:ext uri="{9D8B030D-6E8A-4147-A177-3AD203B41FA5}">
                      <a16:colId xmlns:a16="http://schemas.microsoft.com/office/drawing/2014/main" val="20000"/>
                    </a:ext>
                  </a:extLst>
                </a:gridCol>
                <a:gridCol w="2922270">
                  <a:extLst>
                    <a:ext uri="{9D8B030D-6E8A-4147-A177-3AD203B41FA5}">
                      <a16:colId xmlns:a16="http://schemas.microsoft.com/office/drawing/2014/main" val="20001"/>
                    </a:ext>
                  </a:extLst>
                </a:gridCol>
              </a:tblGrid>
              <a:tr h="433070">
                <a:tc>
                  <a:txBody>
                    <a:bodyPr/>
                    <a:lstStyle/>
                    <a:p>
                      <a:pPr algn="dist" fontAlgn="t"/>
                      <a:r>
                        <a:rPr lang="zh-CN" altLang="en-US" sz="2000" b="1" dirty="0">
                          <a:latin typeface="华文楷体" panose="02010600040101010101" pitchFamily="2" charset="-122"/>
                          <a:ea typeface="华文楷体" panose="02010600040101010101" pitchFamily="2" charset="-122"/>
                        </a:rPr>
                        <a:t>院系</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电子信息与通信学院</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专业班级</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种子2</a:t>
                      </a:r>
                      <a:r>
                        <a:rPr lang="en-US" altLang="zh-CN" sz="2000" b="1" dirty="0">
                          <a:latin typeface="华文楷体" panose="02010600040101010101" pitchFamily="2" charset="-122"/>
                          <a:ea typeface="华文楷体" panose="02010600040101010101" pitchFamily="2" charset="-122"/>
                        </a:rPr>
                        <a:t>2</a:t>
                      </a:r>
                      <a:r>
                        <a:rPr lang="zh-CN" altLang="en-US" sz="2000" b="1" dirty="0">
                          <a:latin typeface="华文楷体" panose="02010600040101010101" pitchFamily="2" charset="-122"/>
                          <a:ea typeface="华文楷体" panose="02010600040101010101" pitchFamily="2" charset="-122"/>
                        </a:rPr>
                        <a:t>01班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汇报人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王航天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指导老师</a:t>
                      </a:r>
                      <a:endParaRPr lang="zh-CN" altLang="en-US" dirty="0">
                        <a:solidFill>
                          <a:schemeClr val="tx1">
                            <a:lumMod val="75000"/>
                          </a:schemeClr>
                        </a:solidFill>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2000" b="1" dirty="0">
                          <a:latin typeface="华文楷体" panose="02010600040101010101" pitchFamily="2" charset="-122"/>
                          <a:ea typeface="华文楷体" panose="02010600040101010101" pitchFamily="2" charset="-122"/>
                        </a:rPr>
                        <a:t>周瑜</a:t>
                      </a:r>
                      <a:endParaRPr lang="zh-CN" alt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3070">
                <a:tc>
                  <a:txBody>
                    <a:bodyPr/>
                    <a:lstStyle/>
                    <a:p>
                      <a:pPr algn="dist" fontAlgn="t"/>
                      <a:r>
                        <a:rPr lang="zh-CN" altLang="en-US" sz="2000" b="1" dirty="0">
                          <a:latin typeface="华文楷体" panose="02010600040101010101" pitchFamily="2" charset="-122"/>
                          <a:ea typeface="华文楷体" panose="02010600040101010101" pitchFamily="2" charset="-122"/>
                        </a:rPr>
                        <a:t>汇报时间</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fld id="{BB962C8B-B14F-4D97-AF65-F5344CB8AC3E}" type="datetime2">
                        <a:rPr lang="zh-CN" altLang="en-US" sz="2000" b="1" dirty="0">
                          <a:latin typeface="华文楷体" panose="02010600040101010101" pitchFamily="2" charset="-122"/>
                          <a:ea typeface="华文楷体" panose="02010600040101010101" pitchFamily="2" charset="-122"/>
                        </a:rPr>
                        <a:t>2026年3月12日</a:t>
                      </a:fld>
                      <a:endParaRPr lang="zh-CN" altLang="en-US" sz="2000" b="1" dirty="0">
                        <a:latin typeface="华文楷体" panose="02010600040101010101" pitchFamily="2" charset="-122"/>
                        <a:ea typeface="华文楷体" panose="02010600040101010101"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88709" y="5737122"/>
            <a:ext cx="3957485" cy="825909"/>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4" y="294968"/>
            <a:ext cx="3957485" cy="825909"/>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03122" y="450460"/>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912775" y="671357"/>
            <a:ext cx="1522607" cy="707886"/>
          </a:xfrm>
          <a:prstGeom prst="rect">
            <a:avLst/>
          </a:prstGeom>
          <a:noFill/>
        </p:spPr>
        <p:txBody>
          <a:bodyPr wrap="square" rtlCol="0">
            <a:spAutoFit/>
          </a:bodyPr>
          <a:lstStyle/>
          <a:p>
            <a:pPr algn="dist"/>
            <a:r>
              <a:rPr lang="zh-CN" altLang="en-US" sz="4000" dirty="0">
                <a:solidFill>
                  <a:srgbClr val="1C4885"/>
                </a:solidFill>
                <a:latin typeface="微软雅黑" panose="020B0503020204020204" pitchFamily="34" charset="-122"/>
                <a:ea typeface="微软雅黑" panose="020B0503020204020204" pitchFamily="34" charset="-122"/>
              </a:rPr>
              <a:t>目录</a:t>
            </a:r>
          </a:p>
        </p:txBody>
      </p:sp>
      <p:sp>
        <p:nvSpPr>
          <p:cNvPr id="9" name="椭圆 8"/>
          <p:cNvSpPr/>
          <p:nvPr/>
        </p:nvSpPr>
        <p:spPr>
          <a:xfrm>
            <a:off x="2064260" y="1589540"/>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1</a:t>
            </a:r>
            <a:endParaRPr lang="zh-CN" altLang="en-US" sz="1200" b="1" dirty="0">
              <a:solidFill>
                <a:schemeClr val="bg1"/>
              </a:solidFill>
              <a:latin typeface="微软雅黑" panose="020B0503020204020204" pitchFamily="34" charset="-122"/>
            </a:endParaRPr>
          </a:p>
        </p:txBody>
      </p:sp>
      <p:sp>
        <p:nvSpPr>
          <p:cNvPr id="10" name="文本框 9"/>
          <p:cNvSpPr txBox="1"/>
          <p:nvPr/>
        </p:nvSpPr>
        <p:spPr>
          <a:xfrm>
            <a:off x="2503936" y="1611473"/>
            <a:ext cx="4759703"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研究背景</a:t>
            </a:r>
          </a:p>
        </p:txBody>
      </p:sp>
      <p:sp>
        <p:nvSpPr>
          <p:cNvPr id="12" name="椭圆 11"/>
          <p:cNvSpPr/>
          <p:nvPr/>
        </p:nvSpPr>
        <p:spPr>
          <a:xfrm>
            <a:off x="2064260" y="2717521"/>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2</a:t>
            </a:r>
            <a:endParaRPr lang="zh-CN" altLang="en-US" sz="1200" b="1" dirty="0">
              <a:solidFill>
                <a:schemeClr val="bg1"/>
              </a:solidFill>
              <a:latin typeface="微软雅黑" panose="020B0503020204020204" pitchFamily="34" charset="-122"/>
            </a:endParaRPr>
          </a:p>
        </p:txBody>
      </p:sp>
      <p:sp>
        <p:nvSpPr>
          <p:cNvPr id="13" name="文本框 12"/>
          <p:cNvSpPr txBox="1"/>
          <p:nvPr/>
        </p:nvSpPr>
        <p:spPr>
          <a:xfrm>
            <a:off x="2503535" y="2741016"/>
            <a:ext cx="6045678"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现有工作与发展趋势</a:t>
            </a:r>
          </a:p>
        </p:txBody>
      </p:sp>
      <p:sp>
        <p:nvSpPr>
          <p:cNvPr id="15" name="椭圆 14"/>
          <p:cNvSpPr/>
          <p:nvPr/>
        </p:nvSpPr>
        <p:spPr>
          <a:xfrm>
            <a:off x="2064260" y="3846513"/>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3</a:t>
            </a:r>
            <a:endParaRPr lang="zh-CN" altLang="en-US" sz="1200" b="1" dirty="0">
              <a:solidFill>
                <a:schemeClr val="bg1"/>
              </a:solidFill>
              <a:latin typeface="微软雅黑" panose="020B0503020204020204" pitchFamily="34" charset="-122"/>
            </a:endParaRPr>
          </a:p>
        </p:txBody>
      </p:sp>
      <p:sp>
        <p:nvSpPr>
          <p:cNvPr id="16" name="文本框 15"/>
          <p:cNvSpPr txBox="1"/>
          <p:nvPr/>
        </p:nvSpPr>
        <p:spPr>
          <a:xfrm>
            <a:off x="2503535" y="3871112"/>
            <a:ext cx="6276778"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研究内容</a:t>
            </a:r>
          </a:p>
        </p:txBody>
      </p:sp>
      <p:sp>
        <p:nvSpPr>
          <p:cNvPr id="18" name="椭圆 17"/>
          <p:cNvSpPr/>
          <p:nvPr/>
        </p:nvSpPr>
        <p:spPr>
          <a:xfrm>
            <a:off x="2064260" y="4974943"/>
            <a:ext cx="439356" cy="422241"/>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pitchFamily="34" charset="-122"/>
              </a:rPr>
              <a:t>4</a:t>
            </a:r>
            <a:endParaRPr lang="zh-CN" altLang="en-US" sz="1200" b="1" dirty="0">
              <a:solidFill>
                <a:schemeClr val="bg1"/>
              </a:solidFill>
              <a:latin typeface="微软雅黑" panose="020B0503020204020204" pitchFamily="34" charset="-122"/>
            </a:endParaRPr>
          </a:p>
        </p:txBody>
      </p:sp>
      <p:sp>
        <p:nvSpPr>
          <p:cNvPr id="20" name="文本框 19"/>
          <p:cNvSpPr txBox="1"/>
          <p:nvPr/>
        </p:nvSpPr>
        <p:spPr>
          <a:xfrm>
            <a:off x="2503936" y="5000372"/>
            <a:ext cx="3701845" cy="460375"/>
          </a:xfrm>
          <a:prstGeom prst="rect">
            <a:avLst/>
          </a:prstGeom>
          <a:noFill/>
        </p:spPr>
        <p:txBody>
          <a:bodyPr wrap="square" rtlCol="0">
            <a:spAutoFit/>
          </a:bodyPr>
          <a:lstStyle/>
          <a:p>
            <a:pPr algn="just"/>
            <a:r>
              <a:rPr lang="zh-CN" altLang="en-US" sz="2400" dirty="0">
                <a:latin typeface="黑体" panose="02010609060101010101" pitchFamily="49" charset="-122"/>
                <a:ea typeface="黑体" panose="02010609060101010101" pitchFamily="49" charset="-122"/>
              </a:rPr>
              <a:t>总结与展望</a:t>
            </a:r>
          </a:p>
        </p:txBody>
      </p: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283717" y="671357"/>
            <a:ext cx="1067698" cy="846563"/>
          </a:xfrm>
          <a:prstGeom prst="rect">
            <a:avLst/>
          </a:prstGeom>
        </p:spPr>
      </p:pic>
      <p:sp>
        <p:nvSpPr>
          <p:cNvPr id="11" name="灯片编号占位符 10"/>
          <p:cNvSpPr>
            <a:spLocks noGrp="1"/>
          </p:cNvSpPr>
          <p:nvPr>
            <p:ph type="sldNum" sz="quarter" idx="12"/>
          </p:nvPr>
        </p:nvSpPr>
        <p:spPr/>
        <p:txBody>
          <a:bodyPr/>
          <a:lstStyle/>
          <a:p>
            <a:fld id="{F46799FB-52B8-4698-BECF-01ADD9E846BE}"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142F-70D3-A08B-24C5-56D0BA56A1F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F007864-6BBC-39BA-2762-E7E28894190E}"/>
              </a:ext>
            </a:extLst>
          </p:cNvPr>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研究背景</a:t>
            </a:r>
          </a:p>
        </p:txBody>
      </p:sp>
      <p:sp>
        <p:nvSpPr>
          <p:cNvPr id="5" name="文本框 4">
            <a:extLst>
              <a:ext uri="{FF2B5EF4-FFF2-40B4-BE49-F238E27FC236}">
                <a16:creationId xmlns:a16="http://schemas.microsoft.com/office/drawing/2014/main" id="{3A6DEEDC-4931-4F7F-83FF-E7228AF5C415}"/>
              </a:ext>
            </a:extLst>
          </p:cNvPr>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什么是立体匹配</a:t>
            </a:r>
          </a:p>
        </p:txBody>
      </p:sp>
      <p:cxnSp>
        <p:nvCxnSpPr>
          <p:cNvPr id="6" name="直接连接符 5">
            <a:extLst>
              <a:ext uri="{FF2B5EF4-FFF2-40B4-BE49-F238E27FC236}">
                <a16:creationId xmlns:a16="http://schemas.microsoft.com/office/drawing/2014/main" id="{0614B8BA-1B70-7036-AB3D-A9DA47811E21}"/>
              </a:ext>
            </a:extLst>
          </p:cNvPr>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a:extLst>
              <a:ext uri="{FF2B5EF4-FFF2-40B4-BE49-F238E27FC236}">
                <a16:creationId xmlns:a16="http://schemas.microsoft.com/office/drawing/2014/main" id="{111B0150-3A13-43D5-BED0-6D2BE0756290}"/>
              </a:ext>
            </a:extLst>
          </p:cNvPr>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48" name="右箭头 47">
            <a:extLst>
              <a:ext uri="{FF2B5EF4-FFF2-40B4-BE49-F238E27FC236}">
                <a16:creationId xmlns:a16="http://schemas.microsoft.com/office/drawing/2014/main" id="{639C67FC-B232-5228-ADEF-B8AE591BACF0}"/>
              </a:ext>
            </a:extLst>
          </p:cNvPr>
          <p:cNvSpPr/>
          <p:nvPr/>
        </p:nvSpPr>
        <p:spPr>
          <a:xfrm>
            <a:off x="3893185" y="2519680"/>
            <a:ext cx="638810" cy="26543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zh-CN" altLang="en-US"/>
          </a:p>
        </p:txBody>
      </p:sp>
      <p:sp>
        <p:nvSpPr>
          <p:cNvPr id="58" name="文本框 57">
            <a:extLst>
              <a:ext uri="{FF2B5EF4-FFF2-40B4-BE49-F238E27FC236}">
                <a16:creationId xmlns:a16="http://schemas.microsoft.com/office/drawing/2014/main" id="{CD34A872-4FBA-D074-518C-B65C66F343AC}"/>
              </a:ext>
            </a:extLst>
          </p:cNvPr>
          <p:cNvSpPr txBox="1"/>
          <p:nvPr/>
        </p:nvSpPr>
        <p:spPr>
          <a:xfrm>
            <a:off x="9232462" y="2513775"/>
            <a:ext cx="877163" cy="369332"/>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深度图</a:t>
            </a:r>
          </a:p>
        </p:txBody>
      </p:sp>
      <p:sp>
        <p:nvSpPr>
          <p:cNvPr id="13" name="文本框 12">
            <a:extLst>
              <a:ext uri="{FF2B5EF4-FFF2-40B4-BE49-F238E27FC236}">
                <a16:creationId xmlns:a16="http://schemas.microsoft.com/office/drawing/2014/main" id="{44E9DB94-208F-3A06-72E0-F106811D44D5}"/>
              </a:ext>
            </a:extLst>
          </p:cNvPr>
          <p:cNvSpPr txBox="1"/>
          <p:nvPr/>
        </p:nvSpPr>
        <p:spPr>
          <a:xfrm>
            <a:off x="904649" y="1503078"/>
            <a:ext cx="8424101" cy="400110"/>
          </a:xfrm>
          <a:prstGeom prst="rect">
            <a:avLst/>
          </a:prstGeom>
          <a:noFill/>
        </p:spPr>
        <p:txBody>
          <a:bodyPr wrap="none" rtlCol="0">
            <a:spAutoFit/>
          </a:bodyPr>
          <a:lstStyle/>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sym typeface="+mn-ea"/>
              </a:rPr>
              <a:t>立体匹配：从一对经过极线矫正的图像中估计稠密的像素级视差的过程</a:t>
            </a:r>
            <a:endParaRPr lang="zh-CN" altLang="en-US" sz="2000" dirty="0">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D40CCCAC-2A0D-A395-984B-FB2C7B869C9E}"/>
              </a:ext>
            </a:extLst>
          </p:cNvPr>
          <p:cNvSpPr>
            <a:spLocks noGrp="1"/>
          </p:cNvSpPr>
          <p:nvPr>
            <p:ph type="sldNum" sz="quarter" idx="12"/>
          </p:nvPr>
        </p:nvSpPr>
        <p:spPr/>
        <p:txBody>
          <a:bodyPr/>
          <a:lstStyle/>
          <a:p>
            <a:fld id="{F46799FB-52B8-4698-BECF-01ADD9E846BE}" type="slidenum">
              <a:rPr lang="zh-CN" altLang="en-US" smtClean="0"/>
              <a:t>3</a:t>
            </a:fld>
            <a:endParaRPr lang="zh-CN" altLang="en-US"/>
          </a:p>
        </p:txBody>
      </p:sp>
      <p:pic>
        <p:nvPicPr>
          <p:cNvPr id="7" name="图片 6">
            <a:extLst>
              <a:ext uri="{FF2B5EF4-FFF2-40B4-BE49-F238E27FC236}">
                <a16:creationId xmlns:a16="http://schemas.microsoft.com/office/drawing/2014/main" id="{35EDECCD-6549-F00A-AF66-BCBB9FE91BF6}"/>
              </a:ext>
            </a:extLst>
          </p:cNvPr>
          <p:cNvPicPr>
            <a:picLocks noChangeAspect="1"/>
          </p:cNvPicPr>
          <p:nvPr/>
        </p:nvPicPr>
        <p:blipFill>
          <a:blip r:embed="rId4"/>
          <a:stretch>
            <a:fillRect/>
          </a:stretch>
        </p:blipFill>
        <p:spPr>
          <a:xfrm>
            <a:off x="88265" y="2123440"/>
            <a:ext cx="3547745" cy="1052195"/>
          </a:xfrm>
          <a:prstGeom prst="rect">
            <a:avLst/>
          </a:prstGeom>
        </p:spPr>
      </p:pic>
      <p:pic>
        <p:nvPicPr>
          <p:cNvPr id="8" name="图片 7">
            <a:extLst>
              <a:ext uri="{FF2B5EF4-FFF2-40B4-BE49-F238E27FC236}">
                <a16:creationId xmlns:a16="http://schemas.microsoft.com/office/drawing/2014/main" id="{67716705-5E5D-DCA5-98F5-6ADDCC00B9CC}"/>
              </a:ext>
            </a:extLst>
          </p:cNvPr>
          <p:cNvPicPr>
            <a:picLocks noChangeAspect="1"/>
          </p:cNvPicPr>
          <p:nvPr/>
        </p:nvPicPr>
        <p:blipFill>
          <a:blip r:embed="rId5"/>
          <a:stretch>
            <a:fillRect/>
          </a:stretch>
        </p:blipFill>
        <p:spPr>
          <a:xfrm>
            <a:off x="4636770" y="2075180"/>
            <a:ext cx="3675380" cy="1101725"/>
          </a:xfrm>
          <a:prstGeom prst="rect">
            <a:avLst/>
          </a:prstGeom>
        </p:spPr>
      </p:pic>
      <p:sp>
        <p:nvSpPr>
          <p:cNvPr id="15" name="右箭头 14">
            <a:extLst>
              <a:ext uri="{FF2B5EF4-FFF2-40B4-BE49-F238E27FC236}">
                <a16:creationId xmlns:a16="http://schemas.microsoft.com/office/drawing/2014/main" id="{1718CECA-5587-3639-640B-84A7260FC0C6}"/>
              </a:ext>
            </a:extLst>
          </p:cNvPr>
          <p:cNvSpPr/>
          <p:nvPr/>
        </p:nvSpPr>
        <p:spPr>
          <a:xfrm>
            <a:off x="8416925" y="2513965"/>
            <a:ext cx="791210" cy="271145"/>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8A7CD6FB-A64E-AFC5-373D-4455698BF326}"/>
              </a:ext>
            </a:extLst>
          </p:cNvPr>
          <p:cNvSpPr txBox="1"/>
          <p:nvPr/>
        </p:nvSpPr>
        <p:spPr>
          <a:xfrm>
            <a:off x="10799802" y="2973412"/>
            <a:ext cx="1107996" cy="369332"/>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下游任务</a:t>
            </a:r>
          </a:p>
        </p:txBody>
      </p:sp>
      <p:sp>
        <p:nvSpPr>
          <p:cNvPr id="18" name="文本框 17">
            <a:extLst>
              <a:ext uri="{FF2B5EF4-FFF2-40B4-BE49-F238E27FC236}">
                <a16:creationId xmlns:a16="http://schemas.microsoft.com/office/drawing/2014/main" id="{75F6AAEB-D62F-27C5-3517-442C1BD6048E}"/>
              </a:ext>
            </a:extLst>
          </p:cNvPr>
          <p:cNvSpPr txBox="1"/>
          <p:nvPr/>
        </p:nvSpPr>
        <p:spPr>
          <a:xfrm>
            <a:off x="3707341" y="2868740"/>
            <a:ext cx="1005403"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立体匹配</a:t>
            </a:r>
          </a:p>
        </p:txBody>
      </p:sp>
      <p:pic>
        <p:nvPicPr>
          <p:cNvPr id="20" name="图片 19">
            <a:extLst>
              <a:ext uri="{FF2B5EF4-FFF2-40B4-BE49-F238E27FC236}">
                <a16:creationId xmlns:a16="http://schemas.microsoft.com/office/drawing/2014/main" id="{B99BA428-66AF-5648-6FDD-8A36DC43F632}"/>
              </a:ext>
            </a:extLst>
          </p:cNvPr>
          <p:cNvPicPr>
            <a:picLocks noChangeAspect="1"/>
          </p:cNvPicPr>
          <p:nvPr/>
        </p:nvPicPr>
        <p:blipFill>
          <a:blip r:embed="rId4"/>
          <a:stretch>
            <a:fillRect/>
          </a:stretch>
        </p:blipFill>
        <p:spPr>
          <a:xfrm>
            <a:off x="215265" y="2250440"/>
            <a:ext cx="3547745" cy="1052195"/>
          </a:xfrm>
          <a:prstGeom prst="rect">
            <a:avLst/>
          </a:prstGeom>
        </p:spPr>
      </p:pic>
      <p:sp>
        <p:nvSpPr>
          <p:cNvPr id="21" name="文本框 20">
            <a:extLst>
              <a:ext uri="{FF2B5EF4-FFF2-40B4-BE49-F238E27FC236}">
                <a16:creationId xmlns:a16="http://schemas.microsoft.com/office/drawing/2014/main" id="{87640177-05E3-42E8-C37D-3A3428C8AF53}"/>
              </a:ext>
            </a:extLst>
          </p:cNvPr>
          <p:cNvSpPr txBox="1"/>
          <p:nvPr/>
        </p:nvSpPr>
        <p:spPr>
          <a:xfrm>
            <a:off x="1354121" y="3360230"/>
            <a:ext cx="888385"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右图</a:t>
            </a:r>
          </a:p>
        </p:txBody>
      </p:sp>
      <p:sp>
        <p:nvSpPr>
          <p:cNvPr id="22" name="文本框 21">
            <a:extLst>
              <a:ext uri="{FF2B5EF4-FFF2-40B4-BE49-F238E27FC236}">
                <a16:creationId xmlns:a16="http://schemas.microsoft.com/office/drawing/2014/main" id="{8986A36D-C467-8C2E-0F0B-3B578F3CB744}"/>
              </a:ext>
            </a:extLst>
          </p:cNvPr>
          <p:cNvSpPr txBox="1"/>
          <p:nvPr/>
        </p:nvSpPr>
        <p:spPr>
          <a:xfrm>
            <a:off x="6049579" y="3302445"/>
            <a:ext cx="800219" cy="338554"/>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视差图</a:t>
            </a:r>
          </a:p>
        </p:txBody>
      </p:sp>
      <p:sp>
        <p:nvSpPr>
          <p:cNvPr id="23" name="文本框 22">
            <a:extLst>
              <a:ext uri="{FF2B5EF4-FFF2-40B4-BE49-F238E27FC236}">
                <a16:creationId xmlns:a16="http://schemas.microsoft.com/office/drawing/2014/main" id="{96393B1F-C1CA-9270-E6E7-20A7DADB4D33}"/>
              </a:ext>
            </a:extLst>
          </p:cNvPr>
          <p:cNvSpPr txBox="1"/>
          <p:nvPr/>
        </p:nvSpPr>
        <p:spPr>
          <a:xfrm>
            <a:off x="8361256" y="2784920"/>
            <a:ext cx="1005403" cy="830997"/>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结合相机</a:t>
            </a:r>
          </a:p>
          <a:p>
            <a:pPr algn="ctr"/>
            <a:r>
              <a:rPr lang="zh-CN" altLang="en-US" sz="1600" dirty="0">
                <a:latin typeface="微软雅黑" panose="020B0503020204020204" pitchFamily="34" charset="-122"/>
                <a:ea typeface="微软雅黑" panose="020B0503020204020204" pitchFamily="34" charset="-122"/>
              </a:rPr>
              <a:t>参数进行</a:t>
            </a:r>
          </a:p>
          <a:p>
            <a:pPr algn="ctr"/>
            <a:r>
              <a:rPr lang="zh-CN" altLang="en-US" sz="1600" dirty="0">
                <a:latin typeface="微软雅黑" panose="020B0503020204020204" pitchFamily="34" charset="-122"/>
                <a:ea typeface="微软雅黑" panose="020B0503020204020204" pitchFamily="34" charset="-122"/>
              </a:rPr>
              <a:t>变换</a:t>
            </a:r>
          </a:p>
        </p:txBody>
      </p:sp>
      <p:sp>
        <p:nvSpPr>
          <p:cNvPr id="3" name="文本框 2">
            <a:extLst>
              <a:ext uri="{FF2B5EF4-FFF2-40B4-BE49-F238E27FC236}">
                <a16:creationId xmlns:a16="http://schemas.microsoft.com/office/drawing/2014/main" id="{00F924E9-8ABB-B1B8-983B-51D9CEFC9FA1}"/>
              </a:ext>
            </a:extLst>
          </p:cNvPr>
          <p:cNvSpPr txBox="1"/>
          <p:nvPr/>
        </p:nvSpPr>
        <p:spPr>
          <a:xfrm>
            <a:off x="385944" y="5917429"/>
            <a:ext cx="11161240" cy="581057"/>
          </a:xfrm>
          <a:prstGeom prst="rect">
            <a:avLst/>
          </a:prstGeom>
          <a:noFill/>
        </p:spPr>
        <p:txBody>
          <a:bodyPr wrap="square">
            <a:spAutoFit/>
          </a:bodyPr>
          <a:lstStyle/>
          <a:p>
            <a:pPr algn="ctr">
              <a:lnSpc>
                <a:spcPct val="150000"/>
              </a:lnSpc>
            </a:pPr>
            <a:r>
              <a:rPr lang="zh-CN" altLang="en-US" sz="2400" dirty="0">
                <a:latin typeface="微软雅黑" panose="020B0503020204020204" pitchFamily="34" charset="-122"/>
                <a:ea typeface="微软雅黑" panose="020B0503020204020204" pitchFamily="34" charset="-122"/>
              </a:rPr>
              <a:t>立体匹配是自动驾驶、增强现实、机器人导航等重点发展领域的关键技术</a:t>
            </a:r>
            <a:endParaRPr lang="en-US" altLang="zh-CN" sz="2400" dirty="0">
              <a:latin typeface="微软雅黑" panose="020B0503020204020204" pitchFamily="34" charset="-122"/>
              <a:ea typeface="微软雅黑" panose="020B0503020204020204" pitchFamily="34" charset="-122"/>
            </a:endParaRPr>
          </a:p>
        </p:txBody>
      </p:sp>
      <p:pic>
        <p:nvPicPr>
          <p:cNvPr id="9" name="图片 8" descr="1">
            <a:extLst>
              <a:ext uri="{FF2B5EF4-FFF2-40B4-BE49-F238E27FC236}">
                <a16:creationId xmlns:a16="http://schemas.microsoft.com/office/drawing/2014/main" id="{97B45619-867B-9361-FDB0-6A90A8D605DB}"/>
              </a:ext>
            </a:extLst>
          </p:cNvPr>
          <p:cNvPicPr>
            <a:picLocks noChangeAspect="1"/>
          </p:cNvPicPr>
          <p:nvPr/>
        </p:nvPicPr>
        <p:blipFill>
          <a:blip r:embed="rId6"/>
          <a:stretch>
            <a:fillRect/>
          </a:stretch>
        </p:blipFill>
        <p:spPr>
          <a:xfrm>
            <a:off x="1575435" y="3789045"/>
            <a:ext cx="2962275" cy="1762760"/>
          </a:xfrm>
          <a:prstGeom prst="rect">
            <a:avLst/>
          </a:prstGeom>
        </p:spPr>
      </p:pic>
      <p:sp>
        <p:nvSpPr>
          <p:cNvPr id="10" name="矩形 9">
            <a:extLst>
              <a:ext uri="{FF2B5EF4-FFF2-40B4-BE49-F238E27FC236}">
                <a16:creationId xmlns:a16="http://schemas.microsoft.com/office/drawing/2014/main" id="{EB3307AB-0662-44B0-DB2C-DCCCBA556002}"/>
              </a:ext>
            </a:extLst>
          </p:cNvPr>
          <p:cNvSpPr/>
          <p:nvPr/>
        </p:nvSpPr>
        <p:spPr>
          <a:xfrm>
            <a:off x="2351145" y="5564474"/>
            <a:ext cx="1461398" cy="338554"/>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自动驾驶</a:t>
            </a:r>
          </a:p>
        </p:txBody>
      </p:sp>
      <p:pic>
        <p:nvPicPr>
          <p:cNvPr id="11" name="Picture 8" descr="https://img1.baidu.com/it/u=4052114625,851654314&amp;fm=253&amp;fmt=auto&amp;app=120&amp;f=JPEG?w=1280&amp;h=640">
            <a:extLst>
              <a:ext uri="{FF2B5EF4-FFF2-40B4-BE49-F238E27FC236}">
                <a16:creationId xmlns:a16="http://schemas.microsoft.com/office/drawing/2014/main" id="{5A7EE817-71C0-F98D-875F-F878E7C8A338}"/>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31621"/>
          <a:stretch>
            <a:fillRect/>
          </a:stretch>
        </p:blipFill>
        <p:spPr bwMode="auto">
          <a:xfrm>
            <a:off x="5283417" y="3800145"/>
            <a:ext cx="2829234" cy="1745806"/>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B92BB33A-57F3-EE65-68BE-422083584609}"/>
              </a:ext>
            </a:extLst>
          </p:cNvPr>
          <p:cNvSpPr/>
          <p:nvPr/>
        </p:nvSpPr>
        <p:spPr>
          <a:xfrm>
            <a:off x="5966564" y="5564474"/>
            <a:ext cx="1461398" cy="338554"/>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增强现实</a:t>
            </a:r>
          </a:p>
        </p:txBody>
      </p:sp>
      <p:pic>
        <p:nvPicPr>
          <p:cNvPr id="14" name="图片 13" descr="1">
            <a:extLst>
              <a:ext uri="{FF2B5EF4-FFF2-40B4-BE49-F238E27FC236}">
                <a16:creationId xmlns:a16="http://schemas.microsoft.com/office/drawing/2014/main" id="{C1C93283-8E12-ACCC-5BCF-9714BC5316A2}"/>
              </a:ext>
            </a:extLst>
          </p:cNvPr>
          <p:cNvPicPr>
            <a:picLocks noChangeAspect="1"/>
          </p:cNvPicPr>
          <p:nvPr/>
        </p:nvPicPr>
        <p:blipFill>
          <a:blip r:embed="rId8"/>
          <a:stretch>
            <a:fillRect/>
          </a:stretch>
        </p:blipFill>
        <p:spPr>
          <a:xfrm>
            <a:off x="8777605" y="3802380"/>
            <a:ext cx="2390140" cy="1740535"/>
          </a:xfrm>
          <a:prstGeom prst="rect">
            <a:avLst/>
          </a:prstGeom>
        </p:spPr>
      </p:pic>
      <p:sp>
        <p:nvSpPr>
          <p:cNvPr id="24" name="矩形 23">
            <a:extLst>
              <a:ext uri="{FF2B5EF4-FFF2-40B4-BE49-F238E27FC236}">
                <a16:creationId xmlns:a16="http://schemas.microsoft.com/office/drawing/2014/main" id="{93DF1E4E-9CC3-6932-149E-4EACDB25A55B}"/>
              </a:ext>
            </a:extLst>
          </p:cNvPr>
          <p:cNvSpPr/>
          <p:nvPr/>
        </p:nvSpPr>
        <p:spPr>
          <a:xfrm>
            <a:off x="9241530" y="5539709"/>
            <a:ext cx="1461398" cy="338554"/>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机器人导航</a:t>
            </a:r>
          </a:p>
        </p:txBody>
      </p:sp>
      <p:sp>
        <p:nvSpPr>
          <p:cNvPr id="25" name="箭头: 右弧形 24">
            <a:extLst>
              <a:ext uri="{FF2B5EF4-FFF2-40B4-BE49-F238E27FC236}">
                <a16:creationId xmlns:a16="http://schemas.microsoft.com/office/drawing/2014/main" id="{CC80D1A6-40D3-EAAD-462F-E318209C8D95}"/>
              </a:ext>
            </a:extLst>
          </p:cNvPr>
          <p:cNvSpPr/>
          <p:nvPr/>
        </p:nvSpPr>
        <p:spPr>
          <a:xfrm>
            <a:off x="10214224" y="2666624"/>
            <a:ext cx="568172" cy="886755"/>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568272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
            <a:extLst>
              <a:ext uri="{FF2B5EF4-FFF2-40B4-BE49-F238E27FC236}">
                <a16:creationId xmlns:a16="http://schemas.microsoft.com/office/drawing/2014/main" id="{C4BA0ADF-0B8F-E731-C171-2EBA95F549F7}"/>
              </a:ext>
            </a:extLst>
          </p:cNvPr>
          <p:cNvSpPr/>
          <p:nvPr>
            <p:custDataLst>
              <p:tags r:id="rId1"/>
            </p:custDataLst>
          </p:nvPr>
        </p:nvSpPr>
        <p:spPr>
          <a:xfrm>
            <a:off x="8136473" y="2464633"/>
            <a:ext cx="3575804" cy="3392483"/>
          </a:xfrm>
          <a:prstGeom prst="roundRect">
            <a:avLst>
              <a:gd name="adj" fmla="val 4036"/>
            </a:avLst>
          </a:prstGeom>
          <a:ln w="6350">
            <a:solidFill>
              <a:srgbClr val="000128"/>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50" name="圆角矩形 4">
            <a:extLst>
              <a:ext uri="{FF2B5EF4-FFF2-40B4-BE49-F238E27FC236}">
                <a16:creationId xmlns:a16="http://schemas.microsoft.com/office/drawing/2014/main" id="{ADCBC6C9-C569-3553-F6FB-237913363DF6}"/>
              </a:ext>
            </a:extLst>
          </p:cNvPr>
          <p:cNvSpPr/>
          <p:nvPr>
            <p:custDataLst>
              <p:tags r:id="rId2"/>
            </p:custDataLst>
          </p:nvPr>
        </p:nvSpPr>
        <p:spPr>
          <a:xfrm>
            <a:off x="4297448" y="2464633"/>
            <a:ext cx="3575804" cy="3392483"/>
          </a:xfrm>
          <a:prstGeom prst="roundRect">
            <a:avLst>
              <a:gd name="adj" fmla="val 4036"/>
            </a:avLst>
          </a:prstGeom>
          <a:ln w="6350">
            <a:solidFill>
              <a:srgbClr val="000128"/>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47" name="圆角矩形 4">
            <a:extLst>
              <a:ext uri="{FF2B5EF4-FFF2-40B4-BE49-F238E27FC236}">
                <a16:creationId xmlns:a16="http://schemas.microsoft.com/office/drawing/2014/main" id="{2F66AB19-2FB2-9B96-B6A4-1190930BE184}"/>
              </a:ext>
            </a:extLst>
          </p:cNvPr>
          <p:cNvSpPr/>
          <p:nvPr>
            <p:custDataLst>
              <p:tags r:id="rId3"/>
            </p:custDataLst>
          </p:nvPr>
        </p:nvSpPr>
        <p:spPr>
          <a:xfrm>
            <a:off x="421412" y="2464634"/>
            <a:ext cx="3575804" cy="3392483"/>
          </a:xfrm>
          <a:prstGeom prst="roundRect">
            <a:avLst>
              <a:gd name="adj" fmla="val 4036"/>
            </a:avLst>
          </a:prstGeom>
          <a:ln w="6350">
            <a:solidFill>
              <a:srgbClr val="000128"/>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4" name="文本框 3"/>
          <p:cNvSpPr txBox="1"/>
          <p:nvPr/>
        </p:nvSpPr>
        <p:spPr>
          <a:xfrm>
            <a:off x="796413" y="424879"/>
            <a:ext cx="2839450" cy="521970"/>
          </a:xfrm>
          <a:prstGeom prst="rect">
            <a:avLst/>
          </a:prstGeom>
          <a:noFill/>
        </p:spPr>
        <p:txBody>
          <a:bodyPr wrap="square" rtlCol="0">
            <a:sp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研究背景</a:t>
            </a:r>
          </a:p>
        </p:txBody>
      </p:sp>
      <p:sp>
        <p:nvSpPr>
          <p:cNvPr id="5" name="文本框 4"/>
          <p:cNvSpPr txBox="1"/>
          <p:nvPr/>
        </p:nvSpPr>
        <p:spPr>
          <a:xfrm>
            <a:off x="904875" y="923925"/>
            <a:ext cx="5602605"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泛化立体匹配泛面临的挑战</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9"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2" name="灯片编号占位符 1"/>
          <p:cNvSpPr>
            <a:spLocks noGrp="1"/>
          </p:cNvSpPr>
          <p:nvPr>
            <p:ph type="sldNum" sz="quarter" idx="12"/>
          </p:nvPr>
        </p:nvSpPr>
        <p:spPr/>
        <p:txBody>
          <a:bodyPr/>
          <a:lstStyle/>
          <a:p>
            <a:fld id="{F46799FB-52B8-4698-BECF-01ADD9E846BE}" type="slidenum">
              <a:rPr lang="zh-CN" altLang="en-US" smtClean="0"/>
              <a:t>4</a:t>
            </a:fld>
            <a:endParaRPr lang="zh-CN" altLang="en-US"/>
          </a:p>
        </p:txBody>
      </p:sp>
      <p:sp>
        <p:nvSpPr>
          <p:cNvPr id="19" name="文本框 18"/>
          <p:cNvSpPr txBox="1"/>
          <p:nvPr/>
        </p:nvSpPr>
        <p:spPr>
          <a:xfrm>
            <a:off x="904875" y="1471580"/>
            <a:ext cx="11287760" cy="400110"/>
          </a:xfrm>
          <a:prstGeom prst="rect">
            <a:avLst/>
          </a:prstGeom>
          <a:noFill/>
        </p:spPr>
        <p:txBody>
          <a:bodyPr wrap="square" rtlCol="0">
            <a:spAutoFit/>
          </a:bodyPr>
          <a:lstStyle/>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开放场景下，泛化立体匹配面临的挑战：</a:t>
            </a:r>
          </a:p>
        </p:txBody>
      </p:sp>
      <p:pic>
        <p:nvPicPr>
          <p:cNvPr id="3" name="图片 2">
            <a:extLst>
              <a:ext uri="{FF2B5EF4-FFF2-40B4-BE49-F238E27FC236}">
                <a16:creationId xmlns:a16="http://schemas.microsoft.com/office/drawing/2014/main" id="{9AA523D2-9396-CC44-CEA8-AAC1E1BFDA0C}"/>
              </a:ext>
            </a:extLst>
          </p:cNvPr>
          <p:cNvPicPr>
            <a:picLocks noChangeAspect="1"/>
          </p:cNvPicPr>
          <p:nvPr/>
        </p:nvPicPr>
        <p:blipFill>
          <a:blip r:embed="rId10"/>
          <a:stretch>
            <a:fillRect/>
          </a:stretch>
        </p:blipFill>
        <p:spPr>
          <a:xfrm>
            <a:off x="1083777" y="3033636"/>
            <a:ext cx="2336438" cy="2685181"/>
          </a:xfrm>
          <a:prstGeom prst="rect">
            <a:avLst/>
          </a:prstGeom>
        </p:spPr>
      </p:pic>
      <p:sp>
        <p:nvSpPr>
          <p:cNvPr id="10" name="文本框 9">
            <a:extLst>
              <a:ext uri="{FF2B5EF4-FFF2-40B4-BE49-F238E27FC236}">
                <a16:creationId xmlns:a16="http://schemas.microsoft.com/office/drawing/2014/main" id="{EE0F2EDA-2C00-673E-157E-0F83C46A73C1}"/>
              </a:ext>
            </a:extLst>
          </p:cNvPr>
          <p:cNvSpPr txBox="1"/>
          <p:nvPr>
            <p:custDataLst>
              <p:tags r:id="rId4"/>
            </p:custDataLst>
          </p:nvPr>
        </p:nvSpPr>
        <p:spPr>
          <a:xfrm>
            <a:off x="620725" y="2542181"/>
            <a:ext cx="3389630" cy="460375"/>
          </a:xfrm>
          <a:prstGeom prst="rect">
            <a:avLst/>
          </a:prstGeom>
          <a:noFill/>
        </p:spPr>
        <p:txBody>
          <a:bodyPr wrap="square">
            <a:spAutoFit/>
          </a:bodyPr>
          <a:lstStyle/>
          <a:p>
            <a:pPr algn="ctr"/>
            <a:r>
              <a:rPr lang="zh-CN" altLang="en-US" sz="2400" b="1" dirty="0">
                <a:latin typeface="微软雅黑" panose="020B0503020204020204" pitchFamily="34" charset="-122"/>
                <a:ea typeface="微软雅黑" panose="020B0503020204020204" pitchFamily="34" charset="-122"/>
              </a:rPr>
              <a:t>仿真到真实存在</a:t>
            </a:r>
            <a:r>
              <a:rPr lang="zh-CN" altLang="en-US" sz="2400" b="1" dirty="0">
                <a:solidFill>
                  <a:srgbClr val="0A0AB6"/>
                </a:solidFill>
                <a:latin typeface="微软雅黑" panose="020B0503020204020204" pitchFamily="34" charset="-122"/>
                <a:ea typeface="微软雅黑" panose="020B0503020204020204" pitchFamily="34" charset="-122"/>
              </a:rPr>
              <a:t>域差异</a:t>
            </a:r>
          </a:p>
        </p:txBody>
      </p:sp>
      <p:sp>
        <p:nvSpPr>
          <p:cNvPr id="12" name="文本框 11">
            <a:extLst>
              <a:ext uri="{FF2B5EF4-FFF2-40B4-BE49-F238E27FC236}">
                <a16:creationId xmlns:a16="http://schemas.microsoft.com/office/drawing/2014/main" id="{909E19A2-BCB9-4F4F-3758-20FFB681EB37}"/>
              </a:ext>
            </a:extLst>
          </p:cNvPr>
          <p:cNvSpPr txBox="1"/>
          <p:nvPr>
            <p:custDataLst>
              <p:tags r:id="rId5"/>
            </p:custDataLst>
          </p:nvPr>
        </p:nvSpPr>
        <p:spPr>
          <a:xfrm>
            <a:off x="4871634" y="2545664"/>
            <a:ext cx="2338127" cy="46037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真实数据集</a:t>
            </a:r>
            <a:r>
              <a:rPr lang="zh-CN" altLang="en-US" sz="2400" b="1" dirty="0">
                <a:solidFill>
                  <a:srgbClr val="0A0AB6"/>
                </a:solidFill>
                <a:latin typeface="微软雅黑" panose="020B0503020204020204" pitchFamily="34" charset="-122"/>
                <a:ea typeface="微软雅黑" panose="020B0503020204020204" pitchFamily="34" charset="-122"/>
              </a:rPr>
              <a:t>有限</a:t>
            </a:r>
          </a:p>
        </p:txBody>
      </p:sp>
      <p:pic>
        <p:nvPicPr>
          <p:cNvPr id="24" name="图片 23">
            <a:extLst>
              <a:ext uri="{FF2B5EF4-FFF2-40B4-BE49-F238E27FC236}">
                <a16:creationId xmlns:a16="http://schemas.microsoft.com/office/drawing/2014/main" id="{40075159-F2DF-062A-14B9-B424F2574B40}"/>
              </a:ext>
            </a:extLst>
          </p:cNvPr>
          <p:cNvPicPr>
            <a:picLocks noChangeAspect="1"/>
          </p:cNvPicPr>
          <p:nvPr/>
        </p:nvPicPr>
        <p:blipFill>
          <a:blip r:embed="rId11"/>
          <a:stretch>
            <a:fillRect/>
          </a:stretch>
        </p:blipFill>
        <p:spPr>
          <a:xfrm>
            <a:off x="4838858" y="3033636"/>
            <a:ext cx="2484112" cy="1574357"/>
          </a:xfrm>
          <a:prstGeom prst="rect">
            <a:avLst/>
          </a:prstGeom>
        </p:spPr>
      </p:pic>
      <p:pic>
        <p:nvPicPr>
          <p:cNvPr id="25" name="图片 24">
            <a:extLst>
              <a:ext uri="{FF2B5EF4-FFF2-40B4-BE49-F238E27FC236}">
                <a16:creationId xmlns:a16="http://schemas.microsoft.com/office/drawing/2014/main" id="{099B2EDE-8E11-A853-629A-52EA4947379C}"/>
              </a:ext>
            </a:extLst>
          </p:cNvPr>
          <p:cNvPicPr>
            <a:picLocks noChangeAspect="1"/>
          </p:cNvPicPr>
          <p:nvPr/>
        </p:nvPicPr>
        <p:blipFill>
          <a:blip r:embed="rId12"/>
          <a:stretch>
            <a:fillRect/>
          </a:stretch>
        </p:blipFill>
        <p:spPr>
          <a:xfrm>
            <a:off x="4838859" y="4701568"/>
            <a:ext cx="2484111" cy="961222"/>
          </a:xfrm>
          <a:prstGeom prst="rect">
            <a:avLst/>
          </a:prstGeom>
        </p:spPr>
      </p:pic>
      <p:pic>
        <p:nvPicPr>
          <p:cNvPr id="34" name="图片 33">
            <a:extLst>
              <a:ext uri="{FF2B5EF4-FFF2-40B4-BE49-F238E27FC236}">
                <a16:creationId xmlns:a16="http://schemas.microsoft.com/office/drawing/2014/main" id="{10A74517-F39D-AE6C-0B6D-0C92C30A3527}"/>
              </a:ext>
            </a:extLst>
          </p:cNvPr>
          <p:cNvPicPr>
            <a:picLocks noChangeAspect="1"/>
          </p:cNvPicPr>
          <p:nvPr/>
        </p:nvPicPr>
        <p:blipFill>
          <a:blip r:embed="rId13"/>
          <a:stretch>
            <a:fillRect/>
          </a:stretch>
        </p:blipFill>
        <p:spPr>
          <a:xfrm>
            <a:off x="8396323" y="3765285"/>
            <a:ext cx="1620000" cy="1065150"/>
          </a:xfrm>
          <a:prstGeom prst="rect">
            <a:avLst/>
          </a:prstGeom>
        </p:spPr>
      </p:pic>
      <p:sp>
        <p:nvSpPr>
          <p:cNvPr id="38" name="文本框 37">
            <a:extLst>
              <a:ext uri="{FF2B5EF4-FFF2-40B4-BE49-F238E27FC236}">
                <a16:creationId xmlns:a16="http://schemas.microsoft.com/office/drawing/2014/main" id="{F46DA259-CBF1-78B0-4022-FBE010369393}"/>
              </a:ext>
            </a:extLst>
          </p:cNvPr>
          <p:cNvSpPr txBox="1"/>
          <p:nvPr>
            <p:custDataLst>
              <p:tags r:id="rId6"/>
            </p:custDataLst>
          </p:nvPr>
        </p:nvSpPr>
        <p:spPr>
          <a:xfrm>
            <a:off x="8839181" y="2563473"/>
            <a:ext cx="2338127" cy="46037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频率信息</a:t>
            </a:r>
            <a:r>
              <a:rPr lang="zh-CN" altLang="en-US" sz="2400" b="1" dirty="0">
                <a:solidFill>
                  <a:srgbClr val="0A0AB6"/>
                </a:solidFill>
                <a:latin typeface="微软雅黑" panose="020B0503020204020204" pitchFamily="34" charset="-122"/>
                <a:ea typeface="微软雅黑" panose="020B0503020204020204" pitchFamily="34" charset="-122"/>
              </a:rPr>
              <a:t>难利用</a:t>
            </a:r>
          </a:p>
        </p:txBody>
      </p:sp>
      <p:pic>
        <p:nvPicPr>
          <p:cNvPr id="39" name="图片 38">
            <a:extLst>
              <a:ext uri="{FF2B5EF4-FFF2-40B4-BE49-F238E27FC236}">
                <a16:creationId xmlns:a16="http://schemas.microsoft.com/office/drawing/2014/main" id="{89547B36-1E5B-00BE-FE54-501D2C532185}"/>
              </a:ext>
            </a:extLst>
          </p:cNvPr>
          <p:cNvPicPr>
            <a:picLocks noChangeAspect="1"/>
          </p:cNvPicPr>
          <p:nvPr/>
        </p:nvPicPr>
        <p:blipFill>
          <a:blip r:embed="rId13"/>
          <a:stretch>
            <a:fillRect/>
          </a:stretch>
        </p:blipFill>
        <p:spPr>
          <a:xfrm>
            <a:off x="8337521" y="3153735"/>
            <a:ext cx="1620000" cy="1065150"/>
          </a:xfrm>
          <a:prstGeom prst="rect">
            <a:avLst/>
          </a:prstGeom>
        </p:spPr>
      </p:pic>
      <p:pic>
        <p:nvPicPr>
          <p:cNvPr id="40" name="图片 39">
            <a:extLst>
              <a:ext uri="{FF2B5EF4-FFF2-40B4-BE49-F238E27FC236}">
                <a16:creationId xmlns:a16="http://schemas.microsoft.com/office/drawing/2014/main" id="{E51B850F-D41B-07B3-496C-3F9FEC3FF85F}"/>
              </a:ext>
            </a:extLst>
          </p:cNvPr>
          <p:cNvPicPr>
            <a:picLocks noChangeAspect="1"/>
          </p:cNvPicPr>
          <p:nvPr/>
        </p:nvPicPr>
        <p:blipFill>
          <a:blip r:embed="rId14"/>
          <a:stretch>
            <a:fillRect/>
          </a:stretch>
        </p:blipFill>
        <p:spPr>
          <a:xfrm>
            <a:off x="9954866" y="3153735"/>
            <a:ext cx="1620000" cy="1065150"/>
          </a:xfrm>
          <a:prstGeom prst="rect">
            <a:avLst/>
          </a:prstGeom>
        </p:spPr>
      </p:pic>
      <p:pic>
        <p:nvPicPr>
          <p:cNvPr id="41" name="图片 40">
            <a:extLst>
              <a:ext uri="{FF2B5EF4-FFF2-40B4-BE49-F238E27FC236}">
                <a16:creationId xmlns:a16="http://schemas.microsoft.com/office/drawing/2014/main" id="{86B909A6-3403-05FC-04B3-15E18BD50B30}"/>
              </a:ext>
            </a:extLst>
          </p:cNvPr>
          <p:cNvPicPr>
            <a:picLocks noChangeAspect="1"/>
          </p:cNvPicPr>
          <p:nvPr/>
        </p:nvPicPr>
        <p:blipFill>
          <a:blip r:embed="rId15"/>
          <a:stretch>
            <a:fillRect/>
          </a:stretch>
        </p:blipFill>
        <p:spPr>
          <a:xfrm>
            <a:off x="8332441" y="4218630"/>
            <a:ext cx="1620000" cy="1223100"/>
          </a:xfrm>
          <a:prstGeom prst="rect">
            <a:avLst/>
          </a:prstGeom>
        </p:spPr>
      </p:pic>
      <p:pic>
        <p:nvPicPr>
          <p:cNvPr id="42" name="图片 41">
            <a:extLst>
              <a:ext uri="{FF2B5EF4-FFF2-40B4-BE49-F238E27FC236}">
                <a16:creationId xmlns:a16="http://schemas.microsoft.com/office/drawing/2014/main" id="{2F38973E-D339-4551-4E28-F815EE4BED6E}"/>
              </a:ext>
            </a:extLst>
          </p:cNvPr>
          <p:cNvPicPr>
            <a:picLocks noChangeAspect="1"/>
          </p:cNvPicPr>
          <p:nvPr/>
        </p:nvPicPr>
        <p:blipFill>
          <a:blip r:embed="rId16"/>
          <a:stretch>
            <a:fillRect/>
          </a:stretch>
        </p:blipFill>
        <p:spPr>
          <a:xfrm>
            <a:off x="9952326" y="4218630"/>
            <a:ext cx="1620000" cy="1223100"/>
          </a:xfrm>
          <a:prstGeom prst="rect">
            <a:avLst/>
          </a:prstGeom>
        </p:spPr>
      </p:pic>
      <p:sp>
        <p:nvSpPr>
          <p:cNvPr id="43" name="文本框 42">
            <a:extLst>
              <a:ext uri="{FF2B5EF4-FFF2-40B4-BE49-F238E27FC236}">
                <a16:creationId xmlns:a16="http://schemas.microsoft.com/office/drawing/2014/main" id="{50F6A138-7CEA-F35F-9D39-FBD37039FC18}"/>
              </a:ext>
            </a:extLst>
          </p:cNvPr>
          <p:cNvSpPr txBox="1"/>
          <p:nvPr/>
        </p:nvSpPr>
        <p:spPr>
          <a:xfrm>
            <a:off x="462497" y="5987018"/>
            <a:ext cx="3493633"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域差异让网络难以提取真实特征</a:t>
            </a:r>
          </a:p>
        </p:txBody>
      </p:sp>
      <p:sp>
        <p:nvSpPr>
          <p:cNvPr id="44" name="文本框 43">
            <a:extLst>
              <a:ext uri="{FF2B5EF4-FFF2-40B4-BE49-F238E27FC236}">
                <a16:creationId xmlns:a16="http://schemas.microsoft.com/office/drawing/2014/main" id="{979D7540-F2B8-AE4E-1D05-53AA54B3B0A7}"/>
              </a:ext>
            </a:extLst>
          </p:cNvPr>
          <p:cNvSpPr txBox="1"/>
          <p:nvPr/>
        </p:nvSpPr>
        <p:spPr>
          <a:xfrm>
            <a:off x="4229601" y="5912310"/>
            <a:ext cx="3493633" cy="646331"/>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合成数据集</a:t>
            </a:r>
            <a:r>
              <a:rPr lang="en-US" altLang="zh-CN" dirty="0">
                <a:latin typeface="微软雅黑" panose="020B0503020204020204" pitchFamily="34" charset="-122"/>
                <a:ea typeface="微软雅黑" panose="020B0503020204020204" pitchFamily="34" charset="-122"/>
              </a:rPr>
              <a:t>:10k~1000k</a:t>
            </a:r>
          </a:p>
          <a:p>
            <a:pPr algn="ctr"/>
            <a:r>
              <a:rPr lang="zh-CN" altLang="en-US" dirty="0">
                <a:latin typeface="微软雅黑" panose="020B0503020204020204" pitchFamily="34" charset="-122"/>
                <a:ea typeface="微软雅黑" panose="020B0503020204020204" pitchFamily="34" charset="-122"/>
              </a:rPr>
              <a:t>真实数据集：</a:t>
            </a:r>
            <a:r>
              <a:rPr lang="en-US" altLang="zh-CN" dirty="0">
                <a:latin typeface="微软雅黑" panose="020B0503020204020204" pitchFamily="34" charset="-122"/>
                <a:ea typeface="微软雅黑" panose="020B0503020204020204" pitchFamily="34" charset="-122"/>
              </a:rPr>
              <a:t>10~10k</a:t>
            </a:r>
            <a:endParaRPr lang="zh-CN" altLang="en-US" dirty="0">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CCC4F874-43FF-43F1-4431-83CB20012D11}"/>
              </a:ext>
            </a:extLst>
          </p:cNvPr>
          <p:cNvSpPr txBox="1"/>
          <p:nvPr/>
        </p:nvSpPr>
        <p:spPr>
          <a:xfrm>
            <a:off x="8332441" y="6014992"/>
            <a:ext cx="3493633"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病态区域易误匹配</a:t>
            </a:r>
          </a:p>
        </p:txBody>
      </p:sp>
      <p:sp>
        <p:nvSpPr>
          <p:cNvPr id="46" name="文本框 45">
            <a:extLst>
              <a:ext uri="{FF2B5EF4-FFF2-40B4-BE49-F238E27FC236}">
                <a16:creationId xmlns:a16="http://schemas.microsoft.com/office/drawing/2014/main" id="{94E2DED7-A47C-4BE8-8B52-EDDC8F9F863B}"/>
              </a:ext>
            </a:extLst>
          </p:cNvPr>
          <p:cNvSpPr txBox="1"/>
          <p:nvPr/>
        </p:nvSpPr>
        <p:spPr>
          <a:xfrm>
            <a:off x="110399" y="1969572"/>
            <a:ext cx="12176760" cy="337185"/>
          </a:xfrm>
          <a:prstGeom prst="rect">
            <a:avLst/>
          </a:prstGeom>
          <a:noFill/>
        </p:spPr>
        <p:txBody>
          <a:bodyPr wrap="square">
            <a:spAutoFit/>
          </a:bodyPr>
          <a:lstStyle/>
          <a:p>
            <a:pPr algn="ctr"/>
            <a:r>
              <a:rPr lang="zh-CN" altLang="en-US" sz="1600" b="1" dirty="0">
                <a:solidFill>
                  <a:srgbClr val="A20000"/>
                </a:solidFill>
                <a:latin typeface="微软雅黑" panose="020B0503020204020204" pitchFamily="34" charset="-122"/>
                <a:ea typeface="微软雅黑" panose="020B0503020204020204" pitchFamily="34" charset="-122"/>
              </a:rPr>
              <a:t>开放场景</a:t>
            </a:r>
            <a:r>
              <a:rPr lang="zh-CN" altLang="en-US" sz="14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训练未覆盖的视差分布、场景几何、物体外观等成像条件的场景，既包括同域内的分布扩展，也包括跨域的零样本泛化</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现有工作与发展趋势</a:t>
            </a:r>
          </a:p>
        </p:txBody>
      </p:sp>
      <p:sp>
        <p:nvSpPr>
          <p:cNvPr id="5" name="文本框 4"/>
          <p:cNvSpPr txBox="1"/>
          <p:nvPr/>
        </p:nvSpPr>
        <p:spPr>
          <a:xfrm>
            <a:off x="904649" y="907792"/>
            <a:ext cx="2251507"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视觉基础模型</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p:txBody>
          <a:bodyPr/>
          <a:lstStyle/>
          <a:p>
            <a:fld id="{F46799FB-52B8-4698-BECF-01ADD9E846BE}" type="slidenum">
              <a:rPr lang="zh-CN" altLang="en-US" smtClean="0"/>
              <a:t>5</a:t>
            </a:fld>
            <a:endParaRPr lang="zh-CN" altLang="en-US"/>
          </a:p>
        </p:txBody>
      </p:sp>
      <p:sp>
        <p:nvSpPr>
          <p:cNvPr id="13" name="文本框 12"/>
          <p:cNvSpPr txBox="1"/>
          <p:nvPr/>
        </p:nvSpPr>
        <p:spPr>
          <a:xfrm>
            <a:off x="904649" y="1361767"/>
            <a:ext cx="11191331" cy="707886"/>
          </a:xfrm>
          <a:prstGeom prst="rect">
            <a:avLst/>
          </a:prstGeom>
          <a:noFill/>
        </p:spPr>
        <p:txBody>
          <a:bodyPr wrap="square" rtlCol="0">
            <a:spAutoFit/>
          </a:bodyPr>
          <a:lstStyle/>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背景：视觉基础模型涌现，展现出惊人的泛化能力</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技术：探索立体匹配方法与</a:t>
            </a:r>
            <a:r>
              <a:rPr lang="zh-CN" altLang="en-US" sz="2000" b="1" dirty="0">
                <a:solidFill>
                  <a:srgbClr val="C00000"/>
                </a:solidFill>
                <a:latin typeface="微软雅黑" panose="020B0503020204020204" pitchFamily="34" charset="-122"/>
                <a:ea typeface="微软雅黑" panose="020B0503020204020204" pitchFamily="34" charset="-122"/>
              </a:rPr>
              <a:t>视觉基础模型</a:t>
            </a:r>
            <a:r>
              <a:rPr lang="zh-CN" altLang="en-US" sz="2000" dirty="0">
                <a:latin typeface="微软雅黑" panose="020B0503020204020204" pitchFamily="34" charset="-122"/>
                <a:ea typeface="微软雅黑" panose="020B0503020204020204" pitchFamily="34" charset="-122"/>
              </a:rPr>
              <a:t>结合的新框架，获得</a:t>
            </a:r>
            <a:r>
              <a:rPr lang="zh-CN" altLang="en-US" sz="2000" b="1" dirty="0">
                <a:solidFill>
                  <a:srgbClr val="C00000"/>
                </a:solidFill>
                <a:latin typeface="微软雅黑" panose="020B0503020204020204" pitchFamily="34" charset="-122"/>
                <a:ea typeface="微软雅黑" panose="020B0503020204020204" pitchFamily="34" charset="-122"/>
              </a:rPr>
              <a:t>视觉特征先验，</a:t>
            </a:r>
            <a:r>
              <a:rPr lang="zh-CN" altLang="en-US" sz="2000" dirty="0">
                <a:latin typeface="微软雅黑" panose="020B0503020204020204" pitchFamily="34" charset="-122"/>
                <a:ea typeface="微软雅黑" panose="020B0503020204020204" pitchFamily="34" charset="-122"/>
              </a:rPr>
              <a:t>指导双目视差估计</a:t>
            </a:r>
            <a:endParaRPr kumimoji="1" lang="zh-CN" altLang="en-US" sz="2000" dirty="0"/>
          </a:p>
        </p:txBody>
      </p:sp>
      <p:pic>
        <p:nvPicPr>
          <p:cNvPr id="2" name="图片 1">
            <a:extLst>
              <a:ext uri="{FF2B5EF4-FFF2-40B4-BE49-F238E27FC236}">
                <a16:creationId xmlns:a16="http://schemas.microsoft.com/office/drawing/2014/main" id="{AD93842C-5ED9-3B7A-6637-FCEE4716CA84}"/>
              </a:ext>
            </a:extLst>
          </p:cNvPr>
          <p:cNvPicPr>
            <a:picLocks noChangeAspect="1"/>
          </p:cNvPicPr>
          <p:nvPr/>
        </p:nvPicPr>
        <p:blipFill>
          <a:blip r:embed="rId4"/>
          <a:stretch>
            <a:fillRect/>
          </a:stretch>
        </p:blipFill>
        <p:spPr>
          <a:xfrm>
            <a:off x="1847533" y="2132013"/>
            <a:ext cx="8280000" cy="1987449"/>
          </a:xfrm>
          <a:prstGeom prst="rect">
            <a:avLst/>
          </a:prstGeom>
        </p:spPr>
      </p:pic>
      <p:pic>
        <p:nvPicPr>
          <p:cNvPr id="7" name="图片 6">
            <a:extLst>
              <a:ext uri="{FF2B5EF4-FFF2-40B4-BE49-F238E27FC236}">
                <a16:creationId xmlns:a16="http://schemas.microsoft.com/office/drawing/2014/main" id="{2B7784FA-77B0-DD81-16A4-BDD052B5DE32}"/>
              </a:ext>
            </a:extLst>
          </p:cNvPr>
          <p:cNvPicPr>
            <a:picLocks noChangeAspect="1"/>
          </p:cNvPicPr>
          <p:nvPr/>
        </p:nvPicPr>
        <p:blipFill>
          <a:blip r:embed="rId5"/>
          <a:stretch>
            <a:fillRect/>
          </a:stretch>
        </p:blipFill>
        <p:spPr>
          <a:xfrm>
            <a:off x="1847850" y="4509135"/>
            <a:ext cx="8280000" cy="2047878"/>
          </a:xfrm>
          <a:prstGeom prst="rect">
            <a:avLst/>
          </a:prstGeom>
        </p:spPr>
      </p:pic>
      <p:sp>
        <p:nvSpPr>
          <p:cNvPr id="8" name="文本框 7">
            <a:extLst>
              <a:ext uri="{FF2B5EF4-FFF2-40B4-BE49-F238E27FC236}">
                <a16:creationId xmlns:a16="http://schemas.microsoft.com/office/drawing/2014/main" id="{A8371031-795E-F5AB-778F-03579E74AF34}"/>
              </a:ext>
            </a:extLst>
          </p:cNvPr>
          <p:cNvSpPr txBox="1"/>
          <p:nvPr/>
        </p:nvSpPr>
        <p:spPr>
          <a:xfrm>
            <a:off x="1055370" y="6579870"/>
            <a:ext cx="9972675" cy="268605"/>
          </a:xfrm>
          <a:prstGeom prst="rect">
            <a:avLst/>
          </a:prstGeom>
          <a:noFill/>
        </p:spPr>
        <p:txBody>
          <a:bodyPr wrap="square" lIns="68580" tIns="34290" rIns="68580" bIns="34290" rtlCol="0" anchor="t">
            <a:no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Kirillov et al. Segment Anything. ICCV 2023</a:t>
            </a:r>
          </a:p>
          <a:p>
            <a:pPr algn="ctr"/>
            <a:endParaRPr lang="en-US" altLang="zh-CN" sz="1200" dirty="0">
              <a:latin typeface="微软雅黑" panose="020B0503020204020204" pitchFamily="34" charset="-122"/>
              <a:ea typeface="微软雅黑" panose="020B0503020204020204" pitchFamily="34" charset="-122"/>
              <a:cs typeface="Times New Roman" panose="02020603050405020304" charset="0"/>
            </a:endParaRPr>
          </a:p>
        </p:txBody>
      </p:sp>
      <p:sp>
        <p:nvSpPr>
          <p:cNvPr id="9" name="文本框 8">
            <a:extLst>
              <a:ext uri="{FF2B5EF4-FFF2-40B4-BE49-F238E27FC236}">
                <a16:creationId xmlns:a16="http://schemas.microsoft.com/office/drawing/2014/main" id="{7E906849-CFE6-47FB-8404-FCF27C3D6A7E}"/>
              </a:ext>
            </a:extLst>
          </p:cNvPr>
          <p:cNvSpPr txBox="1"/>
          <p:nvPr/>
        </p:nvSpPr>
        <p:spPr>
          <a:xfrm>
            <a:off x="1055370" y="4138930"/>
            <a:ext cx="9972675" cy="268605"/>
          </a:xfrm>
          <a:prstGeom prst="rect">
            <a:avLst/>
          </a:prstGeom>
          <a:noFill/>
        </p:spPr>
        <p:txBody>
          <a:bodyPr wrap="square" lIns="68580" tIns="34290" rIns="68580" bIns="34290" rtlCol="0" anchor="t">
            <a:no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Yang et al. Depth Anything: Unleashing the Power of Large-Scale Unlabeled Data. CVPR 2024</a:t>
            </a:r>
          </a:p>
          <a:p>
            <a:pPr algn="ctr"/>
            <a:endParaRPr lang="en-US" altLang="zh-CN" sz="1200" dirty="0">
              <a:latin typeface="微软雅黑" panose="020B0503020204020204" pitchFamily="34" charset="-122"/>
              <a:ea typeface="微软雅黑" panose="020B0503020204020204" pitchFamily="34" charset="-122"/>
              <a:cs typeface="Times New Roman" panose="02020603050405020304" charset="0"/>
            </a:endParaRPr>
          </a:p>
        </p:txBody>
      </p:sp>
      <p:sp>
        <p:nvSpPr>
          <p:cNvPr id="10" name="矩形 9">
            <a:extLst>
              <a:ext uri="{FF2B5EF4-FFF2-40B4-BE49-F238E27FC236}">
                <a16:creationId xmlns:a16="http://schemas.microsoft.com/office/drawing/2014/main" id="{3C31588C-6DEB-E3DF-5AB1-9276949AFCD9}"/>
              </a:ext>
            </a:extLst>
          </p:cNvPr>
          <p:cNvSpPr/>
          <p:nvPr/>
        </p:nvSpPr>
        <p:spPr>
          <a:xfrm>
            <a:off x="622935" y="2924810"/>
            <a:ext cx="1224915" cy="3702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zh-CN" sz="2000" b="1" dirty="0">
                <a:latin typeface="微软雅黑" panose="020B0503020204020204" pitchFamily="34" charset="-122"/>
                <a:ea typeface="微软雅黑" panose="020B0503020204020204" pitchFamily="34" charset="-122"/>
              </a:rPr>
              <a:t>深度先验</a:t>
            </a:r>
          </a:p>
        </p:txBody>
      </p:sp>
      <p:sp>
        <p:nvSpPr>
          <p:cNvPr id="11" name="矩形 10">
            <a:extLst>
              <a:ext uri="{FF2B5EF4-FFF2-40B4-BE49-F238E27FC236}">
                <a16:creationId xmlns:a16="http://schemas.microsoft.com/office/drawing/2014/main" id="{A7C00816-C3E8-BCE7-2948-15665461B3A3}"/>
              </a:ext>
            </a:extLst>
          </p:cNvPr>
          <p:cNvSpPr/>
          <p:nvPr/>
        </p:nvSpPr>
        <p:spPr>
          <a:xfrm>
            <a:off x="622935" y="5164455"/>
            <a:ext cx="1224915" cy="3702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zh-CN" sz="2000" b="1" dirty="0">
                <a:latin typeface="微软雅黑" panose="020B0503020204020204" pitchFamily="34" charset="-122"/>
                <a:ea typeface="微软雅黑" panose="020B0503020204020204" pitchFamily="34" charset="-122"/>
              </a:rPr>
              <a:t>语义先验</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现有工作与发展趋势</a:t>
            </a:r>
          </a:p>
        </p:txBody>
      </p:sp>
      <p:sp>
        <p:nvSpPr>
          <p:cNvPr id="5" name="文本框 4"/>
          <p:cNvSpPr txBox="1"/>
          <p:nvPr/>
        </p:nvSpPr>
        <p:spPr>
          <a:xfrm>
            <a:off x="904649" y="907792"/>
            <a:ext cx="2251507"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注意力机制的引入</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p:txBody>
          <a:bodyPr/>
          <a:lstStyle/>
          <a:p>
            <a:fld id="{F46799FB-52B8-4698-BECF-01ADD9E846BE}" type="slidenum">
              <a:rPr lang="zh-CN" altLang="en-US" smtClean="0"/>
              <a:t>6</a:t>
            </a:fld>
            <a:endParaRPr lang="zh-CN" altLang="en-US" dirty="0"/>
          </a:p>
        </p:txBody>
      </p:sp>
      <p:sp>
        <p:nvSpPr>
          <p:cNvPr id="13" name="文本框 12"/>
          <p:cNvSpPr txBox="1"/>
          <p:nvPr/>
        </p:nvSpPr>
        <p:spPr>
          <a:xfrm>
            <a:off x="904875" y="1503045"/>
            <a:ext cx="11287125" cy="1015663"/>
          </a:xfrm>
          <a:prstGeom prst="rect">
            <a:avLst/>
          </a:prstGeom>
          <a:noFill/>
        </p:spPr>
        <p:txBody>
          <a:bodyPr wrap="square" rtlCol="0">
            <a:spAutoFit/>
          </a:bodyPr>
          <a:lstStyle/>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sym typeface="+mn-ea"/>
              </a:rPr>
              <a:t>背景：在立体匹配领域，除了作为特征提取器外</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注意力模块还可以构建迭代器</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甚至替换掉主流立体匹配范式中的代价体构建与聚合阶段</a:t>
            </a:r>
            <a:endParaRPr lang="en-US" altLang="zh-CN" sz="2000" dirty="0">
              <a:latin typeface="微软雅黑" panose="020B0503020204020204" pitchFamily="34" charset="-122"/>
              <a:ea typeface="微软雅黑" panose="020B0503020204020204" pitchFamily="34" charset="-122"/>
              <a:sym typeface="+mn-ea"/>
            </a:endParaRPr>
          </a:p>
          <a:p>
            <a:pPr marL="285750" indent="-285750">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sym typeface="+mn-ea"/>
              </a:rPr>
              <a:t>技术：利用注意力机制可以绕开代价体，并突破传统方法一般预设的</a:t>
            </a:r>
            <a:r>
              <a:rPr lang="zh-CN" altLang="en-US" sz="2000" b="1" dirty="0">
                <a:solidFill>
                  <a:srgbClr val="C00000"/>
                </a:solidFill>
                <a:latin typeface="微软雅黑" panose="020B0503020204020204" pitchFamily="34" charset="-122"/>
                <a:ea typeface="微软雅黑" panose="020B0503020204020204" pitchFamily="34" charset="-122"/>
                <a:sym typeface="+mn-ea"/>
              </a:rPr>
              <a:t>匹配上限</a:t>
            </a:r>
          </a:p>
        </p:txBody>
      </p:sp>
      <p:sp>
        <p:nvSpPr>
          <p:cNvPr id="17" name="文本框 16"/>
          <p:cNvSpPr txBox="1"/>
          <p:nvPr/>
        </p:nvSpPr>
        <p:spPr>
          <a:xfrm>
            <a:off x="1784050" y="6030235"/>
            <a:ext cx="8623899"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cs typeface="Times New Roman" panose="02020603050405020304" charset="0"/>
              </a:rPr>
              <a:t>Li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Z,et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Revisiting stereo depth estimation from a sequence-to-sequence perspective with transformers ICCV2021</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pic>
        <p:nvPicPr>
          <p:cNvPr id="7" name="图片 6" descr="图示&#10;&#10;AI 生成的内容可能不正确。">
            <a:extLst>
              <a:ext uri="{FF2B5EF4-FFF2-40B4-BE49-F238E27FC236}">
                <a16:creationId xmlns:a16="http://schemas.microsoft.com/office/drawing/2014/main" id="{B9FC19C9-2C3A-32A3-0915-6F15371B56D9}"/>
              </a:ext>
            </a:extLst>
          </p:cNvPr>
          <p:cNvPicPr>
            <a:picLocks noChangeAspect="1"/>
          </p:cNvPicPr>
          <p:nvPr/>
        </p:nvPicPr>
        <p:blipFill>
          <a:blip r:embed="rId4"/>
          <a:stretch>
            <a:fillRect/>
          </a:stretch>
        </p:blipFill>
        <p:spPr>
          <a:xfrm>
            <a:off x="2095715" y="2596113"/>
            <a:ext cx="8155031" cy="2080795"/>
          </a:xfrm>
          <a:prstGeom prst="rect">
            <a:avLst/>
          </a:prstGeom>
        </p:spPr>
      </p:pic>
      <p:pic>
        <p:nvPicPr>
          <p:cNvPr id="9" name="图片 8" descr="图片包含 照片, 水, 标志, 桌子&#10;&#10;AI 生成的内容可能不正确。">
            <a:extLst>
              <a:ext uri="{FF2B5EF4-FFF2-40B4-BE49-F238E27FC236}">
                <a16:creationId xmlns:a16="http://schemas.microsoft.com/office/drawing/2014/main" id="{73476FAE-84F2-9A9A-0C2D-D6285C423F60}"/>
              </a:ext>
            </a:extLst>
          </p:cNvPr>
          <p:cNvPicPr>
            <a:picLocks noChangeAspect="1"/>
          </p:cNvPicPr>
          <p:nvPr/>
        </p:nvPicPr>
        <p:blipFill>
          <a:blip r:embed="rId5"/>
          <a:stretch>
            <a:fillRect/>
          </a:stretch>
        </p:blipFill>
        <p:spPr>
          <a:xfrm>
            <a:off x="2207523" y="4726024"/>
            <a:ext cx="7794672" cy="127965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研究内容</a:t>
            </a:r>
          </a:p>
        </p:txBody>
      </p:sp>
      <p:sp>
        <p:nvSpPr>
          <p:cNvPr id="5" name="文本框 4"/>
          <p:cNvSpPr txBox="1"/>
          <p:nvPr/>
        </p:nvSpPr>
        <p:spPr>
          <a:xfrm>
            <a:off x="904875" y="908050"/>
            <a:ext cx="3399790"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在立体匹配各个阶段引入单目先验</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a:xfrm>
            <a:off x="8610600" y="6373561"/>
            <a:ext cx="2743200" cy="365125"/>
          </a:xfrm>
        </p:spPr>
        <p:txBody>
          <a:bodyPr/>
          <a:lstStyle/>
          <a:p>
            <a:fld id="{F46799FB-52B8-4698-BECF-01ADD9E846BE}" type="slidenum">
              <a:rPr lang="zh-CN" altLang="en-US" smtClean="0"/>
              <a:t>7</a:t>
            </a:fld>
            <a:endParaRPr lang="zh-CN" altLang="en-US"/>
          </a:p>
        </p:txBody>
      </p:sp>
      <p:sp>
        <p:nvSpPr>
          <p:cNvPr id="13" name="文本框 12"/>
          <p:cNvSpPr txBox="1"/>
          <p:nvPr/>
        </p:nvSpPr>
        <p:spPr>
          <a:xfrm>
            <a:off x="904875" y="1503045"/>
            <a:ext cx="11286490" cy="1323439"/>
          </a:xfrm>
          <a:prstGeom prst="rect">
            <a:avLst/>
          </a:prstGeom>
          <a:noFill/>
        </p:spPr>
        <p:txBody>
          <a:bodyPr wrap="square" rtlCol="0">
            <a:spAutoFit/>
          </a:bodyPr>
          <a:lstStyle/>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近几年的工作证明，在立体匹配任务中引入单目先验是有利于优化其跨域泛化能力的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进一步探索</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尝试在立体匹配任务的各个阶段引入单目先验</a:t>
            </a:r>
            <a:endParaRPr lang="en-US" altLang="zh-CN" sz="2000" dirty="0">
              <a:latin typeface="微软雅黑" panose="020B0503020204020204" pitchFamily="34" charset="-122"/>
              <a:ea typeface="微软雅黑" panose="020B0503020204020204" pitchFamily="34" charset="-122"/>
            </a:endParaRPr>
          </a:p>
          <a:p>
            <a:pPr lvl="1" indent="0" algn="l">
              <a:buFont typeface="Wingdings" panose="05000000000000000000" pitchFamily="2" charset="2"/>
              <a:buNone/>
            </a:pPr>
            <a:endParaRPr kumimoji="1" lang="zh-CN" altLang="en-US" sz="2000" dirty="0"/>
          </a:p>
          <a:p>
            <a:pPr marL="742950" lvl="1" indent="-285750" algn="l">
              <a:buFont typeface="Wingdings" panose="05000000000000000000" pitchFamily="2" charset="2"/>
              <a:buChar char="n"/>
            </a:pPr>
            <a:endParaRPr kumimoji="1" lang="zh-CN" altLang="en-US" sz="2000" dirty="0"/>
          </a:p>
        </p:txBody>
      </p:sp>
      <p:sp>
        <p:nvSpPr>
          <p:cNvPr id="7" name="矩形: 圆角 6">
            <a:extLst>
              <a:ext uri="{FF2B5EF4-FFF2-40B4-BE49-F238E27FC236}">
                <a16:creationId xmlns:a16="http://schemas.microsoft.com/office/drawing/2014/main" id="{B40E0CC2-A494-DA7B-CC38-54A083D0E713}"/>
              </a:ext>
            </a:extLst>
          </p:cNvPr>
          <p:cNvSpPr/>
          <p:nvPr/>
        </p:nvSpPr>
        <p:spPr>
          <a:xfrm>
            <a:off x="1189807" y="4878970"/>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特征提取</a:t>
            </a:r>
          </a:p>
        </p:txBody>
      </p:sp>
      <p:sp>
        <p:nvSpPr>
          <p:cNvPr id="8" name="矩形: 圆角 7">
            <a:extLst>
              <a:ext uri="{FF2B5EF4-FFF2-40B4-BE49-F238E27FC236}">
                <a16:creationId xmlns:a16="http://schemas.microsoft.com/office/drawing/2014/main" id="{D8257839-F21E-B20D-D574-51A2534D0B3C}"/>
              </a:ext>
            </a:extLst>
          </p:cNvPr>
          <p:cNvSpPr/>
          <p:nvPr/>
        </p:nvSpPr>
        <p:spPr>
          <a:xfrm>
            <a:off x="3731622" y="4878971"/>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代价体积构建与聚合</a:t>
            </a:r>
          </a:p>
        </p:txBody>
      </p:sp>
      <p:sp>
        <p:nvSpPr>
          <p:cNvPr id="9" name="矩形: 圆角 8">
            <a:extLst>
              <a:ext uri="{FF2B5EF4-FFF2-40B4-BE49-F238E27FC236}">
                <a16:creationId xmlns:a16="http://schemas.microsoft.com/office/drawing/2014/main" id="{A7E08518-2C4C-7AC0-3EA5-3E76484B44DB}"/>
              </a:ext>
            </a:extLst>
          </p:cNvPr>
          <p:cNvSpPr/>
          <p:nvPr/>
        </p:nvSpPr>
        <p:spPr>
          <a:xfrm>
            <a:off x="6273436" y="4878970"/>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视差回归与融合</a:t>
            </a:r>
          </a:p>
        </p:txBody>
      </p:sp>
      <p:sp>
        <p:nvSpPr>
          <p:cNvPr id="10" name="矩形: 圆角 9">
            <a:extLst>
              <a:ext uri="{FF2B5EF4-FFF2-40B4-BE49-F238E27FC236}">
                <a16:creationId xmlns:a16="http://schemas.microsoft.com/office/drawing/2014/main" id="{80C65576-8A21-F415-2565-462A2CD10133}"/>
              </a:ext>
            </a:extLst>
          </p:cNvPr>
          <p:cNvSpPr/>
          <p:nvPr/>
        </p:nvSpPr>
        <p:spPr>
          <a:xfrm>
            <a:off x="8815251" y="4878970"/>
            <a:ext cx="2031275" cy="1045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视差迭代</a:t>
            </a:r>
          </a:p>
        </p:txBody>
      </p:sp>
      <p:sp>
        <p:nvSpPr>
          <p:cNvPr id="11" name="箭头: 右 10">
            <a:extLst>
              <a:ext uri="{FF2B5EF4-FFF2-40B4-BE49-F238E27FC236}">
                <a16:creationId xmlns:a16="http://schemas.microsoft.com/office/drawing/2014/main" id="{8B73D0A6-FF5F-E5A6-7EA4-ADDC6CE4C7C7}"/>
              </a:ext>
            </a:extLst>
          </p:cNvPr>
          <p:cNvSpPr/>
          <p:nvPr/>
        </p:nvSpPr>
        <p:spPr>
          <a:xfrm>
            <a:off x="3349260" y="5284465"/>
            <a:ext cx="313508" cy="284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右 13">
            <a:extLst>
              <a:ext uri="{FF2B5EF4-FFF2-40B4-BE49-F238E27FC236}">
                <a16:creationId xmlns:a16="http://schemas.microsoft.com/office/drawing/2014/main" id="{FABC3F62-79E9-4200-A883-3F914CBD8D62}"/>
              </a:ext>
            </a:extLst>
          </p:cNvPr>
          <p:cNvSpPr/>
          <p:nvPr/>
        </p:nvSpPr>
        <p:spPr>
          <a:xfrm>
            <a:off x="8453846" y="5210989"/>
            <a:ext cx="313508" cy="284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a:extLst>
              <a:ext uri="{FF2B5EF4-FFF2-40B4-BE49-F238E27FC236}">
                <a16:creationId xmlns:a16="http://schemas.microsoft.com/office/drawing/2014/main" id="{1FA307E9-C234-672C-B44C-B5FCD760CCEE}"/>
              </a:ext>
            </a:extLst>
          </p:cNvPr>
          <p:cNvSpPr/>
          <p:nvPr/>
        </p:nvSpPr>
        <p:spPr>
          <a:xfrm>
            <a:off x="5901414" y="5281470"/>
            <a:ext cx="313508" cy="284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直角上 15">
            <a:extLst>
              <a:ext uri="{FF2B5EF4-FFF2-40B4-BE49-F238E27FC236}">
                <a16:creationId xmlns:a16="http://schemas.microsoft.com/office/drawing/2014/main" id="{CEA69646-91E4-B262-3473-9DAE44D6A6B5}"/>
              </a:ext>
            </a:extLst>
          </p:cNvPr>
          <p:cNvSpPr/>
          <p:nvPr/>
        </p:nvSpPr>
        <p:spPr>
          <a:xfrm>
            <a:off x="3911963" y="6008456"/>
            <a:ext cx="1038497" cy="49657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直角上 16">
            <a:extLst>
              <a:ext uri="{FF2B5EF4-FFF2-40B4-BE49-F238E27FC236}">
                <a16:creationId xmlns:a16="http://schemas.microsoft.com/office/drawing/2014/main" id="{A38D1290-CD2F-A858-558F-C1B6C2888AAA}"/>
              </a:ext>
            </a:extLst>
          </p:cNvPr>
          <p:cNvSpPr/>
          <p:nvPr/>
        </p:nvSpPr>
        <p:spPr>
          <a:xfrm>
            <a:off x="6411685" y="6021791"/>
            <a:ext cx="1038497" cy="49657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直角上 17">
            <a:extLst>
              <a:ext uri="{FF2B5EF4-FFF2-40B4-BE49-F238E27FC236}">
                <a16:creationId xmlns:a16="http://schemas.microsoft.com/office/drawing/2014/main" id="{5847DC1E-69DB-7584-5BB8-C71DABAF9A81}"/>
              </a:ext>
            </a:extLst>
          </p:cNvPr>
          <p:cNvSpPr/>
          <p:nvPr/>
        </p:nvSpPr>
        <p:spPr>
          <a:xfrm>
            <a:off x="8982891" y="6021791"/>
            <a:ext cx="1038497" cy="49657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422946A2-6ED7-D358-406C-3E6FA8A35305}"/>
              </a:ext>
            </a:extLst>
          </p:cNvPr>
          <p:cNvSpPr txBox="1"/>
          <p:nvPr/>
        </p:nvSpPr>
        <p:spPr>
          <a:xfrm>
            <a:off x="2626541" y="6548060"/>
            <a:ext cx="1800493" cy="307777"/>
          </a:xfrm>
          <a:prstGeom prst="rect">
            <a:avLst/>
          </a:prstGeom>
          <a:noFill/>
        </p:spPr>
        <p:txBody>
          <a:bodyPr wrap="none" rtlCol="0">
            <a:spAutoFit/>
          </a:bodyPr>
          <a:lstStyle/>
          <a:p>
            <a:r>
              <a:rPr kumimoji="1" lang="zh-CN" altLang="en-US" sz="1400" dirty="0">
                <a:latin typeface="宋体" pitchFamily="2" charset="-122"/>
                <a:ea typeface="宋体" pitchFamily="2" charset="-122"/>
              </a:rPr>
              <a:t>对齐后的单目视差图</a:t>
            </a:r>
          </a:p>
        </p:txBody>
      </p:sp>
      <p:sp>
        <p:nvSpPr>
          <p:cNvPr id="20" name="文本框 19">
            <a:extLst>
              <a:ext uri="{FF2B5EF4-FFF2-40B4-BE49-F238E27FC236}">
                <a16:creationId xmlns:a16="http://schemas.microsoft.com/office/drawing/2014/main" id="{67F0DE78-F7A6-685D-6E9B-C2B763CE3F72}"/>
              </a:ext>
            </a:extLst>
          </p:cNvPr>
          <p:cNvSpPr txBox="1"/>
          <p:nvPr/>
        </p:nvSpPr>
        <p:spPr>
          <a:xfrm>
            <a:off x="5488580" y="6548061"/>
            <a:ext cx="1261884" cy="307777"/>
          </a:xfrm>
          <a:prstGeom prst="rect">
            <a:avLst/>
          </a:prstGeom>
          <a:noFill/>
        </p:spPr>
        <p:txBody>
          <a:bodyPr wrap="none" rtlCol="0">
            <a:spAutoFit/>
          </a:bodyPr>
          <a:lstStyle/>
          <a:p>
            <a:r>
              <a:rPr kumimoji="1" lang="zh-CN" altLang="en-US" sz="1400" dirty="0">
                <a:latin typeface="宋体" pitchFamily="2" charset="-122"/>
                <a:ea typeface="宋体" pitchFamily="2" charset="-122"/>
              </a:rPr>
              <a:t>代价体的熵等</a:t>
            </a:r>
          </a:p>
        </p:txBody>
      </p:sp>
      <p:sp>
        <p:nvSpPr>
          <p:cNvPr id="21" name="文本框 20">
            <a:extLst>
              <a:ext uri="{FF2B5EF4-FFF2-40B4-BE49-F238E27FC236}">
                <a16:creationId xmlns:a16="http://schemas.microsoft.com/office/drawing/2014/main" id="{ACCD2A36-3E71-6837-60AD-65FB80600A8E}"/>
              </a:ext>
            </a:extLst>
          </p:cNvPr>
          <p:cNvSpPr txBox="1"/>
          <p:nvPr/>
        </p:nvSpPr>
        <p:spPr>
          <a:xfrm>
            <a:off x="7979658" y="6535704"/>
            <a:ext cx="1441420" cy="307777"/>
          </a:xfrm>
          <a:prstGeom prst="rect">
            <a:avLst/>
          </a:prstGeom>
          <a:noFill/>
        </p:spPr>
        <p:txBody>
          <a:bodyPr wrap="none" rtlCol="0">
            <a:spAutoFit/>
          </a:bodyPr>
          <a:lstStyle/>
          <a:p>
            <a:r>
              <a:rPr kumimoji="1" lang="zh-CN" altLang="en-US" sz="1400" dirty="0">
                <a:latin typeface="宋体" pitchFamily="2" charset="-122"/>
                <a:ea typeface="宋体" pitchFamily="2" charset="-122"/>
              </a:rPr>
              <a:t>视差融合置信度</a:t>
            </a:r>
          </a:p>
        </p:txBody>
      </p:sp>
      <p:pic>
        <p:nvPicPr>
          <p:cNvPr id="12" name="图片 11" descr="图示&#10;&#10;AI 生成的内容可能不正确。">
            <a:extLst>
              <a:ext uri="{FF2B5EF4-FFF2-40B4-BE49-F238E27FC236}">
                <a16:creationId xmlns:a16="http://schemas.microsoft.com/office/drawing/2014/main" id="{429D3C52-410C-0D8B-6310-624F9030C173}"/>
              </a:ext>
            </a:extLst>
          </p:cNvPr>
          <p:cNvPicPr>
            <a:picLocks noChangeAspect="1"/>
          </p:cNvPicPr>
          <p:nvPr/>
        </p:nvPicPr>
        <p:blipFill>
          <a:blip r:embed="rId4"/>
          <a:stretch>
            <a:fillRect/>
          </a:stretch>
        </p:blipFill>
        <p:spPr>
          <a:xfrm>
            <a:off x="1200659" y="2193688"/>
            <a:ext cx="6275740" cy="2152199"/>
          </a:xfrm>
          <a:prstGeom prst="rect">
            <a:avLst/>
          </a:prstGeom>
        </p:spPr>
      </p:pic>
      <p:sp>
        <p:nvSpPr>
          <p:cNvPr id="24" name="文本框 23">
            <a:extLst>
              <a:ext uri="{FF2B5EF4-FFF2-40B4-BE49-F238E27FC236}">
                <a16:creationId xmlns:a16="http://schemas.microsoft.com/office/drawing/2014/main" id="{A0F944D9-E3D1-717B-463D-1A9A2F8F0B4B}"/>
              </a:ext>
            </a:extLst>
          </p:cNvPr>
          <p:cNvSpPr txBox="1"/>
          <p:nvPr/>
        </p:nvSpPr>
        <p:spPr>
          <a:xfrm>
            <a:off x="1667057" y="4328840"/>
            <a:ext cx="4605609"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Cheng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J,et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MonSter</a:t>
            </a:r>
            <a:r>
              <a:rPr lang="en-US" altLang="zh-CN" sz="1200" dirty="0">
                <a:latin typeface="微软雅黑" panose="020B0503020204020204" pitchFamily="34" charset="-122"/>
                <a:ea typeface="微软雅黑" panose="020B0503020204020204" pitchFamily="34" charset="-122"/>
                <a:cs typeface="Times New Roman" panose="02020603050405020304" charset="0"/>
              </a:rPr>
              <a:t>: Marry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Monodepth</a:t>
            </a:r>
            <a:r>
              <a:rPr lang="en-US" altLang="zh-CN" sz="1200" dirty="0">
                <a:latin typeface="微软雅黑" panose="020B0503020204020204" pitchFamily="34" charset="-122"/>
                <a:ea typeface="微软雅黑" panose="020B0503020204020204" pitchFamily="34" charset="-122"/>
                <a:cs typeface="Times New Roman" panose="02020603050405020304" charset="0"/>
              </a:rPr>
              <a:t> to Stereo Unleashes Power CVPR2025</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pic>
        <p:nvPicPr>
          <p:cNvPr id="29" name="图片 28" descr="图示, 示意图&#10;&#10;AI 生成的内容可能不正确。">
            <a:extLst>
              <a:ext uri="{FF2B5EF4-FFF2-40B4-BE49-F238E27FC236}">
                <a16:creationId xmlns:a16="http://schemas.microsoft.com/office/drawing/2014/main" id="{EC35D750-F7AB-CD09-35DC-6D341ECB6489}"/>
              </a:ext>
            </a:extLst>
          </p:cNvPr>
          <p:cNvPicPr>
            <a:picLocks noChangeAspect="1"/>
          </p:cNvPicPr>
          <p:nvPr/>
        </p:nvPicPr>
        <p:blipFill>
          <a:blip r:embed="rId5"/>
          <a:stretch>
            <a:fillRect/>
          </a:stretch>
        </p:blipFill>
        <p:spPr>
          <a:xfrm>
            <a:off x="7832595" y="1839537"/>
            <a:ext cx="3339088" cy="2618219"/>
          </a:xfrm>
          <a:prstGeom prst="rect">
            <a:avLst/>
          </a:prstGeom>
        </p:spPr>
      </p:pic>
      <p:sp>
        <p:nvSpPr>
          <p:cNvPr id="30" name="文本框 29">
            <a:extLst>
              <a:ext uri="{FF2B5EF4-FFF2-40B4-BE49-F238E27FC236}">
                <a16:creationId xmlns:a16="http://schemas.microsoft.com/office/drawing/2014/main" id="{B542D7AD-B59D-A72F-EB87-E49E04B23B31}"/>
              </a:ext>
            </a:extLst>
          </p:cNvPr>
          <p:cNvSpPr txBox="1"/>
          <p:nvPr/>
        </p:nvSpPr>
        <p:spPr>
          <a:xfrm>
            <a:off x="6628862" y="4375588"/>
            <a:ext cx="5584431"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Yao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C,et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Diving into the Fusion of Monocular Priors for Generalized Stereo Matching ICCV2025</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研究内容</a:t>
            </a:r>
          </a:p>
        </p:txBody>
      </p:sp>
      <p:sp>
        <p:nvSpPr>
          <p:cNvPr id="5" name="文本框 4"/>
          <p:cNvSpPr txBox="1"/>
          <p:nvPr/>
        </p:nvSpPr>
        <p:spPr>
          <a:xfrm>
            <a:off x="904875" y="908050"/>
            <a:ext cx="3399790" cy="306705"/>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上阶段成果</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p:txBody>
          <a:bodyPr/>
          <a:lstStyle/>
          <a:p>
            <a:fld id="{F46799FB-52B8-4698-BECF-01ADD9E846BE}" type="slidenum">
              <a:rPr lang="zh-CN" altLang="en-US" smtClean="0"/>
              <a:t>8</a:t>
            </a:fld>
            <a:endParaRPr lang="zh-CN" altLang="en-US"/>
          </a:p>
        </p:txBody>
      </p:sp>
      <p:sp>
        <p:nvSpPr>
          <p:cNvPr id="13" name="文本框 12"/>
          <p:cNvSpPr txBox="1"/>
          <p:nvPr/>
        </p:nvSpPr>
        <p:spPr>
          <a:xfrm>
            <a:off x="904875" y="1503045"/>
            <a:ext cx="11139805" cy="4708981"/>
          </a:xfrm>
          <a:prstGeom prst="rect">
            <a:avLst/>
          </a:prstGeom>
          <a:noFill/>
        </p:spPr>
        <p:txBody>
          <a:bodyPr wrap="square" rtlCol="0">
            <a:spAutoFit/>
          </a:bodyPr>
          <a:lstStyle/>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sym typeface="+mn-ea"/>
              </a:rPr>
              <a:t>上阶段已经完成了几个构思的实现以及实验验证</a:t>
            </a: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zh-CN" altLang="en-US" sz="2000" dirty="0">
              <a:sym typeface="+mn-ea"/>
            </a:endParaRPr>
          </a:p>
          <a:p>
            <a:pPr marL="285750" indent="-285750" algn="l">
              <a:buFont typeface="Wingdings" panose="05000000000000000000" pitchFamily="2" charset="2"/>
              <a:buChar char="n"/>
            </a:pPr>
            <a:endParaRPr kumimoji="1" lang="en-US" altLang="zh-CN" sz="2000" dirty="0">
              <a:sym typeface="+mn-ea"/>
            </a:endParaRPr>
          </a:p>
          <a:p>
            <a:pPr marL="285750" indent="-285750" algn="l">
              <a:buFont typeface="Wingdings" panose="05000000000000000000" pitchFamily="2" charset="2"/>
              <a:buChar char="n"/>
            </a:pPr>
            <a:endParaRPr kumimoji="1" lang="en-US" altLang="zh-CN" sz="2000" dirty="0">
              <a:sym typeface="+mn-ea"/>
            </a:endParaRPr>
          </a:p>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sym typeface="+mn-ea"/>
              </a:rPr>
              <a:t>实验验证了设计的部分单目先验注入方式可以一定程度上提高模型的泛化能力，但还存在优化空间</a:t>
            </a:r>
          </a:p>
        </p:txBody>
      </p:sp>
      <p:pic>
        <p:nvPicPr>
          <p:cNvPr id="2" name="图片 1"/>
          <p:cNvPicPr>
            <a:picLocks noChangeAspect="1"/>
          </p:cNvPicPr>
          <p:nvPr/>
        </p:nvPicPr>
        <p:blipFill>
          <a:blip r:embed="rId4"/>
          <a:stretch>
            <a:fillRect/>
          </a:stretch>
        </p:blipFill>
        <p:spPr>
          <a:xfrm>
            <a:off x="1322297" y="1971040"/>
            <a:ext cx="9375775" cy="2915920"/>
          </a:xfrm>
          <a:prstGeom prst="rect">
            <a:avLst/>
          </a:prstGeom>
        </p:spPr>
      </p:pic>
      <p:sp>
        <p:nvSpPr>
          <p:cNvPr id="7" name="文本框 6">
            <a:extLst>
              <a:ext uri="{FF2B5EF4-FFF2-40B4-BE49-F238E27FC236}">
                <a16:creationId xmlns:a16="http://schemas.microsoft.com/office/drawing/2014/main" id="{716B4D58-E78C-D8B6-49BD-4399F3A36482}"/>
              </a:ext>
            </a:extLst>
          </p:cNvPr>
          <p:cNvSpPr txBox="1"/>
          <p:nvPr/>
        </p:nvSpPr>
        <p:spPr>
          <a:xfrm>
            <a:off x="1593477" y="4918400"/>
            <a:ext cx="9184342" cy="276999"/>
          </a:xfrm>
          <a:prstGeom prst="rect">
            <a:avLst/>
          </a:prstGeom>
          <a:noFill/>
        </p:spPr>
        <p:txBody>
          <a:bodyPr wrap="square" rtlCol="0">
            <a:spAutoFit/>
          </a:bodyPr>
          <a:lstStyle/>
          <a:p>
            <a:r>
              <a:rPr kumimoji="1" lang="zh-CN" altLang="en-US" sz="1200" dirty="0">
                <a:sym typeface="+mn-ea"/>
              </a:rPr>
              <a:t>实验</a:t>
            </a:r>
            <a:r>
              <a:rPr kumimoji="1" lang="en-US" altLang="zh-CN" sz="1200" dirty="0">
                <a:sym typeface="+mn-ea"/>
              </a:rPr>
              <a:t>1</a:t>
            </a:r>
            <a:r>
              <a:rPr kumimoji="1" lang="zh-CN" altLang="en-US" sz="1200" dirty="0">
                <a:sym typeface="+mn-ea"/>
              </a:rPr>
              <a:t>是基线</a:t>
            </a:r>
            <a:r>
              <a:rPr kumimoji="1" lang="en-US" altLang="zh-CN" sz="1200" dirty="0">
                <a:sym typeface="+mn-ea"/>
              </a:rPr>
              <a:t>；</a:t>
            </a:r>
            <a:r>
              <a:rPr kumimoji="1" lang="zh-CN" altLang="en-US" sz="1200" dirty="0">
                <a:sym typeface="+mn-ea"/>
              </a:rPr>
              <a:t>实验</a:t>
            </a:r>
            <a:r>
              <a:rPr kumimoji="1" lang="en-US" altLang="zh-CN" sz="1200" dirty="0">
                <a:sym typeface="+mn-ea"/>
              </a:rPr>
              <a:t>3</a:t>
            </a:r>
            <a:r>
              <a:rPr kumimoji="1" lang="zh-CN" altLang="en-US" sz="1200" dirty="0">
                <a:sym typeface="+mn-ea"/>
              </a:rPr>
              <a:t>在视差迭代阶段引入单目先验；实验</a:t>
            </a:r>
            <a:r>
              <a:rPr kumimoji="1" lang="en-US" altLang="zh-CN" sz="1200" dirty="0">
                <a:sym typeface="+mn-ea"/>
              </a:rPr>
              <a:t>5</a:t>
            </a:r>
            <a:r>
              <a:rPr kumimoji="1" lang="zh-CN" altLang="en-US" sz="1200" dirty="0">
                <a:sym typeface="+mn-ea"/>
              </a:rPr>
              <a:t>在视差融合阶段引入单目先验；实验</a:t>
            </a:r>
            <a:r>
              <a:rPr kumimoji="1" lang="en-US" altLang="zh-CN" sz="1200" dirty="0">
                <a:sym typeface="+mn-ea"/>
              </a:rPr>
              <a:t>6</a:t>
            </a:r>
            <a:r>
              <a:rPr kumimoji="1" lang="zh-CN" altLang="en-US" sz="1200" dirty="0">
                <a:sym typeface="+mn-ea"/>
              </a:rPr>
              <a:t>在代价体构建阶段引入单目先验</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6290" y="424815"/>
            <a:ext cx="415417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研究内容</a:t>
            </a:r>
          </a:p>
        </p:txBody>
      </p:sp>
      <p:sp>
        <p:nvSpPr>
          <p:cNvPr id="5" name="文本框 4"/>
          <p:cNvSpPr txBox="1"/>
          <p:nvPr/>
        </p:nvSpPr>
        <p:spPr>
          <a:xfrm>
            <a:off x="904875" y="908050"/>
            <a:ext cx="3399790" cy="521970"/>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探索对传统立体匹配流程中构建代价体这一思路的突破</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sp>
        <p:nvSpPr>
          <p:cNvPr id="3" name="灯片编号占位符 2"/>
          <p:cNvSpPr>
            <a:spLocks noGrp="1"/>
          </p:cNvSpPr>
          <p:nvPr>
            <p:ph type="sldNum" sz="quarter" idx="12"/>
          </p:nvPr>
        </p:nvSpPr>
        <p:spPr/>
        <p:txBody>
          <a:bodyPr/>
          <a:lstStyle/>
          <a:p>
            <a:fld id="{F46799FB-52B8-4698-BECF-01ADD9E846BE}" type="slidenum">
              <a:rPr lang="zh-CN" altLang="en-US" smtClean="0"/>
              <a:t>9</a:t>
            </a:fld>
            <a:endParaRPr lang="zh-CN" altLang="en-US"/>
          </a:p>
        </p:txBody>
      </p:sp>
      <p:sp>
        <p:nvSpPr>
          <p:cNvPr id="12" name="日期占位符 11"/>
          <p:cNvSpPr>
            <a:spLocks noGrp="1"/>
          </p:cNvSpPr>
          <p:nvPr>
            <p:ph type="dt" sz="half" idx="10"/>
          </p:nvPr>
        </p:nvSpPr>
        <p:spPr/>
        <p:txBody>
          <a:bodyPr/>
          <a:lstStyle/>
          <a:p>
            <a:fld id="{1E1FA275-34E1-B543-AF90-5C4DCF5D3F32}" type="datetime1">
              <a:rPr lang="zh-CN" altLang="en-US" smtClean="0"/>
              <a:t>2026/3/12</a:t>
            </a:fld>
            <a:endParaRPr lang="zh-CN" altLang="en-US"/>
          </a:p>
        </p:txBody>
      </p:sp>
      <p:sp>
        <p:nvSpPr>
          <p:cNvPr id="13" name="文本框 12"/>
          <p:cNvSpPr txBox="1"/>
          <p:nvPr/>
        </p:nvSpPr>
        <p:spPr>
          <a:xfrm>
            <a:off x="904875" y="1503045"/>
            <a:ext cx="11099891" cy="4707890"/>
          </a:xfrm>
          <a:prstGeom prst="rect">
            <a:avLst/>
          </a:prstGeom>
          <a:noFill/>
        </p:spPr>
        <p:txBody>
          <a:bodyPr wrap="square" rtlCol="0">
            <a:spAutoFit/>
          </a:bodyPr>
          <a:lstStyle/>
          <a:p>
            <a:pPr marL="285750" indent="-285750">
              <a:buFont typeface="Wingdings" panose="05000000000000000000" pitchFamily="2" charset="2"/>
              <a:buChar char="n"/>
            </a:pPr>
            <a:r>
              <a:rPr lang="en-US" altLang="zh-CN" sz="2000" dirty="0">
                <a:latin typeface="微软雅黑" panose="020B0503020204020204" pitchFamily="34" charset="-122"/>
                <a:ea typeface="微软雅黑" panose="020B0503020204020204" pitchFamily="34" charset="-122"/>
              </a:rPr>
              <a:t>GOAT</a:t>
            </a:r>
            <a:r>
              <a:rPr lang="zh-CN" altLang="en-US" sz="2000" dirty="0">
                <a:latin typeface="微软雅黑" panose="020B0503020204020204" pitchFamily="34" charset="-122"/>
                <a:ea typeface="微软雅黑" panose="020B0503020204020204" pitchFamily="34" charset="-122"/>
              </a:rPr>
              <a:t>中利用注意力机制对特征图做聚合</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从而绕开了开销巨大的代价体聚合阶段</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但是此工作仍然构建代价体</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从代价体中回归视差</a:t>
            </a:r>
          </a:p>
          <a:p>
            <a:pPr marL="285750" indent="-285750">
              <a:buFont typeface="Wingdings" panose="05000000000000000000" pitchFamily="2" charset="2"/>
              <a:buChar char="n"/>
            </a:pPr>
            <a:endParaRPr lang="zh-CN" altLang="en-US" sz="2000" dirty="0">
              <a:latin typeface="微软雅黑" panose="020B0503020204020204" pitchFamily="34" charset="-122"/>
              <a:ea typeface="微软雅黑" panose="020B0503020204020204" pitchFamily="34" charset="-122"/>
            </a:endParaRPr>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endParaRPr kumimoji="1" lang="zh-CN" altLang="en-US" sz="2000" dirty="0"/>
          </a:p>
          <a:p>
            <a:pPr marL="285750" indent="-285750" algn="l">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拟整合</a:t>
            </a:r>
            <a:r>
              <a:rPr lang="en-US" altLang="zh-CN" sz="2000" dirty="0">
                <a:latin typeface="微软雅黑" panose="020B0503020204020204" pitchFamily="34" charset="-122"/>
                <a:ea typeface="微软雅黑" panose="020B0503020204020204" pitchFamily="34" charset="-122"/>
              </a:rPr>
              <a:t>STTR</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GOAT</a:t>
            </a:r>
            <a:r>
              <a:rPr lang="zh-CN" altLang="en-US" sz="2000" dirty="0">
                <a:latin typeface="微软雅黑" panose="020B0503020204020204" pitchFamily="34" charset="-122"/>
                <a:ea typeface="微软雅黑" panose="020B0503020204020204" pitchFamily="34" charset="-122"/>
              </a:rPr>
              <a:t>的思路</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尝试使用堆叠的自</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交叉注意力结构在特征图阶段就完成聚合工作</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并且</a:t>
            </a:r>
            <a:r>
              <a:rPr lang="zh-CN" altLang="en-US" sz="2000" b="1" dirty="0">
                <a:solidFill>
                  <a:srgbClr val="C00000"/>
                </a:solidFill>
                <a:latin typeface="微软雅黑" panose="020B0503020204020204" pitchFamily="34" charset="-122"/>
                <a:ea typeface="微软雅黑" panose="020B0503020204020204" pitchFamily="34" charset="-122"/>
              </a:rPr>
              <a:t>不构建代价体</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直接从注意力图中回归视差</a:t>
            </a:r>
            <a:endParaRPr lang="en-US" altLang="zh-CN" sz="20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1075418" y="2269256"/>
            <a:ext cx="4378325" cy="2764622"/>
          </a:xfrm>
          <a:prstGeom prst="rect">
            <a:avLst/>
          </a:prstGeom>
        </p:spPr>
      </p:pic>
      <p:sp>
        <p:nvSpPr>
          <p:cNvPr id="7" name="文本框 6">
            <a:extLst>
              <a:ext uri="{FF2B5EF4-FFF2-40B4-BE49-F238E27FC236}">
                <a16:creationId xmlns:a16="http://schemas.microsoft.com/office/drawing/2014/main" id="{A7402720-9A0B-12BC-ED33-8D586A939C81}"/>
              </a:ext>
            </a:extLst>
          </p:cNvPr>
          <p:cNvSpPr txBox="1"/>
          <p:nvPr/>
        </p:nvSpPr>
        <p:spPr>
          <a:xfrm>
            <a:off x="848134" y="5080069"/>
            <a:ext cx="4605609"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Liu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Z,et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Global Occlusion-Aware Transformer for Robust Stereo MatchingWACV2024</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pic>
        <p:nvPicPr>
          <p:cNvPr id="23" name="图片 22" descr="图示&#10;&#10;AI 生成的内容可能不正确。">
            <a:extLst>
              <a:ext uri="{FF2B5EF4-FFF2-40B4-BE49-F238E27FC236}">
                <a16:creationId xmlns:a16="http://schemas.microsoft.com/office/drawing/2014/main" id="{E8AA5051-D392-0C43-2B72-21F27C6B193A}"/>
              </a:ext>
            </a:extLst>
          </p:cNvPr>
          <p:cNvPicPr>
            <a:picLocks noChangeAspect="1"/>
          </p:cNvPicPr>
          <p:nvPr/>
        </p:nvPicPr>
        <p:blipFill>
          <a:blip r:embed="rId5"/>
          <a:stretch>
            <a:fillRect/>
          </a:stretch>
        </p:blipFill>
        <p:spPr>
          <a:xfrm>
            <a:off x="5624286" y="2473912"/>
            <a:ext cx="6320720" cy="2287499"/>
          </a:xfrm>
          <a:prstGeom prst="rect">
            <a:avLst/>
          </a:prstGeom>
        </p:spPr>
      </p:pic>
      <p:sp>
        <p:nvSpPr>
          <p:cNvPr id="27" name="文本框 26">
            <a:extLst>
              <a:ext uri="{FF2B5EF4-FFF2-40B4-BE49-F238E27FC236}">
                <a16:creationId xmlns:a16="http://schemas.microsoft.com/office/drawing/2014/main" id="{8BA57604-23B0-DDE7-F4D2-A3D1D6A86BA1}"/>
              </a:ext>
            </a:extLst>
          </p:cNvPr>
          <p:cNvSpPr txBox="1"/>
          <p:nvPr/>
        </p:nvSpPr>
        <p:spPr>
          <a:xfrm>
            <a:off x="6537877" y="5024507"/>
            <a:ext cx="4493538" cy="461665"/>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cs typeface="Times New Roman" panose="02020603050405020304" charset="0"/>
              </a:rPr>
              <a:t>Guan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T,et</a:t>
            </a:r>
            <a:r>
              <a:rPr lang="en-US" altLang="zh-CN" sz="1200" dirty="0">
                <a:latin typeface="微软雅黑" panose="020B0503020204020204" pitchFamily="34" charset="-122"/>
                <a:ea typeface="微软雅黑" panose="020B0503020204020204" pitchFamily="34" charset="-122"/>
                <a:cs typeface="Times New Roman" panose="02020603050405020304" charset="0"/>
              </a:rPr>
              <a:t> al.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BridgeDepth</a:t>
            </a:r>
            <a:r>
              <a:rPr lang="en-US" altLang="zh-CN" sz="1200" dirty="0">
                <a:latin typeface="微软雅黑" panose="020B0503020204020204" pitchFamily="34" charset="-122"/>
                <a:ea typeface="微软雅黑" panose="020B0503020204020204" pitchFamily="34" charset="-122"/>
                <a:cs typeface="Times New Roman" panose="02020603050405020304" charset="0"/>
              </a:rPr>
              <a:t>: Bridging Monocular and Stereo </a:t>
            </a:r>
          </a:p>
          <a:p>
            <a:pPr algn="ctr"/>
            <a:r>
              <a:rPr lang="en-US" altLang="zh-CN" sz="1200" dirty="0">
                <a:latin typeface="微软雅黑" panose="020B0503020204020204" pitchFamily="34" charset="-122"/>
                <a:ea typeface="微软雅黑" panose="020B0503020204020204" pitchFamily="34" charset="-122"/>
                <a:cs typeface="Times New Roman" panose="02020603050405020304" charset="0"/>
              </a:rPr>
              <a:t>Reasoning with Latent Alignment ICCV2025</a:t>
            </a:r>
            <a:endParaRPr lang="zh-CN" altLang="en-US" sz="1200" dirty="0">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0905" y="419100"/>
            <a:ext cx="2265680" cy="521970"/>
          </a:xfrm>
          <a:prstGeom prst="rect">
            <a:avLst/>
          </a:prstGeom>
          <a:noFill/>
        </p:spPr>
        <p:txBody>
          <a:bodyPr wrap="square" rtlCol="0">
            <a:spAutoFit/>
          </a:bodyPr>
          <a:lstStyle/>
          <a:p>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总结与展望</a:t>
            </a:r>
          </a:p>
        </p:txBody>
      </p:sp>
      <p:sp>
        <p:nvSpPr>
          <p:cNvPr id="5" name="文本框 4"/>
          <p:cNvSpPr txBox="1"/>
          <p:nvPr/>
        </p:nvSpPr>
        <p:spPr>
          <a:xfrm>
            <a:off x="904649" y="907792"/>
            <a:ext cx="2251507" cy="307777"/>
          </a:xfrm>
          <a:prstGeom prst="rect">
            <a:avLst/>
          </a:prstGeom>
          <a:noFill/>
        </p:spPr>
        <p:txBody>
          <a:bodyPr wrap="square" rtlCol="0">
            <a:spAutoFit/>
          </a:bodyPr>
          <a:lstStyle/>
          <a:p>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未来工作总结</a:t>
            </a:r>
          </a:p>
        </p:txBody>
      </p:sp>
      <p:cxnSp>
        <p:nvCxnSpPr>
          <p:cNvPr id="6" name="直接连接符 5"/>
          <p:cNvCxnSpPr/>
          <p:nvPr/>
        </p:nvCxnSpPr>
        <p:spPr>
          <a:xfrm>
            <a:off x="796413" y="457203"/>
            <a:ext cx="0" cy="691236"/>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26" name="图片 25"/>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698072" y="301876"/>
            <a:ext cx="1067698" cy="846563"/>
          </a:xfrm>
          <a:prstGeom prst="rect">
            <a:avLst/>
          </a:prstGeom>
        </p:spPr>
      </p:pic>
      <p:grpSp>
        <p:nvGrpSpPr>
          <p:cNvPr id="61" name="组合 60"/>
          <p:cNvGrpSpPr/>
          <p:nvPr/>
        </p:nvGrpSpPr>
        <p:grpSpPr>
          <a:xfrm>
            <a:off x="532130" y="1537970"/>
            <a:ext cx="1724025" cy="2435225"/>
            <a:chOff x="6177683" y="1666134"/>
            <a:chExt cx="1362525" cy="988578"/>
          </a:xfrm>
          <a:solidFill>
            <a:srgbClr val="1C4885"/>
          </a:solidFill>
        </p:grpSpPr>
        <p:sp>
          <p:nvSpPr>
            <p:cNvPr id="62" name="矩形 61"/>
            <p:cNvSpPr/>
            <p:nvPr/>
          </p:nvSpPr>
          <p:spPr>
            <a:xfrm rot="5400000">
              <a:off x="5743333" y="2100484"/>
              <a:ext cx="988578" cy="11987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
          <p:nvSpPr>
            <p:cNvPr id="63" name="矩形 62"/>
            <p:cNvSpPr/>
            <p:nvPr/>
          </p:nvSpPr>
          <p:spPr>
            <a:xfrm>
              <a:off x="6297561" y="1666134"/>
              <a:ext cx="1242647" cy="103672"/>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grpSp>
      <p:sp>
        <p:nvSpPr>
          <p:cNvPr id="64" name="矩形 63"/>
          <p:cNvSpPr/>
          <p:nvPr/>
        </p:nvSpPr>
        <p:spPr>
          <a:xfrm>
            <a:off x="652145" y="1623695"/>
            <a:ext cx="10494010" cy="45453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2049145" y="1866265"/>
            <a:ext cx="8625840" cy="1756410"/>
          </a:xfrm>
          <a:prstGeom prst="rect">
            <a:avLst/>
          </a:prstGeom>
          <a:noFill/>
        </p:spPr>
        <p:txBody>
          <a:bodyPr wrap="square" rtlCol="0">
            <a:noAutofit/>
          </a:bodyPr>
          <a:lstStyle/>
          <a:p>
            <a:pPr algn="just"/>
            <a:r>
              <a:rPr lang="en-US" altLang="zh-CN" sz="1600" b="1" dirty="0">
                <a:latin typeface="宋体" pitchFamily="2" charset="-122"/>
                <a:ea typeface="宋体" pitchFamily="2" charset="-122"/>
              </a:rPr>
              <a:t>1.</a:t>
            </a:r>
            <a:r>
              <a:rPr lang="zh-CN" altLang="en-US" b="1" dirty="0">
                <a:latin typeface="宋体" pitchFamily="2" charset="-122"/>
                <a:ea typeface="宋体" pitchFamily="2" charset="-122"/>
              </a:rPr>
              <a:t>设计了一项新的立体匹配算法，</a:t>
            </a:r>
            <a:r>
              <a:rPr lang="zh-CN" altLang="en-US" dirty="0">
                <a:latin typeface="宋体" pitchFamily="2" charset="-122"/>
                <a:ea typeface="宋体" pitchFamily="2" charset="-122"/>
              </a:rPr>
              <a:t>期待与主流迭代式立体匹配方法开展性能比对，期待在保精度前提下达成更稳定的泛化表现</a:t>
            </a:r>
          </a:p>
          <a:p>
            <a:pPr algn="just"/>
            <a:r>
              <a:rPr lang="zh-CN" altLang="en-US" b="1" dirty="0">
                <a:latin typeface="宋体" pitchFamily="2" charset="-122"/>
                <a:ea typeface="宋体" pitchFamily="2" charset="-122"/>
              </a:rPr>
              <a:t>2.在立体匹配各个阶段引入单目先验知识，</a:t>
            </a:r>
            <a:r>
              <a:rPr lang="zh-CN" altLang="en-US" dirty="0">
                <a:latin typeface="宋体" pitchFamily="2" charset="-122"/>
                <a:ea typeface="宋体" pitchFamily="2" charset="-122"/>
              </a:rPr>
              <a:t>进一步探索了单目视觉模型与立体匹配方法的融合策略</a:t>
            </a:r>
          </a:p>
          <a:p>
            <a:pPr algn="just"/>
            <a:r>
              <a:rPr lang="en-US" altLang="zh-CN" b="1" dirty="0">
                <a:latin typeface="宋体" pitchFamily="2" charset="-122"/>
                <a:ea typeface="宋体" pitchFamily="2" charset="-122"/>
              </a:rPr>
              <a:t>3.</a:t>
            </a:r>
            <a:r>
              <a:rPr lang="zh-CN" altLang="en-US" b="1" dirty="0">
                <a:latin typeface="宋体" pitchFamily="2" charset="-122"/>
                <a:ea typeface="宋体" pitchFamily="2" charset="-122"/>
              </a:rPr>
              <a:t>利用堆叠的注意力结构绕开代价体构建和聚合步骤</a:t>
            </a:r>
            <a:r>
              <a:rPr lang="en-US" altLang="zh-CN" b="1" dirty="0">
                <a:latin typeface="宋体" pitchFamily="2" charset="-122"/>
                <a:ea typeface="宋体" pitchFamily="2" charset="-122"/>
              </a:rPr>
              <a:t>，</a:t>
            </a:r>
            <a:r>
              <a:rPr lang="zh-CN" altLang="en-US" dirty="0">
                <a:latin typeface="宋体" pitchFamily="2" charset="-122"/>
                <a:ea typeface="宋体" pitchFamily="2" charset="-122"/>
              </a:rPr>
              <a:t>突破立体匹配传统范式</a:t>
            </a:r>
            <a:endParaRPr lang="en-US" altLang="zh-CN" dirty="0">
              <a:latin typeface="宋体" pitchFamily="2" charset="-122"/>
              <a:ea typeface="宋体" pitchFamily="2" charset="-122"/>
            </a:endParaRPr>
          </a:p>
        </p:txBody>
      </p:sp>
      <p:sp>
        <p:nvSpPr>
          <p:cNvPr id="66" name="文本框 65"/>
          <p:cNvSpPr txBox="1"/>
          <p:nvPr/>
        </p:nvSpPr>
        <p:spPr>
          <a:xfrm>
            <a:off x="532130" y="1924685"/>
            <a:ext cx="1462405" cy="589915"/>
          </a:xfrm>
          <a:prstGeom prst="rect">
            <a:avLst/>
          </a:prstGeom>
          <a:noFill/>
        </p:spPr>
        <p:txBody>
          <a:bodyPr wrap="square" rtlCol="0">
            <a:noAutofit/>
          </a:bodyPr>
          <a:lstStyle/>
          <a:p>
            <a:pPr algn="ctr"/>
            <a:r>
              <a:rPr lang="zh-CN" altLang="en-US" dirty="0">
                <a:solidFill>
                  <a:schemeClr val="tx1">
                    <a:lumMod val="85000"/>
                    <a:lumOff val="15000"/>
                  </a:schemeClr>
                </a:solidFill>
                <a:latin typeface="微软雅黑" panose="020B0503020204020204" pitchFamily="34" charset="-122"/>
              </a:rPr>
              <a:t>创新与贡献</a:t>
            </a:r>
          </a:p>
        </p:txBody>
      </p:sp>
      <p:sp>
        <p:nvSpPr>
          <p:cNvPr id="2" name="灯片编号占位符 1"/>
          <p:cNvSpPr>
            <a:spLocks noGrp="1"/>
          </p:cNvSpPr>
          <p:nvPr>
            <p:ph type="sldNum" sz="quarter" idx="12"/>
          </p:nvPr>
        </p:nvSpPr>
        <p:spPr/>
        <p:txBody>
          <a:bodyPr/>
          <a:lstStyle/>
          <a:p>
            <a:fld id="{F46799FB-52B8-4698-BECF-01ADD9E846BE}" type="slidenum">
              <a:rPr lang="zh-CN" altLang="en-US" smtClean="0"/>
              <a:t>10</a:t>
            </a:fld>
            <a:endParaRPr lang="zh-CN" altLang="en-US"/>
          </a:p>
        </p:txBody>
      </p:sp>
      <p:sp>
        <p:nvSpPr>
          <p:cNvPr id="7" name="文本框 6"/>
          <p:cNvSpPr txBox="1"/>
          <p:nvPr/>
        </p:nvSpPr>
        <p:spPr>
          <a:xfrm>
            <a:off x="586740" y="4547870"/>
            <a:ext cx="1462405" cy="589915"/>
          </a:xfrm>
          <a:prstGeom prst="rect">
            <a:avLst/>
          </a:prstGeom>
          <a:noFill/>
        </p:spPr>
        <p:txBody>
          <a:bodyPr wrap="square" rtlCol="0">
            <a:noAutofit/>
          </a:bodyPr>
          <a:lstStyle/>
          <a:p>
            <a:pPr algn="ctr"/>
            <a:r>
              <a:rPr lang="zh-CN" altLang="en-US" dirty="0">
                <a:solidFill>
                  <a:schemeClr val="tx1">
                    <a:lumMod val="85000"/>
                    <a:lumOff val="15000"/>
                  </a:schemeClr>
                </a:solidFill>
                <a:latin typeface="微软雅黑" panose="020B0503020204020204" pitchFamily="34" charset="-122"/>
              </a:rPr>
              <a:t>不足与展望</a:t>
            </a:r>
          </a:p>
        </p:txBody>
      </p:sp>
      <p:sp>
        <p:nvSpPr>
          <p:cNvPr id="9" name="文本框 8"/>
          <p:cNvSpPr txBox="1"/>
          <p:nvPr/>
        </p:nvSpPr>
        <p:spPr>
          <a:xfrm>
            <a:off x="2049145" y="4412615"/>
            <a:ext cx="8625840" cy="1756410"/>
          </a:xfrm>
          <a:prstGeom prst="rect">
            <a:avLst/>
          </a:prstGeom>
          <a:noFill/>
        </p:spPr>
        <p:txBody>
          <a:bodyPr wrap="square" rtlCol="0">
            <a:noAutofit/>
          </a:bodyPr>
          <a:lstStyle/>
          <a:p>
            <a:pPr algn="just"/>
            <a:r>
              <a:rPr lang="en-US" altLang="zh-CN" sz="1600" b="1" dirty="0">
                <a:latin typeface="宋体" pitchFamily="2" charset="-122"/>
                <a:ea typeface="宋体" pitchFamily="2" charset="-122"/>
              </a:rPr>
              <a:t>1.</a:t>
            </a:r>
            <a:r>
              <a:rPr lang="zh-CN" altLang="en-US" sz="1800" dirty="0">
                <a:latin typeface="宋体" pitchFamily="2" charset="-122"/>
                <a:ea typeface="宋体" pitchFamily="2" charset="-122"/>
              </a:rPr>
              <a:t>模型针对以KITTI等数据集为代表的室外场景的泛化迁移能力不足，弱于室内场景</a:t>
            </a:r>
          </a:p>
          <a:p>
            <a:pPr algn="just"/>
            <a:r>
              <a:rPr lang="en-US" altLang="zh-CN" b="1" dirty="0">
                <a:latin typeface="宋体" pitchFamily="2" charset="-122"/>
                <a:ea typeface="宋体" pitchFamily="2" charset="-122"/>
              </a:rPr>
              <a:t>2.</a:t>
            </a:r>
            <a:r>
              <a:rPr lang="zh-CN" altLang="en-US" dirty="0">
                <a:latin typeface="宋体" pitchFamily="2" charset="-122"/>
                <a:ea typeface="宋体" pitchFamily="2" charset="-122"/>
              </a:rPr>
              <a:t>不使用代价体构建与聚合可能难以得到可靠的视差迭代起点</a:t>
            </a:r>
            <a:r>
              <a:rPr lang="en-US" altLang="zh-CN" dirty="0">
                <a:latin typeface="宋体" pitchFamily="2" charset="-122"/>
                <a:ea typeface="宋体" pitchFamily="2" charset="-122"/>
              </a:rPr>
              <a:t>，</a:t>
            </a:r>
            <a:r>
              <a:rPr lang="zh-CN" altLang="en-US" dirty="0">
                <a:latin typeface="宋体" pitchFamily="2" charset="-122"/>
                <a:ea typeface="宋体" pitchFamily="2" charset="-122"/>
              </a:rPr>
              <a:t>注意力机制的开销与大体积的代价体的</a:t>
            </a:r>
            <a:r>
              <a:rPr lang="en-US" altLang="zh-CN" dirty="0">
                <a:latin typeface="宋体" pitchFamily="2" charset="-122"/>
                <a:ea typeface="宋体" pitchFamily="2" charset="-122"/>
              </a:rPr>
              <a:t>3D</a:t>
            </a:r>
            <a:r>
              <a:rPr lang="zh-CN" altLang="en-US" dirty="0">
                <a:latin typeface="宋体" pitchFamily="2" charset="-122"/>
                <a:ea typeface="宋体" pitchFamily="2" charset="-122"/>
              </a:rPr>
              <a:t>卷积操作相比无太大优势</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03122" y="405580"/>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2627486" y="3000033"/>
            <a:ext cx="7092586" cy="768350"/>
          </a:xfrm>
          <a:prstGeom prst="rect">
            <a:avLst/>
          </a:prstGeom>
          <a:noFill/>
        </p:spPr>
        <p:txBody>
          <a:bodyPr wrap="square" rtlCol="0">
            <a:spAutoFit/>
          </a:bodyPr>
          <a:lstStyle/>
          <a:p>
            <a:pPr algn="dist"/>
            <a:r>
              <a:rPr lang="zh-CN" altLang="en-US" sz="4400" dirty="0">
                <a:solidFill>
                  <a:srgbClr val="1C4885"/>
                </a:solidFill>
                <a:latin typeface="微软雅黑" panose="020B0503020204020204" pitchFamily="34" charset="-122"/>
                <a:ea typeface="微软雅黑" panose="020B0503020204020204" pitchFamily="34" charset="-122"/>
              </a:rPr>
              <a:t>恳请各位老师批评指正</a:t>
            </a:r>
            <a:r>
              <a:rPr lang="en-US" altLang="zh-CN" sz="4400" dirty="0">
                <a:solidFill>
                  <a:srgbClr val="1C4885"/>
                </a:solidFill>
                <a:latin typeface="微软雅黑" panose="020B0503020204020204" pitchFamily="34" charset="-122"/>
                <a:ea typeface="微软雅黑" panose="020B0503020204020204" pitchFamily="34" charset="-122"/>
              </a:rPr>
              <a:t>!</a:t>
            </a:r>
          </a:p>
        </p:txBody>
      </p:sp>
      <p:cxnSp>
        <p:nvCxnSpPr>
          <p:cNvPr id="11" name="直接连接符 10"/>
          <p:cNvCxnSpPr/>
          <p:nvPr/>
        </p:nvCxnSpPr>
        <p:spPr>
          <a:xfrm>
            <a:off x="3033251" y="3908409"/>
            <a:ext cx="6125497"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灯片编号占位符 9"/>
          <p:cNvSpPr>
            <a:spLocks noGrp="1"/>
          </p:cNvSpPr>
          <p:nvPr>
            <p:ph type="sldNum" sz="quarter" idx="12"/>
          </p:nvPr>
        </p:nvSpPr>
        <p:spPr/>
        <p:txBody>
          <a:bodyPr/>
          <a:lstStyle/>
          <a:p>
            <a:fld id="{F46799FB-52B8-4698-BECF-01ADD9E846BE}" type="slidenum">
              <a:rPr lang="zh-CN" altLang="en-US" smtClean="0"/>
              <a:t>11</a:t>
            </a:fld>
            <a:endParaRPr lang="zh-CN" altLang="en-US"/>
          </a:p>
        </p:txBody>
      </p:sp>
      <p:pic>
        <p:nvPicPr>
          <p:cNvPr id="13" name="图片 12"/>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10286102" y="820739"/>
            <a:ext cx="1067698" cy="8465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洁毕业答辩PPT模板"/>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7.5,&quot;left&quot;:49.05,&quot;top&quot;:93.85,&quot;width&quot;:860.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7.5,&quot;left&quot;:49.05,&quot;top&quot;:93.85,&quot;width&quot;:860.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7.5,&quot;left&quot;:49.05,&quot;top&quot;:93.85,&quot;width&quot;:860.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2.2965354330708,&quot;left&quot;:20.75614173228346,&quot;top&quot;:196.31133858267717,&quot;width&quot;:1000.553228346456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2.2965354330708,&quot;left&quot;:20.75614173228346,&quot;top&quot;:196.31133858267717,&quot;width&quot;:1000.553228346456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2.2965354330708,&quot;left&quot;:20.75614173228346,&quot;top&quot;:196.31133858267717,&quot;width&quot;:1000.553228346456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1000</Words>
  <Application>Microsoft Office PowerPoint</Application>
  <PresentationFormat>宽屏</PresentationFormat>
  <Paragraphs>143</Paragraphs>
  <Slides>11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等线</vt:lpstr>
      <vt:lpstr>等线 Light</vt:lpstr>
      <vt:lpstr>黑体</vt:lpstr>
      <vt:lpstr>华文楷体</vt:lpstr>
      <vt:lpstr>宋体</vt:lpstr>
      <vt:lpstr>微软雅黑</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dc:description>http://www.ypppt.com/</dc:description>
  <cp:lastModifiedBy>航天 王</cp:lastModifiedBy>
  <cp:revision>220</cp:revision>
  <dcterms:created xsi:type="dcterms:W3CDTF">2026-03-02T08:57:17Z</dcterms:created>
  <dcterms:modified xsi:type="dcterms:W3CDTF">2026-03-12T14:14:58Z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17AC1BE5E3B64897913AFA77BC367DF6_12</vt:lpwstr>
  </property>
  <property fmtid="{D5CDD505-2E9C-101B-9397-08002B2CF9AE}" pid="3" name="KSOProductBuildVer">
    <vt:lpwstr>2052-12.1.24031.24031</vt:lpwstr>
  </property>
</Properties>
</file>