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7"/>
  </p:handoutMasterIdLst>
  <p:sldIdLst>
    <p:sldId id="260" r:id="rId3"/>
    <p:sldId id="545" r:id="rId5"/>
    <p:sldId id="590" r:id="rId6"/>
    <p:sldId id="773" r:id="rId7"/>
    <p:sldId id="774" r:id="rId8"/>
    <p:sldId id="775" r:id="rId9"/>
    <p:sldId id="760" r:id="rId10"/>
    <p:sldId id="758" r:id="rId11"/>
    <p:sldId id="759" r:id="rId12"/>
    <p:sldId id="761" r:id="rId13"/>
    <p:sldId id="762" r:id="rId14"/>
    <p:sldId id="765" r:id="rId15"/>
    <p:sldId id="766" r:id="rId16"/>
    <p:sldId id="776" r:id="rId17"/>
    <p:sldId id="769" r:id="rId18"/>
    <p:sldId id="770" r:id="rId19"/>
    <p:sldId id="763" r:id="rId20"/>
    <p:sldId id="767" r:id="rId21"/>
    <p:sldId id="771" r:id="rId22"/>
    <p:sldId id="768" r:id="rId23"/>
    <p:sldId id="772" r:id="rId24"/>
    <p:sldId id="764" r:id="rId25"/>
    <p:sldId id="597" r:id="rId26"/>
  </p:sldIdLst>
  <p:sldSz cx="12192000" cy="6858000"/>
  <p:notesSz cx="6858000" cy="9144000"/>
  <p:embeddedFontLst>
    <p:embeddedFont>
      <p:font typeface="微软雅黑" panose="020B0503020204020204" pitchFamily="34" charset="-122"/>
      <p:regular r:id="rId31"/>
    </p:embeddedFont>
    <p:embeddedFont>
      <p:font typeface="华文细黑" panose="02010600040101010101" pitchFamily="2" charset="-122"/>
      <p:regular r:id="rId32"/>
    </p:embeddedFont>
    <p:embeddedFont>
      <p:font typeface="华文楷体" panose="02010600040101010101" pitchFamily="2" charset="-122"/>
      <p:regular r:id="rId33"/>
    </p:embeddedFont>
    <p:embeddedFont>
      <p:font typeface="Verdana" panose="020B0604030504040204" pitchFamily="34" charset="0"/>
      <p:regular r:id="rId34"/>
      <p:bold r:id="rId35"/>
      <p:italic r:id="rId36"/>
      <p:boldItalic r:id="rId37"/>
    </p:embeddedFont>
    <p:embeddedFont>
      <p:font typeface="楷体" panose="02010609060101010101" pitchFamily="49" charset="-122"/>
      <p:regular r:id="rId38"/>
    </p:embeddedFont>
    <p:embeddedFont>
      <p:font typeface="黑体" panose="02010609060101010101" pitchFamily="49" charset="-122"/>
      <p:regular r:id="rId39"/>
    </p:embeddedFont>
    <p:embeddedFont>
      <p:font typeface="思源黑体 CN Bold" panose="02010600030101010101" pitchFamily="34" charset="-122"/>
      <p:regular r:id="rId40"/>
    </p:embeddedFont>
    <p:embeddedFont>
      <p:font typeface="华文隶书" panose="02010800040101010101" charset="-122"/>
      <p:regular r:id="rId41"/>
    </p:embeddedFont>
    <p:embeddedFont>
      <p:font typeface="仿宋" panose="02010609060101010101" pitchFamily="49" charset="-122"/>
      <p:regular r:id="rId42"/>
    </p:embeddedFont>
    <p:embeddedFont>
      <p:font typeface="华文仿宋" panose="02010600040101010101" pitchFamily="2" charset="-122"/>
      <p:regular r:id="rId43"/>
    </p:embeddedFont>
    <p:embeddedFont>
      <p:font typeface="Calibri" panose="020F0502020204030204" charset="0"/>
      <p:regular r:id="rId44"/>
      <p:bold r:id="rId45"/>
      <p:italic r:id="rId46"/>
      <p:boldItalic r:id="rId47"/>
    </p:embeddedFont>
    <p:embeddedFont>
      <p:font typeface="JetBrains Mono" panose="02000009000000000000" pitchFamily="49" charset="0"/>
      <p:regular r:id="rId48"/>
    </p:embeddedFont>
    <p:embeddedFont>
      <p:font typeface="华文宋体" panose="02010600040101010101" pitchFamily="2" charset="-122"/>
      <p:regular r:id="rId49"/>
    </p:embeddedFont>
    <p:embeddedFont>
      <p:font typeface="等线" panose="02010600030101010101" charset="-122"/>
      <p:regular r:id="rId5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C937C2"/>
    <a:srgbClr val="FF99FF"/>
    <a:srgbClr val="916C94"/>
    <a:srgbClr val="4EA4DD"/>
    <a:srgbClr val="20517C"/>
    <a:srgbClr val="E8EAE9"/>
    <a:srgbClr val="FFFFFF"/>
    <a:srgbClr val="A5A5A5"/>
    <a:srgbClr val="16A2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9467" autoAdjust="0"/>
  </p:normalViewPr>
  <p:slideViewPr>
    <p:cSldViewPr>
      <p:cViewPr varScale="1">
        <p:scale>
          <a:sx n="91" d="100"/>
          <a:sy n="91" d="100"/>
        </p:scale>
        <p:origin x="225" y="45"/>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font" Target="fonts/font20.fntdata"/><Relationship Id="rId5" Type="http://schemas.openxmlformats.org/officeDocument/2006/relationships/slide" Target="slides/slide2.xml"/><Relationship Id="rId49" Type="http://schemas.openxmlformats.org/officeDocument/2006/relationships/font" Target="fonts/font19.fntdata"/><Relationship Id="rId48" Type="http://schemas.openxmlformats.org/officeDocument/2006/relationships/font" Target="fonts/font18.fntdata"/><Relationship Id="rId47" Type="http://schemas.openxmlformats.org/officeDocument/2006/relationships/font" Target="fonts/font17.fntdata"/><Relationship Id="rId46" Type="http://schemas.openxmlformats.org/officeDocument/2006/relationships/font" Target="fonts/font16.fntdata"/><Relationship Id="rId45" Type="http://schemas.openxmlformats.org/officeDocument/2006/relationships/font" Target="fonts/font15.fntdata"/><Relationship Id="rId44" Type="http://schemas.openxmlformats.org/officeDocument/2006/relationships/font" Target="fonts/font14.fntdata"/><Relationship Id="rId43" Type="http://schemas.openxmlformats.org/officeDocument/2006/relationships/font" Target="fonts/font13.fntdata"/><Relationship Id="rId42" Type="http://schemas.openxmlformats.org/officeDocument/2006/relationships/font" Target="fonts/font12.fntdata"/><Relationship Id="rId41" Type="http://schemas.openxmlformats.org/officeDocument/2006/relationships/font" Target="fonts/font11.fntdata"/><Relationship Id="rId40" Type="http://schemas.openxmlformats.org/officeDocument/2006/relationships/font" Target="fonts/font10.fntdata"/><Relationship Id="rId4" Type="http://schemas.openxmlformats.org/officeDocument/2006/relationships/notesMaster" Target="notesMasters/notesMaster1.xml"/><Relationship Id="rId39" Type="http://schemas.openxmlformats.org/officeDocument/2006/relationships/font" Target="fonts/font9.fntdata"/><Relationship Id="rId38" Type="http://schemas.openxmlformats.org/officeDocument/2006/relationships/font" Target="fonts/font8.fntdata"/><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480FC4-C496-4F93-81C5-2794A775976F}"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75ED9D-A359-47D3-9083-38E91EB725D2}"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C0BA0B-DAEA-4680-AAC1-9E8B91E6063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BA15-3F6E-4149-9019-6609FD57F75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各位老师下午好，我是来自种子班的罗畅，我的毕设题目是安卓应用保活行为识别与</a:t>
            </a:r>
            <a:r>
              <a:rPr lang="zh-CN" altLang="en-US"/>
              <a:t>意图分析，指导老师是袁巍教授</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我的答辩将分为以下</a:t>
            </a:r>
            <a:r>
              <a:rPr lang="en-US" altLang="zh-CN" dirty="0"/>
              <a:t>5</a:t>
            </a:r>
            <a:r>
              <a:rPr lang="zh-CN" altLang="en-US" dirty="0"/>
              <a:t>个部分</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首先，什么是保活呢？</a:t>
            </a:r>
            <a:r>
              <a:rPr lang="en-US" altLang="zh-CN" sz="4000" dirty="0"/>
              <a:t>APP</a:t>
            </a:r>
            <a:r>
              <a:rPr lang="zh-CN" altLang="en-US" sz="4000" dirty="0"/>
              <a:t>保活指的是应用开发者通过特定技术手段，绕过操作系统的清理，让软件在后台持续保持活跃，这种需求通常在实时性和持续性服务的场景出现，比如骑车时，手机息屏，边听音乐边导航。但是，技术是一把双刃剑。</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62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如果保活技术被恶意利用，将会造成诸如实际电池加速消耗、发热卡顿甚至隐私泄露资费受损等问题，例如右图展示的流氓通知和广告。为什么要研究安卓保活行为呢？因为安卓是目前市占率最高的移动端操作系统，且恶意的保活行为正在严重破坏安卓移动生态。研究如何检测保活、分析保活意图，区分良性和恶意保活，对提升用户体验，捍卫健康移动生态具有重要意义</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sz="4000" dirty="0"/>
              <a:t>然后是研究现状。目前国内外对安卓保活的研究刚刚开始，相关工作不多，例如港理工的罗夏朴老师的论文，首次系统性研究保活行为，但没有关注保活行为的意图和区分保活行为良恶。而中科大的一位硕士，则只针对无声音频保活行为进行研究，也有局限性。目前暂无研究针对工业界的保活行为进行检测识别和判断。</a:t>
            </a:r>
            <a:endParaRPr lang="zh-CN" altLang="en-US" sz="4000" dirty="0"/>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62500" lnSpcReduction="20000"/>
          </a:bodyPr>
          <a:lstStyle/>
          <a:p>
            <a:r>
              <a:rPr lang="zh-CN" altLang="en-US" sz="4000" dirty="0"/>
              <a:t>研究真实工业界的保活行为，还存在诸多挑战，例如保活行为多种多样，真实的</a:t>
            </a:r>
            <a:r>
              <a:rPr lang="en-US" altLang="zh-CN" sz="4000" dirty="0"/>
              <a:t>APP</a:t>
            </a:r>
            <a:r>
              <a:rPr lang="zh-CN" altLang="en-US" sz="4000" dirty="0"/>
              <a:t>逻辑繁杂，难以精确定位相关代码，而且用传统的方法本身难以理解代码意图和良恶。为了应对这些困难，本课题采取了编写针对性规则，基于类抽取函数调用图，借助大模型分析理解代码的措施，并期望能构建一个识别、分析、理解和判断保活行为的框架。</a:t>
            </a:r>
            <a:endParaRPr lang="zh-CN" altLang="en-US" sz="4000" dirty="0"/>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62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课题第一个研究内容，首先是检测与定位。本课题研究的保活行为保活无声音频、单像素、灰色前台三种，这三种保活行为来自华为安全部门报告，在他们的华为应用市场是比较常见的三种。研究保活行为的第一步是找到</a:t>
            </a:r>
            <a:r>
              <a:rPr lang="en-US" altLang="zh-CN" sz="4000" dirty="0"/>
              <a:t>APP</a:t>
            </a:r>
            <a:r>
              <a:rPr lang="zh-CN" altLang="en-US" sz="4000" dirty="0"/>
              <a:t>保活行为，再根据函数调用关系，溯源找到业务逻辑，梳理出一条调用链，用于分析理解保活意图。</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1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课题第二个研究内容，借助大模型理解判断保活行为意图。因为业务代码本身难以看出良恶属性，所以结合保活核心代码调用链和</a:t>
            </a:r>
            <a:r>
              <a:rPr lang="en-US" altLang="zh-CN" sz="4000" dirty="0"/>
              <a:t>APP</a:t>
            </a:r>
            <a:r>
              <a:rPr lang="zh-CN" altLang="en-US" sz="4000" dirty="0"/>
              <a:t>功能这些信息，借助大语言模型进行对比判断。</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所以，为完成上述研究内容，课题构建了一个基于层级函数调用图的保活识别与意图分析框架，取名为</a:t>
            </a:r>
            <a:r>
              <a:rPr lang="en-US" altLang="zh-CN" sz="4000" dirty="0"/>
              <a:t>KALAD</a:t>
            </a:r>
            <a:r>
              <a:rPr lang="zh-CN" altLang="en-US" sz="4000" dirty="0"/>
              <a:t>，即</a:t>
            </a:r>
            <a:r>
              <a:rPr lang="en-US" altLang="zh-CN" sz="4000" dirty="0" err="1"/>
              <a:t>KeepAlive</a:t>
            </a:r>
            <a:r>
              <a:rPr lang="en-US" altLang="zh-CN" sz="4000" dirty="0"/>
              <a:t> Application Detector</a:t>
            </a:r>
            <a:r>
              <a:rPr lang="zh-CN" altLang="en-US" sz="4000" dirty="0"/>
              <a:t>，包含预处理、保活行为检测、函数调用图抽取、大模型理解意图四个部分。</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第一部分预处理，包括解包</a:t>
            </a:r>
            <a:r>
              <a:rPr lang="en-US" altLang="zh-CN" sz="4000" dirty="0"/>
              <a:t>APK</a:t>
            </a:r>
            <a:r>
              <a:rPr lang="zh-CN" altLang="en-US" sz="4000" dirty="0"/>
              <a:t>、获取</a:t>
            </a:r>
            <a:r>
              <a:rPr lang="en-US" altLang="zh-CN" sz="4000" dirty="0"/>
              <a:t>APK</a:t>
            </a:r>
            <a:r>
              <a:rPr lang="zh-CN" altLang="en-US" sz="4000" dirty="0"/>
              <a:t>字节码文件等，为后续步骤做准备</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第二部分包括三种保活行为的独立检测规则，其中无声音频保活检测包括寻找无声音频、寻找</a:t>
            </a:r>
            <a:r>
              <a:rPr lang="en-US" altLang="zh-CN" sz="4000" dirty="0"/>
              <a:t>ID</a:t>
            </a:r>
            <a:r>
              <a:rPr lang="zh-CN" altLang="en-US" sz="4000" dirty="0"/>
              <a:t>、寻找</a:t>
            </a:r>
            <a:r>
              <a:rPr lang="en-US" altLang="zh-CN" sz="4000" dirty="0"/>
              <a:t>ID</a:t>
            </a:r>
            <a:r>
              <a:rPr lang="zh-CN" altLang="en-US" sz="4000" dirty="0"/>
              <a:t>的调用三个部分</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单像素</a:t>
            </a:r>
            <a:r>
              <a:rPr lang="en-US" altLang="zh-CN" sz="4000" dirty="0"/>
              <a:t>Activity</a:t>
            </a:r>
            <a:r>
              <a:rPr lang="zh-CN" altLang="en-US" sz="4000" dirty="0"/>
              <a:t>保活检测则包括提取和遍历</a:t>
            </a:r>
            <a:r>
              <a:rPr lang="en-US" altLang="zh-CN" sz="4000" dirty="0"/>
              <a:t>APK</a:t>
            </a:r>
            <a:r>
              <a:rPr lang="zh-CN" altLang="en-US" sz="4000" dirty="0"/>
              <a:t>的所有</a:t>
            </a:r>
            <a:r>
              <a:rPr lang="en-US" altLang="zh-CN" sz="4000" dirty="0"/>
              <a:t>Activity</a:t>
            </a:r>
            <a:r>
              <a:rPr lang="zh-CN" altLang="en-US" sz="4000" dirty="0"/>
              <a:t>、检查函数</a:t>
            </a:r>
            <a:r>
              <a:rPr lang="en-US" altLang="zh-CN" sz="4000" dirty="0" err="1"/>
              <a:t>setAttributes</a:t>
            </a:r>
            <a:r>
              <a:rPr lang="zh-CN" altLang="en-US" sz="4000" dirty="0"/>
              <a:t>的调用和参数赋值这些部分</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灰色前台</a:t>
            </a:r>
            <a:r>
              <a:rPr lang="en-US" altLang="zh-CN" sz="4000" dirty="0"/>
              <a:t>Service</a:t>
            </a:r>
            <a:r>
              <a:rPr lang="zh-CN" altLang="en-US" sz="4000" dirty="0"/>
              <a:t>保活会包括两个使用下面的特定规则互相拉起的</a:t>
            </a:r>
            <a:r>
              <a:rPr lang="en-US" altLang="zh-CN" sz="4000" dirty="0"/>
              <a:t>Service</a:t>
            </a: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这种保活行为的检测包括提取和遍历</a:t>
            </a:r>
            <a:r>
              <a:rPr lang="en-US" altLang="zh-CN" sz="4000" dirty="0"/>
              <a:t>APK</a:t>
            </a:r>
            <a:r>
              <a:rPr lang="zh-CN" altLang="en-US" sz="4000" dirty="0"/>
              <a:t>所有</a:t>
            </a:r>
            <a:r>
              <a:rPr lang="en-US" altLang="zh-CN" sz="4000" dirty="0"/>
              <a:t>Service</a:t>
            </a:r>
            <a:r>
              <a:rPr lang="zh-CN" altLang="en-US" sz="4000" dirty="0"/>
              <a:t>、检查主辅</a:t>
            </a:r>
            <a:r>
              <a:rPr lang="en-US" altLang="zh-CN" sz="4000" dirty="0"/>
              <a:t>Service</a:t>
            </a:r>
            <a:r>
              <a:rPr lang="zh-CN" altLang="en-US" sz="4000" dirty="0"/>
              <a:t>和主辅</a:t>
            </a:r>
            <a:r>
              <a:rPr lang="en-US" altLang="zh-CN" sz="4000" dirty="0"/>
              <a:t>Service</a:t>
            </a:r>
            <a:r>
              <a:rPr lang="zh-CN" altLang="en-US" sz="4000" dirty="0"/>
              <a:t>配对三个部分。以上三种保活行为检测的结果都是实现保活行为的关键类，这些类将进入下一步，函数调用图抽取</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62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第三部分函数调用图抽取，如果直接在函数调用图中找调用，很容易进入死胡同，因为类的使用，往往不是直接调函数的，而是以类为单位进行调用。设计了一种以类名为层级的函数调用图抽取算法，如下图所示，先找到第</a:t>
            </a:r>
            <a:r>
              <a:rPr lang="en-US" altLang="zh-CN" sz="4000" dirty="0"/>
              <a:t>0</a:t>
            </a:r>
            <a:r>
              <a:rPr lang="zh-CN" altLang="en-US" sz="4000" dirty="0"/>
              <a:t>层的所有函数，再找到他们的源节点函数，记录类名，记为第一层，再找到第一层的所有函数，循环直至没有新的源或达到设定层数。</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第四部分大模型理解，为让大模型逐步理解保活关键代码及其上下文，并给出良恶性判断，使用多轮提问方式，包括生成函数代码摘要和单层总意图理解、汇总信息提炼整体意图、</a:t>
            </a:r>
            <a:r>
              <a:rPr lang="en-US" altLang="zh-CN" sz="4000" dirty="0"/>
              <a:t>APP</a:t>
            </a:r>
            <a:r>
              <a:rPr lang="zh-CN" altLang="en-US" sz="4000" dirty="0"/>
              <a:t>功能描述去主观化和功能对比良恶判断四个步骤，最终得出保活行为良恶性的判断。</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接下来是实验结果分析，为评估</a:t>
            </a:r>
            <a:r>
              <a:rPr lang="en-US" altLang="zh-CN" sz="4000" dirty="0"/>
              <a:t>KALAD</a:t>
            </a:r>
            <a:r>
              <a:rPr lang="zh-CN" altLang="en-US" sz="4000" dirty="0"/>
              <a:t>的有效性和性能，以及研究三种保活行为的在野特征，设计三个实验，分别回答三个问题，以下是实验软硬件环境和实验数据集设置</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首先是</a:t>
            </a:r>
            <a:r>
              <a:rPr lang="en-US" altLang="zh-CN" sz="4000" dirty="0"/>
              <a:t>KALAD</a:t>
            </a:r>
            <a:r>
              <a:rPr lang="zh-CN" altLang="en-US" sz="4000" dirty="0"/>
              <a:t>的检测保活行为有效性，如下表所示，</a:t>
            </a:r>
            <a:r>
              <a:rPr lang="en-US" altLang="zh-CN" sz="4000" dirty="0"/>
              <a:t>252</a:t>
            </a:r>
            <a:r>
              <a:rPr lang="zh-CN" altLang="en-US" sz="4000" dirty="0"/>
              <a:t>个</a:t>
            </a:r>
            <a:r>
              <a:rPr lang="en-US" altLang="zh-CN" sz="4000" dirty="0"/>
              <a:t>APK</a:t>
            </a:r>
            <a:r>
              <a:rPr lang="zh-CN" altLang="en-US" sz="4000" dirty="0"/>
              <a:t>样本中一共检出</a:t>
            </a:r>
            <a:r>
              <a:rPr lang="en-US" altLang="zh-CN" sz="4000" dirty="0"/>
              <a:t>239</a:t>
            </a:r>
            <a:r>
              <a:rPr lang="zh-CN" altLang="en-US" sz="4000" dirty="0"/>
              <a:t>个</a:t>
            </a:r>
            <a:r>
              <a:rPr lang="en-US" altLang="zh-CN" sz="4000" dirty="0"/>
              <a:t>APK</a:t>
            </a:r>
            <a:r>
              <a:rPr lang="zh-CN" altLang="en-US" sz="4000" dirty="0"/>
              <a:t>存在</a:t>
            </a:r>
            <a:r>
              <a:rPr lang="en-US" altLang="zh-CN" sz="4000" dirty="0"/>
              <a:t>353</a:t>
            </a:r>
            <a:r>
              <a:rPr lang="zh-CN" altLang="en-US" sz="4000" dirty="0"/>
              <a:t>处保活行为，准确率几乎</a:t>
            </a:r>
            <a:r>
              <a:rPr lang="en-US" altLang="zh-CN" sz="4000" dirty="0"/>
              <a:t>100%</a:t>
            </a:r>
            <a:endParaRPr lang="en-US" altLang="zh-CN"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然后是</a:t>
            </a:r>
            <a:r>
              <a:rPr lang="en-US" altLang="zh-CN" sz="4000" dirty="0"/>
              <a:t>KALAD</a:t>
            </a:r>
            <a:r>
              <a:rPr lang="zh-CN" altLang="en-US" sz="4000" dirty="0"/>
              <a:t>借用大模型的有效性，</a:t>
            </a:r>
            <a:r>
              <a:rPr lang="en-US" altLang="zh-CN" sz="4000" dirty="0"/>
              <a:t>353</a:t>
            </a:r>
            <a:r>
              <a:rPr lang="zh-CN" altLang="en-US" sz="4000" dirty="0"/>
              <a:t>处保活行为经过</a:t>
            </a:r>
            <a:r>
              <a:rPr lang="en-US" altLang="zh-CN" sz="4000" dirty="0"/>
              <a:t>012</a:t>
            </a:r>
            <a:r>
              <a:rPr lang="zh-CN" altLang="en-US" sz="4000" dirty="0"/>
              <a:t>次扩展后，给大模型进行处理，准确率均为</a:t>
            </a:r>
            <a:r>
              <a:rPr lang="en-US" altLang="zh-CN" sz="4000" dirty="0"/>
              <a:t>80%</a:t>
            </a:r>
            <a:r>
              <a:rPr lang="zh-CN" altLang="en-US" sz="4000" dirty="0"/>
              <a:t>以上，且随着层数上升而稳步上升</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接下来是</a:t>
            </a:r>
            <a:r>
              <a:rPr lang="en-US" altLang="zh-CN" sz="4000" dirty="0"/>
              <a:t>KALAD</a:t>
            </a:r>
            <a:r>
              <a:rPr lang="zh-CN" altLang="en-US" sz="4000" dirty="0"/>
              <a:t>的性能，</a:t>
            </a:r>
            <a:r>
              <a:rPr lang="en-US" altLang="zh-CN" sz="4000" dirty="0"/>
              <a:t>KALAD</a:t>
            </a:r>
            <a:r>
              <a:rPr lang="zh-CN" altLang="en-US" sz="4000" dirty="0"/>
              <a:t>分析</a:t>
            </a:r>
            <a:r>
              <a:rPr lang="en-US" altLang="zh-CN" sz="4000" dirty="0"/>
              <a:t>252</a:t>
            </a:r>
            <a:r>
              <a:rPr lang="zh-CN" altLang="en-US" sz="4000" dirty="0"/>
              <a:t>个样本平均用时</a:t>
            </a:r>
            <a:r>
              <a:rPr lang="en-US" altLang="zh-CN" sz="4000" dirty="0"/>
              <a:t>437</a:t>
            </a:r>
            <a:r>
              <a:rPr lang="zh-CN" altLang="en-US" sz="4000" dirty="0"/>
              <a:t>秒，保活行为数量和用时的关系如下图所示，呈现正相关关系，除此之外还统计了</a:t>
            </a:r>
            <a:r>
              <a:rPr lang="en-US" altLang="zh-CN" sz="4000" dirty="0"/>
              <a:t>APK</a:t>
            </a:r>
            <a:r>
              <a:rPr lang="zh-CN" altLang="en-US" sz="4000" dirty="0"/>
              <a:t>大小和</a:t>
            </a:r>
            <a:r>
              <a:rPr lang="en-US" altLang="zh-CN" sz="4000" dirty="0"/>
              <a:t>APK</a:t>
            </a:r>
            <a:r>
              <a:rPr lang="zh-CN" altLang="en-US" sz="4000" dirty="0"/>
              <a:t>函数数量对预处理阶段一个较耗时的函数的运行时间影响，可以看到基于函数数量的拟合更好，说明他对</a:t>
            </a:r>
            <a:r>
              <a:rPr lang="en-US" altLang="zh-CN" sz="4000" dirty="0" err="1"/>
              <a:t>AnalysisAPK</a:t>
            </a:r>
            <a:r>
              <a:rPr lang="en-US" altLang="zh-CN" sz="4000" dirty="0"/>
              <a:t>()</a:t>
            </a:r>
            <a:r>
              <a:rPr lang="zh-CN" altLang="en-US" sz="4000" dirty="0"/>
              <a:t>函数的用时影响更大</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最后是三种保活行为的在野分析，由于时间有限，只分析了</a:t>
            </a:r>
            <a:r>
              <a:rPr lang="en-US" altLang="zh-CN" sz="4000" dirty="0"/>
              <a:t>971</a:t>
            </a:r>
            <a:r>
              <a:rPr lang="zh-CN" altLang="en-US" sz="4000" dirty="0"/>
              <a:t>个</a:t>
            </a:r>
            <a:r>
              <a:rPr lang="en-US" altLang="zh-CN" sz="4000" dirty="0"/>
              <a:t>APK</a:t>
            </a:r>
            <a:r>
              <a:rPr lang="zh-CN" altLang="en-US" sz="4000" dirty="0"/>
              <a:t>，检出少数</a:t>
            </a:r>
            <a:r>
              <a:rPr lang="en-US" altLang="zh-CN" sz="4000" dirty="0"/>
              <a:t>APK</a:t>
            </a:r>
            <a:r>
              <a:rPr lang="zh-CN" altLang="en-US" sz="4000" dirty="0"/>
              <a:t>具有保活行为，因为数量较少，所以直接进行了手动分析，结果如下表所示，总体而言，在野的</a:t>
            </a:r>
            <a:r>
              <a:rPr lang="en-US" altLang="zh-CN" sz="4000" dirty="0"/>
              <a:t>APP</a:t>
            </a:r>
            <a:r>
              <a:rPr lang="zh-CN" altLang="en-US" sz="4000" dirty="0"/>
              <a:t>使用保活行为，大部分都在业务范围内的合理使用，个别可能存在恶意行为</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62500" lnSpcReduction="20000"/>
          </a:bodyPr>
          <a:lstStyle/>
          <a:p>
            <a:pPr marL="0" marR="0" lvl="0" indent="0" algn="l" defTabSz="914400" rtl="0" eaLnBrk="0" fontAlgn="auto" latinLnBrk="0" hangingPunct="0">
              <a:lnSpc>
                <a:spcPct val="100000"/>
              </a:lnSpc>
              <a:spcBef>
                <a:spcPts val="0"/>
              </a:spcBef>
              <a:spcAft>
                <a:spcPts val="0"/>
              </a:spcAft>
              <a:buClrTx/>
              <a:buSzTx/>
              <a:buFont typeface="Wingdings" panose="05000000000000000000" pitchFamily="2" charset="2"/>
              <a:buNone/>
              <a:defRPr/>
            </a:pPr>
            <a:r>
              <a:rPr lang="zh-CN" altLang="en-US" sz="4000" dirty="0"/>
              <a:t>总结，本课题构建了一个基于层级函数调用图的保活行为检测与分析理解框架，对三种保活行为进行规模化的实证研究，为行业监管提供了参考，提出了一种以类名为层级的函数调用图抽取算法，能从庞大的函数调用图中精确定位特定行为相关代码上下文。本课题也存在不足，例如无法分析带壳</a:t>
            </a:r>
            <a:r>
              <a:rPr lang="en-US" altLang="zh-CN" sz="4000" dirty="0"/>
              <a:t>APK</a:t>
            </a:r>
            <a:r>
              <a:rPr lang="zh-CN" altLang="en-US" sz="4000" dirty="0"/>
              <a:t>、检测范围覆盖局限，大模型分析理解能力需要优化，在未来的工作中期望可以进行优化</a:t>
            </a:r>
            <a:endParaRPr lang="zh-CN" altLang="en-US" sz="4000" dirty="0"/>
          </a:p>
          <a:p>
            <a:pPr marL="0" indent="0" eaLnBrk="0" hangingPunct="0">
              <a:buFont typeface="Wingdings" panose="05000000000000000000" pitchFamily="2" charset="2"/>
              <a:buNone/>
            </a:pPr>
            <a:endParaRPr lang="en-US" altLang="zh-CN" sz="2800"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fld id="{2C7DBA15-3F6E-4149-9019-6609FD57F75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我的汇报到此结束，请各位老师批评指正</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2C7DBA15-3F6E-4149-9019-6609FD57F75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
        <p:nvSpPr>
          <p:cNvPr id="4" name="矩形 3"/>
          <p:cNvSpPr/>
          <p:nvPr userDrawn="1"/>
        </p:nvSpPr>
        <p:spPr>
          <a:xfrm>
            <a:off x="-24680" y="0"/>
            <a:ext cx="12216680" cy="2132856"/>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userDrawn="1"/>
        </p:nvSpPr>
        <p:spPr>
          <a:xfrm>
            <a:off x="-24680" y="5301208"/>
            <a:ext cx="12216680" cy="1556792"/>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文本占位符 145"/>
          <p:cNvSpPr>
            <a:spLocks noGrp="1"/>
          </p:cNvSpPr>
          <p:nvPr>
            <p:ph type="body" sz="quarter" idx="10" hasCustomPrompt="1"/>
          </p:nvPr>
        </p:nvSpPr>
        <p:spPr>
          <a:xfrm>
            <a:off x="839416" y="2924944"/>
            <a:ext cx="6549312" cy="808633"/>
          </a:xfrm>
          <a:prstGeom prst="rect">
            <a:avLst/>
          </a:prstGeom>
        </p:spPr>
        <p:txBody>
          <a:bodyPr/>
          <a:lstStyle>
            <a:lvl1pPr marL="0" indent="0" algn="l">
              <a:buNone/>
              <a:defRPr sz="4800" b="1">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毕业论文答辩</a:t>
            </a:r>
            <a:r>
              <a:rPr lang="en-US" altLang="zh-CN" dirty="0"/>
              <a:t>PPT</a:t>
            </a:r>
            <a:r>
              <a:rPr lang="zh-CN" altLang="en-US" dirty="0"/>
              <a:t>模板</a:t>
            </a:r>
            <a:endParaRPr lang="zh-CN" altLang="en-US" dirty="0"/>
          </a:p>
        </p:txBody>
      </p:sp>
      <p:sp>
        <p:nvSpPr>
          <p:cNvPr id="149" name="文本占位符 148"/>
          <p:cNvSpPr>
            <a:spLocks noGrp="1"/>
          </p:cNvSpPr>
          <p:nvPr>
            <p:ph type="body" sz="quarter" idx="11" hasCustomPrompt="1"/>
          </p:nvPr>
        </p:nvSpPr>
        <p:spPr>
          <a:xfrm>
            <a:off x="839415" y="3958958"/>
            <a:ext cx="3379105" cy="503237"/>
          </a:xfrm>
          <a:prstGeom prst="rect">
            <a:avLst/>
          </a:prstGeom>
        </p:spPr>
        <p:txBody>
          <a:bodyPr/>
          <a:lstStyle>
            <a:lvl1pPr>
              <a:defRPr sz="2400" b="1">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学院：金融学院</a:t>
            </a:r>
            <a:endParaRPr lang="zh-CN" altLang="en-US" dirty="0"/>
          </a:p>
        </p:txBody>
      </p:sp>
      <p:sp>
        <p:nvSpPr>
          <p:cNvPr id="150" name="文本占位符 148"/>
          <p:cNvSpPr>
            <a:spLocks noGrp="1"/>
          </p:cNvSpPr>
          <p:nvPr>
            <p:ph type="body" sz="quarter" idx="12" hasCustomPrompt="1"/>
          </p:nvPr>
        </p:nvSpPr>
        <p:spPr>
          <a:xfrm>
            <a:off x="4362537" y="3958958"/>
            <a:ext cx="3389647" cy="503237"/>
          </a:xfrm>
          <a:prstGeom prst="rect">
            <a:avLst/>
          </a:prstGeom>
        </p:spPr>
        <p:txBody>
          <a:bodyPr/>
          <a:lstStyle>
            <a:lvl1pPr>
              <a:defRPr sz="2400" b="1">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专业：国际金融</a:t>
            </a:r>
            <a:endParaRPr lang="zh-CN" altLang="en-US" dirty="0"/>
          </a:p>
        </p:txBody>
      </p:sp>
      <p:sp>
        <p:nvSpPr>
          <p:cNvPr id="151" name="文本占位符 148"/>
          <p:cNvSpPr>
            <a:spLocks noGrp="1"/>
          </p:cNvSpPr>
          <p:nvPr>
            <p:ph type="body" sz="quarter" idx="13" hasCustomPrompt="1"/>
          </p:nvPr>
        </p:nvSpPr>
        <p:spPr>
          <a:xfrm>
            <a:off x="6717772" y="5950099"/>
            <a:ext cx="2618588" cy="503237"/>
          </a:xfrm>
          <a:prstGeom prst="rect">
            <a:avLst/>
          </a:prstGeom>
        </p:spPr>
        <p:txBody>
          <a:bodyPr/>
          <a:lstStyle>
            <a:lvl1pPr>
              <a:defRPr sz="24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答辩人：北纬君</a:t>
            </a:r>
            <a:endParaRPr lang="zh-CN" altLang="en-US" dirty="0"/>
          </a:p>
        </p:txBody>
      </p:sp>
      <p:sp>
        <p:nvSpPr>
          <p:cNvPr id="152" name="文本占位符 148"/>
          <p:cNvSpPr>
            <a:spLocks noGrp="1"/>
          </p:cNvSpPr>
          <p:nvPr>
            <p:ph type="body" sz="quarter" idx="14" hasCustomPrompt="1"/>
          </p:nvPr>
        </p:nvSpPr>
        <p:spPr>
          <a:xfrm>
            <a:off x="9475105" y="5950099"/>
            <a:ext cx="2716895" cy="503237"/>
          </a:xfrm>
          <a:prstGeom prst="rect">
            <a:avLst/>
          </a:prstGeom>
        </p:spPr>
        <p:txBody>
          <a:bodyPr/>
          <a:lstStyle>
            <a:lvl1pPr marL="0" indent="0">
              <a:buNone/>
              <a:defRPr sz="24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指导老师：北纬君</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2">
    <p:spTree>
      <p:nvGrpSpPr>
        <p:cNvPr id="1" name=""/>
        <p:cNvGrpSpPr/>
        <p:nvPr/>
      </p:nvGrpSpPr>
      <p:grpSpPr>
        <a:xfrm>
          <a:off x="0" y="0"/>
          <a:ext cx="0" cy="0"/>
          <a:chOff x="0" y="0"/>
          <a:chExt cx="0" cy="0"/>
        </a:xfrm>
      </p:grpSpPr>
      <p:sp>
        <p:nvSpPr>
          <p:cNvPr id="3" name="矩形 2"/>
          <p:cNvSpPr/>
          <p:nvPr userDrawn="1"/>
        </p:nvSpPr>
        <p:spPr>
          <a:xfrm>
            <a:off x="0" y="0"/>
            <a:ext cx="3359696" cy="685800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707740" y="692696"/>
            <a:ext cx="2003884" cy="1938992"/>
          </a:xfrm>
          <a:prstGeom prst="rect">
            <a:avLst/>
          </a:prstGeom>
          <a:noFill/>
        </p:spPr>
        <p:txBody>
          <a:bodyPr wrap="square" rtlCol="0">
            <a:spAutoFit/>
          </a:bodyPr>
          <a:lstStyle/>
          <a:p>
            <a:pPr algn="dist"/>
            <a:r>
              <a:rPr lang="zh-CN" altLang="en-US" sz="6000" b="0" dirty="0">
                <a:solidFill>
                  <a:schemeClr val="bg1"/>
                </a:solidFill>
                <a:latin typeface="微软雅黑" panose="020B0503020204020204" pitchFamily="34" charset="-122"/>
                <a:ea typeface="微软雅黑" panose="020B0503020204020204" pitchFamily="34" charset="-122"/>
              </a:rPr>
              <a:t>汇报提纲</a:t>
            </a:r>
            <a:endParaRPr lang="zh-CN" altLang="en-US" sz="6000" b="0" dirty="0">
              <a:solidFill>
                <a:schemeClr val="bg1"/>
              </a:solidFill>
              <a:latin typeface="微软雅黑" panose="020B0503020204020204" pitchFamily="34" charset="-122"/>
              <a:ea typeface="微软雅黑" panose="020B0503020204020204" pitchFamily="34" charset="-122"/>
            </a:endParaRPr>
          </a:p>
        </p:txBody>
      </p:sp>
      <p:sp>
        <p:nvSpPr>
          <p:cNvPr id="56" name="文本占位符 148"/>
          <p:cNvSpPr>
            <a:spLocks noGrp="1"/>
          </p:cNvSpPr>
          <p:nvPr>
            <p:ph type="body" sz="quarter" idx="11" hasCustomPrompt="1"/>
          </p:nvPr>
        </p:nvSpPr>
        <p:spPr>
          <a:xfrm>
            <a:off x="5159896"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01</a:t>
            </a:r>
            <a:endParaRPr lang="zh-CN" altLang="en-US" dirty="0"/>
          </a:p>
        </p:txBody>
      </p:sp>
      <p:sp>
        <p:nvSpPr>
          <p:cNvPr id="57" name="文本占位符 148"/>
          <p:cNvSpPr>
            <a:spLocks noGrp="1"/>
          </p:cNvSpPr>
          <p:nvPr>
            <p:ph type="body" sz="quarter" idx="12" hasCustomPrompt="1"/>
          </p:nvPr>
        </p:nvSpPr>
        <p:spPr>
          <a:xfrm>
            <a:off x="5159896" y="2650071"/>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02</a:t>
            </a:r>
            <a:endParaRPr lang="zh-CN" altLang="en-US" dirty="0"/>
          </a:p>
        </p:txBody>
      </p:sp>
      <p:sp>
        <p:nvSpPr>
          <p:cNvPr id="58" name="文本占位符 148"/>
          <p:cNvSpPr>
            <a:spLocks noGrp="1"/>
          </p:cNvSpPr>
          <p:nvPr>
            <p:ph type="body" sz="quarter" idx="13" hasCustomPrompt="1"/>
          </p:nvPr>
        </p:nvSpPr>
        <p:spPr>
          <a:xfrm>
            <a:off x="5159896" y="3414673"/>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03</a:t>
            </a:r>
            <a:endParaRPr lang="zh-CN" altLang="en-US" dirty="0"/>
          </a:p>
        </p:txBody>
      </p:sp>
      <p:sp>
        <p:nvSpPr>
          <p:cNvPr id="59" name="文本占位符 148"/>
          <p:cNvSpPr>
            <a:spLocks noGrp="1"/>
          </p:cNvSpPr>
          <p:nvPr>
            <p:ph type="body" sz="quarter" idx="14" hasCustomPrompt="1"/>
          </p:nvPr>
        </p:nvSpPr>
        <p:spPr>
          <a:xfrm>
            <a:off x="5159896" y="4179275"/>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04</a:t>
            </a:r>
            <a:endParaRPr lang="zh-CN" altLang="en-US" dirty="0"/>
          </a:p>
        </p:txBody>
      </p:sp>
      <p:sp>
        <p:nvSpPr>
          <p:cNvPr id="60" name="文本占位符 148"/>
          <p:cNvSpPr>
            <a:spLocks noGrp="1"/>
          </p:cNvSpPr>
          <p:nvPr>
            <p:ph type="body" sz="quarter" idx="15" hasCustomPrompt="1"/>
          </p:nvPr>
        </p:nvSpPr>
        <p:spPr>
          <a:xfrm>
            <a:off x="5159896" y="49438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05</a:t>
            </a:r>
            <a:endParaRPr lang="zh-CN" altLang="en-US" dirty="0"/>
          </a:p>
        </p:txBody>
      </p:sp>
      <p:sp>
        <p:nvSpPr>
          <p:cNvPr id="61" name="文本占位符 148"/>
          <p:cNvSpPr>
            <a:spLocks noGrp="1"/>
          </p:cNvSpPr>
          <p:nvPr>
            <p:ph type="body" sz="quarter" idx="16" hasCustomPrompt="1"/>
          </p:nvPr>
        </p:nvSpPr>
        <p:spPr>
          <a:xfrm>
            <a:off x="5159896" y="57084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06</a:t>
            </a:r>
            <a:endParaRPr lang="zh-CN" altLang="en-US" dirty="0"/>
          </a:p>
        </p:txBody>
      </p:sp>
      <p:sp>
        <p:nvSpPr>
          <p:cNvPr id="67" name="文本占位符 148"/>
          <p:cNvSpPr>
            <a:spLocks noGrp="1"/>
          </p:cNvSpPr>
          <p:nvPr>
            <p:ph type="body" sz="quarter" idx="17" hasCustomPrompt="1"/>
          </p:nvPr>
        </p:nvSpPr>
        <p:spPr>
          <a:xfrm>
            <a:off x="7392144"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绪论引言</a:t>
            </a:r>
            <a:endParaRPr lang="zh-CN" altLang="en-US" dirty="0"/>
          </a:p>
        </p:txBody>
      </p:sp>
      <p:sp>
        <p:nvSpPr>
          <p:cNvPr id="68" name="文本占位符 148"/>
          <p:cNvSpPr>
            <a:spLocks noGrp="1"/>
          </p:cNvSpPr>
          <p:nvPr>
            <p:ph type="body" sz="quarter" idx="18" hasCustomPrompt="1"/>
          </p:nvPr>
        </p:nvSpPr>
        <p:spPr>
          <a:xfrm>
            <a:off x="7392144" y="2656557"/>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研究思路与方法</a:t>
            </a:r>
            <a:endParaRPr lang="zh-CN" altLang="en-US" dirty="0"/>
          </a:p>
        </p:txBody>
      </p:sp>
      <p:sp>
        <p:nvSpPr>
          <p:cNvPr id="69" name="文本占位符 148"/>
          <p:cNvSpPr>
            <a:spLocks noGrp="1"/>
          </p:cNvSpPr>
          <p:nvPr>
            <p:ph type="body" sz="quarter" idx="19" hasCustomPrompt="1"/>
          </p:nvPr>
        </p:nvSpPr>
        <p:spPr>
          <a:xfrm>
            <a:off x="7392144" y="341141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研究难点</a:t>
            </a:r>
            <a:endParaRPr lang="zh-CN" altLang="en-US" dirty="0"/>
          </a:p>
        </p:txBody>
      </p:sp>
      <p:sp>
        <p:nvSpPr>
          <p:cNvPr id="70" name="文本占位符 148"/>
          <p:cNvSpPr>
            <a:spLocks noGrp="1"/>
          </p:cNvSpPr>
          <p:nvPr>
            <p:ph type="body" sz="quarter" idx="20" hasCustomPrompt="1"/>
          </p:nvPr>
        </p:nvSpPr>
        <p:spPr>
          <a:xfrm>
            <a:off x="7392144" y="417950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研究数据</a:t>
            </a:r>
            <a:endParaRPr lang="zh-CN" altLang="en-US" dirty="0"/>
          </a:p>
        </p:txBody>
      </p:sp>
      <p:sp>
        <p:nvSpPr>
          <p:cNvPr id="71" name="文本占位符 148"/>
          <p:cNvSpPr>
            <a:spLocks noGrp="1"/>
          </p:cNvSpPr>
          <p:nvPr>
            <p:ph type="body" sz="quarter" idx="21" hasCustomPrompt="1"/>
          </p:nvPr>
        </p:nvSpPr>
        <p:spPr>
          <a:xfrm>
            <a:off x="7392144" y="495667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研究应用与成果</a:t>
            </a:r>
            <a:endParaRPr lang="zh-CN" altLang="en-US" dirty="0"/>
          </a:p>
        </p:txBody>
      </p:sp>
      <p:sp>
        <p:nvSpPr>
          <p:cNvPr id="72" name="文本占位符 148"/>
          <p:cNvSpPr>
            <a:spLocks noGrp="1"/>
          </p:cNvSpPr>
          <p:nvPr>
            <p:ph type="body" sz="quarter" idx="22" hasCustomPrompt="1"/>
          </p:nvPr>
        </p:nvSpPr>
        <p:spPr>
          <a:xfrm>
            <a:off x="7392144" y="570914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研究结论</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页3">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5612203" y="2421509"/>
            <a:ext cx="1044178" cy="1008063"/>
          </a:xfrm>
          <a:prstGeom prst="rect">
            <a:avLst/>
          </a:prstGeom>
        </p:spPr>
        <p:txBody>
          <a:bodyPr/>
          <a:lstStyle>
            <a:lvl1pPr marL="0" indent="0" algn="dist">
              <a:buNone/>
              <a:defRPr sz="6000">
                <a:solidFill>
                  <a:schemeClr val="tx1">
                    <a:lumMod val="85000"/>
                    <a:lumOff val="15000"/>
                  </a:schemeClr>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01</a:t>
            </a:r>
            <a:endParaRPr lang="zh-CN" altLang="en-US" dirty="0"/>
          </a:p>
        </p:txBody>
      </p:sp>
      <p:sp>
        <p:nvSpPr>
          <p:cNvPr id="55" name="文本占位符 6"/>
          <p:cNvSpPr>
            <a:spLocks noGrp="1"/>
          </p:cNvSpPr>
          <p:nvPr>
            <p:ph type="body" sz="quarter" idx="11" hasCustomPrompt="1"/>
          </p:nvPr>
        </p:nvSpPr>
        <p:spPr>
          <a:xfrm>
            <a:off x="5124013" y="3890952"/>
            <a:ext cx="1891640" cy="496824"/>
          </a:xfrm>
          <a:prstGeom prst="rect">
            <a:avLst/>
          </a:prstGeom>
        </p:spPr>
        <p:txBody>
          <a:bodyPr/>
          <a:lstStyle>
            <a:lvl1pPr marL="0" indent="0" algn="ctr">
              <a:buNone/>
              <a:defRPr sz="2400"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PART ONE</a:t>
            </a:r>
            <a:endParaRPr lang="zh-CN" altLang="en-US" dirty="0"/>
          </a:p>
        </p:txBody>
      </p:sp>
      <p:sp>
        <p:nvSpPr>
          <p:cNvPr id="56" name="文本占位符 6"/>
          <p:cNvSpPr>
            <a:spLocks noGrp="1"/>
          </p:cNvSpPr>
          <p:nvPr>
            <p:ph type="body" sz="quarter" idx="12" hasCustomPrompt="1"/>
          </p:nvPr>
        </p:nvSpPr>
        <p:spPr>
          <a:xfrm>
            <a:off x="3503712" y="4372336"/>
            <a:ext cx="5195640" cy="496824"/>
          </a:xfrm>
          <a:prstGeom prst="rect">
            <a:avLst/>
          </a:prstGeom>
        </p:spPr>
        <p:txBody>
          <a:bodyPr/>
          <a:lstStyle>
            <a:lvl1pPr marL="0" indent="0" algn="ctr">
              <a:buNone/>
              <a:defRPr sz="4000" baseline="0">
                <a:solidFill>
                  <a:srgbClr val="20517C"/>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绪论引言</a:t>
            </a:r>
            <a:endParaRPr lang="zh-CN" altLang="en-US" dirty="0"/>
          </a:p>
        </p:txBody>
      </p:sp>
      <p:sp>
        <p:nvSpPr>
          <p:cNvPr id="57" name="矩形 56"/>
          <p:cNvSpPr/>
          <p:nvPr userDrawn="1"/>
        </p:nvSpPr>
        <p:spPr>
          <a:xfrm>
            <a:off x="-24680" y="0"/>
            <a:ext cx="12216680" cy="126876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userDrawn="1"/>
        </p:nvSpPr>
        <p:spPr>
          <a:xfrm>
            <a:off x="-24680" y="5661248"/>
            <a:ext cx="12216680" cy="119564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3">
    <p:spTree>
      <p:nvGrpSpPr>
        <p:cNvPr id="1" name=""/>
        <p:cNvGrpSpPr/>
        <p:nvPr/>
      </p:nvGrpSpPr>
      <p:grpSpPr>
        <a:xfrm>
          <a:off x="0" y="0"/>
          <a:ext cx="0" cy="0"/>
          <a:chOff x="0" y="0"/>
          <a:chExt cx="0" cy="0"/>
        </a:xfrm>
      </p:grpSpPr>
      <p:sp>
        <p:nvSpPr>
          <p:cNvPr id="60" name="矩形 59"/>
          <p:cNvSpPr/>
          <p:nvPr userDrawn="1"/>
        </p:nvSpPr>
        <p:spPr>
          <a:xfrm>
            <a:off x="-24680" y="0"/>
            <a:ext cx="12216680" cy="1124744"/>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占位符 6"/>
          <p:cNvSpPr>
            <a:spLocks noGrp="1"/>
          </p:cNvSpPr>
          <p:nvPr>
            <p:ph type="body" sz="quarter" idx="10" hasCustomPrompt="1"/>
          </p:nvPr>
        </p:nvSpPr>
        <p:spPr>
          <a:xfrm>
            <a:off x="459944" y="278936"/>
            <a:ext cx="864096" cy="1008063"/>
          </a:xfrm>
          <a:prstGeom prst="rect">
            <a:avLst/>
          </a:prstGeom>
        </p:spPr>
        <p:txBody>
          <a:bodyPr/>
          <a:lstStyle>
            <a:lvl1pPr marL="0" indent="0" algn="dist">
              <a:buNone/>
              <a:defRPr sz="48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01</a:t>
            </a:r>
            <a:endParaRPr lang="zh-CN" altLang="en-US" dirty="0"/>
          </a:p>
        </p:txBody>
      </p:sp>
      <p:sp>
        <p:nvSpPr>
          <p:cNvPr id="63" name="文本占位符 6"/>
          <p:cNvSpPr>
            <a:spLocks noGrp="1"/>
          </p:cNvSpPr>
          <p:nvPr>
            <p:ph type="body" sz="quarter" idx="12" hasCustomPrompt="1"/>
          </p:nvPr>
        </p:nvSpPr>
        <p:spPr>
          <a:xfrm>
            <a:off x="1437592" y="348250"/>
            <a:ext cx="4586400" cy="496824"/>
          </a:xfrm>
          <a:prstGeom prst="rect">
            <a:avLst/>
          </a:prstGeom>
        </p:spPr>
        <p:txBody>
          <a:bodyPr/>
          <a:lstStyle>
            <a:lvl1pPr marL="0" indent="0" algn="l">
              <a:buNone/>
              <a:defRPr sz="4000" baseline="0">
                <a:solidFill>
                  <a:schemeClr val="bg1"/>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绪论引言</a:t>
            </a:r>
            <a:endParaRPr lang="zh-CN" altLang="en-US" dirty="0"/>
          </a:p>
        </p:txBody>
      </p:sp>
      <p:cxnSp>
        <p:nvCxnSpPr>
          <p:cNvPr id="64" name="直接连接符 63"/>
          <p:cNvCxnSpPr/>
          <p:nvPr userDrawn="1"/>
        </p:nvCxnSpPr>
        <p:spPr>
          <a:xfrm flipH="1">
            <a:off x="1102301" y="407372"/>
            <a:ext cx="307464" cy="4849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内容页3">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内容页3">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cstate="print">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4.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20.jpe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4.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tretch>
            <a:fillRect/>
          </a:stretch>
        </p:blipFill>
        <p:spPr>
          <a:xfrm>
            <a:off x="798520" y="380587"/>
            <a:ext cx="838317" cy="552527"/>
          </a:xfrm>
          <a:prstGeom prst="rect">
            <a:avLst/>
          </a:prstGeom>
        </p:spPr>
      </p:pic>
      <p:pic>
        <p:nvPicPr>
          <p:cNvPr id="11" name="图片 10"/>
          <p:cNvPicPr>
            <a:picLocks noChangeAspect="1"/>
          </p:cNvPicPr>
          <p:nvPr/>
        </p:nvPicPr>
        <p:blipFill>
          <a:blip r:embed="rId2"/>
          <a:stretch>
            <a:fillRect/>
          </a:stretch>
        </p:blipFill>
        <p:spPr>
          <a:xfrm>
            <a:off x="4852692" y="1890407"/>
            <a:ext cx="2486615" cy="1877444"/>
          </a:xfrm>
          <a:prstGeom prst="rect">
            <a:avLst/>
          </a:prstGeom>
        </p:spPr>
      </p:pic>
      <p:pic>
        <p:nvPicPr>
          <p:cNvPr id="59" name="图片 58" descr="huake.png"/>
          <p:cNvPicPr>
            <a:picLocks noChangeAspect="1"/>
          </p:cNvPicPr>
          <p:nvPr/>
        </p:nvPicPr>
        <p:blipFill>
          <a:blip r:embed="rId3" cstate="print"/>
          <a:stretch>
            <a:fillRect/>
          </a:stretch>
        </p:blipFill>
        <p:spPr>
          <a:xfrm>
            <a:off x="191344" y="218539"/>
            <a:ext cx="3886032" cy="785818"/>
          </a:xfrm>
          <a:prstGeom prst="rect">
            <a:avLst/>
          </a:prstGeom>
        </p:spPr>
      </p:pic>
      <p:grpSp>
        <p:nvGrpSpPr>
          <p:cNvPr id="6" name="组合 5"/>
          <p:cNvGrpSpPr/>
          <p:nvPr/>
        </p:nvGrpSpPr>
        <p:grpSpPr>
          <a:xfrm>
            <a:off x="7536160" y="75858"/>
            <a:ext cx="4586269" cy="904870"/>
            <a:chOff x="7605731" y="428604"/>
            <a:chExt cx="4586269" cy="904870"/>
          </a:xfrm>
        </p:grpSpPr>
        <p:pic>
          <p:nvPicPr>
            <p:cNvPr id="1026" name="Picture 2" descr="C:\Users\Administrator\Desktop\logo.png"/>
            <p:cNvPicPr>
              <a:picLocks noChangeAspect="1" noChangeArrowheads="1"/>
            </p:cNvPicPr>
            <p:nvPr/>
          </p:nvPicPr>
          <p:blipFill>
            <a:blip r:embed="rId4" cstate="print"/>
            <a:srcRect/>
            <a:stretch>
              <a:fillRect/>
            </a:stretch>
          </p:blipFill>
          <p:spPr bwMode="auto">
            <a:xfrm>
              <a:off x="7605731" y="428604"/>
              <a:ext cx="633409" cy="904870"/>
            </a:xfrm>
            <a:prstGeom prst="rect">
              <a:avLst/>
            </a:prstGeom>
            <a:noFill/>
          </p:spPr>
        </p:pic>
        <p:sp>
          <p:nvSpPr>
            <p:cNvPr id="62" name="TextBox 61"/>
            <p:cNvSpPr txBox="1"/>
            <p:nvPr/>
          </p:nvSpPr>
          <p:spPr>
            <a:xfrm>
              <a:off x="8239140" y="662612"/>
              <a:ext cx="3952860" cy="623248"/>
            </a:xfrm>
            <a:prstGeom prst="rect">
              <a:avLst/>
            </a:prstGeom>
            <a:noFill/>
          </p:spPr>
          <p:txBody>
            <a:bodyPr wrap="square" rtlCol="0">
              <a:spAutoFit/>
            </a:bodyPr>
            <a:lstStyle/>
            <a:p>
              <a:pPr algn="ctr"/>
              <a:r>
                <a:rPr lang="zh-CN" altLang="en-US" sz="2400" b="1" dirty="0">
                  <a:solidFill>
                    <a:schemeClr val="bg1"/>
                  </a:solidFill>
                </a:rPr>
                <a:t>国家防伪工程技术研究中心</a:t>
              </a:r>
              <a:endParaRPr lang="en-US" b="1" dirty="0">
                <a:solidFill>
                  <a:schemeClr val="bg1"/>
                </a:solidFill>
              </a:endParaRPr>
            </a:p>
            <a:p>
              <a:pPr algn="ctr"/>
              <a:r>
                <a:rPr lang="en-US" sz="1050" b="1" dirty="0">
                  <a:solidFill>
                    <a:schemeClr val="bg1"/>
                  </a:solidFill>
                </a:rPr>
                <a:t>National Anti-counterfeit Engineering Research Center</a:t>
              </a:r>
              <a:endParaRPr lang="zh-CN" altLang="en-US" b="1" dirty="0"/>
            </a:p>
          </p:txBody>
        </p:sp>
      </p:grpSp>
      <p:sp>
        <p:nvSpPr>
          <p:cNvPr id="12" name="文本框 11"/>
          <p:cNvSpPr txBox="1"/>
          <p:nvPr/>
        </p:nvSpPr>
        <p:spPr>
          <a:xfrm>
            <a:off x="689929" y="1363415"/>
            <a:ext cx="10812145" cy="768350"/>
          </a:xfrm>
          <a:prstGeom prst="rect">
            <a:avLst/>
          </a:prstGeom>
          <a:noFill/>
        </p:spPr>
        <p:txBody>
          <a:bodyPr wrap="none" rtlCol="0">
            <a:spAutoFit/>
          </a:bodyPr>
          <a:lstStyle/>
          <a:p>
            <a:pPr algn="ctr"/>
            <a:r>
              <a:rPr lang="zh-CN" altLang="en-US" sz="4400" b="1" dirty="0">
                <a:latin typeface="华文楷体" panose="02010600040101010101" pitchFamily="2" charset="-122"/>
                <a:ea typeface="华文楷体" panose="02010600040101010101" pitchFamily="2" charset="-122"/>
              </a:rPr>
              <a:t>华中科技大学本科生毕业设计（论文）答辩</a:t>
            </a:r>
            <a:endParaRPr lang="zh-CN" altLang="en-US" sz="4400" b="1" dirty="0">
              <a:latin typeface="华文楷体" panose="02010600040101010101" pitchFamily="2" charset="-122"/>
              <a:ea typeface="华文楷体" panose="02010600040101010101" pitchFamily="2" charset="-122"/>
            </a:endParaRPr>
          </a:p>
        </p:txBody>
      </p:sp>
      <p:graphicFrame>
        <p:nvGraphicFramePr>
          <p:cNvPr id="15" name="表格 14"/>
          <p:cNvGraphicFramePr>
            <a:graphicFrameLocks noGrp="1"/>
          </p:cNvGraphicFramePr>
          <p:nvPr/>
        </p:nvGraphicFramePr>
        <p:xfrm>
          <a:off x="3181158" y="4005064"/>
          <a:ext cx="5829684" cy="2590800"/>
        </p:xfrm>
        <a:graphic>
          <a:graphicData uri="http://schemas.openxmlformats.org/drawingml/2006/table">
            <a:tbl>
              <a:tblPr/>
              <a:tblGrid>
                <a:gridCol w="2016224"/>
                <a:gridCol w="3813460"/>
              </a:tblGrid>
              <a:tr h="368300">
                <a:tc>
                  <a:txBody>
                    <a:bodyPr/>
                    <a:lstStyle/>
                    <a:p>
                      <a:pPr algn="dist" fontAlgn="t"/>
                      <a:r>
                        <a:rPr lang="zh-CN" altLang="en-US" sz="2800" b="1" dirty="0">
                          <a:solidFill>
                            <a:schemeClr val="tx1">
                              <a:lumMod val="75000"/>
                            </a:schemeClr>
                          </a:solidFill>
                          <a:effectLst/>
                          <a:latin typeface="Verdana" panose="020B0604030504040204" pitchFamily="34" charset="0"/>
                        </a:rPr>
                        <a:t>院系</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电子信息与通信学院</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8300">
                <a:tc>
                  <a:txBody>
                    <a:bodyPr/>
                    <a:lstStyle/>
                    <a:p>
                      <a:pPr algn="dist" fontAlgn="t"/>
                      <a:r>
                        <a:rPr lang="zh-CN" altLang="en-US" sz="2800" b="1" dirty="0">
                          <a:solidFill>
                            <a:schemeClr val="tx1">
                              <a:lumMod val="75000"/>
                            </a:schemeClr>
                          </a:solidFill>
                          <a:effectLst/>
                          <a:latin typeface="Verdana" panose="020B0604030504040204" pitchFamily="34" charset="0"/>
                        </a:rPr>
                        <a:t>专业班级</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种子</a:t>
                      </a:r>
                      <a:r>
                        <a:rPr lang="en-US" altLang="zh-CN" sz="2800" dirty="0">
                          <a:solidFill>
                            <a:srgbClr val="000000"/>
                          </a:solidFill>
                          <a:effectLst/>
                          <a:latin typeface="楷体" panose="02010609060101010101" pitchFamily="49" charset="-122"/>
                          <a:ea typeface="楷体" panose="02010609060101010101" pitchFamily="49" charset="-122"/>
                        </a:rPr>
                        <a:t>2101</a:t>
                      </a:r>
                      <a:r>
                        <a:rPr lang="zh-CN" altLang="en-US" sz="2800" dirty="0">
                          <a:solidFill>
                            <a:srgbClr val="000000"/>
                          </a:solidFill>
                          <a:effectLst/>
                          <a:latin typeface="楷体" panose="02010609060101010101" pitchFamily="49" charset="-122"/>
                          <a:ea typeface="楷体" panose="02010609060101010101" pitchFamily="49" charset="-122"/>
                        </a:rPr>
                        <a:t>班</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8300">
                <a:tc>
                  <a:txBody>
                    <a:bodyPr/>
                    <a:lstStyle/>
                    <a:p>
                      <a:pPr algn="dist" fontAlgn="t"/>
                      <a:r>
                        <a:rPr lang="zh-CN" altLang="en-US" sz="2800" b="1" dirty="0">
                          <a:solidFill>
                            <a:schemeClr val="tx1">
                              <a:lumMod val="75000"/>
                            </a:schemeClr>
                          </a:solidFill>
                          <a:effectLst/>
                          <a:latin typeface="Verdana" panose="020B0604030504040204" pitchFamily="34" charset="0"/>
                        </a:rPr>
                        <a:t>汇报人</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罗畅</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8300">
                <a:tc>
                  <a:txBody>
                    <a:bodyPr/>
                    <a:lstStyle/>
                    <a:p>
                      <a:pPr algn="dist" fontAlgn="t"/>
                      <a:r>
                        <a:rPr lang="zh-CN" altLang="en-US" sz="2800" b="1" dirty="0">
                          <a:solidFill>
                            <a:schemeClr val="tx1">
                              <a:lumMod val="75000"/>
                            </a:schemeClr>
                          </a:solidFill>
                          <a:effectLst/>
                          <a:latin typeface="Verdana" panose="020B0604030504040204" pitchFamily="34" charset="0"/>
                        </a:rPr>
                        <a:t>指导老师</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800" dirty="0">
                          <a:solidFill>
                            <a:srgbClr val="000000"/>
                          </a:solidFill>
                          <a:effectLst/>
                          <a:latin typeface="楷体" panose="02010609060101010101" pitchFamily="49" charset="-122"/>
                          <a:ea typeface="楷体" panose="02010609060101010101" pitchFamily="49" charset="-122"/>
                        </a:rPr>
                        <a:t>袁巍</a:t>
                      </a:r>
                      <a:r>
                        <a:rPr lang="en-US" altLang="zh-CN" sz="2800" dirty="0">
                          <a:solidFill>
                            <a:srgbClr val="000000"/>
                          </a:solidFill>
                          <a:effectLst/>
                          <a:latin typeface="楷体" panose="02010609060101010101" pitchFamily="49" charset="-122"/>
                          <a:ea typeface="楷体" panose="02010609060101010101" pitchFamily="49" charset="-122"/>
                        </a:rPr>
                        <a:t> </a:t>
                      </a:r>
                      <a:r>
                        <a:rPr lang="zh-CN" altLang="en-US" sz="2800" dirty="0">
                          <a:solidFill>
                            <a:srgbClr val="000000"/>
                          </a:solidFill>
                          <a:effectLst/>
                          <a:latin typeface="楷体" panose="02010609060101010101" pitchFamily="49" charset="-122"/>
                          <a:ea typeface="楷体" panose="02010609060101010101" pitchFamily="49" charset="-122"/>
                        </a:rPr>
                        <a:t>教授</a:t>
                      </a:r>
                      <a:endParaRPr lang="zh-CN" altLang="en-US" sz="2800" dirty="0">
                        <a:solidFill>
                          <a:srgbClr val="000000"/>
                        </a:solidFill>
                        <a:effectLst/>
                        <a:latin typeface="楷体" panose="02010609060101010101" pitchFamily="49" charset="-122"/>
                        <a:ea typeface="楷体" panose="02010609060101010101" pitchFamily="49"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68300">
                <a:tc>
                  <a:txBody>
                    <a:bodyPr/>
                    <a:lstStyle/>
                    <a:p>
                      <a:pPr algn="dist" fontAlgn="t"/>
                      <a:r>
                        <a:rPr lang="zh-CN" altLang="en-US" sz="2800" b="1" dirty="0">
                          <a:solidFill>
                            <a:schemeClr val="tx1">
                              <a:lumMod val="75000"/>
                            </a:schemeClr>
                          </a:solidFill>
                          <a:effectLst/>
                          <a:latin typeface="Verdana" panose="020B0604030504040204" pitchFamily="34" charset="0"/>
                        </a:rPr>
                        <a:t>汇报时间</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2800" dirty="0">
                          <a:solidFill>
                            <a:srgbClr val="000000"/>
                          </a:solidFill>
                          <a:effectLst/>
                          <a:latin typeface="华文楷体" panose="02010600040101010101" pitchFamily="2" charset="-122"/>
                          <a:ea typeface="华文楷体" panose="02010600040101010101" pitchFamily="2" charset="-122"/>
                        </a:rPr>
                        <a:t>2025</a:t>
                      </a:r>
                      <a:r>
                        <a:rPr lang="zh-CN" altLang="en-US" sz="2800" dirty="0">
                          <a:solidFill>
                            <a:srgbClr val="000000"/>
                          </a:solidFill>
                          <a:effectLst/>
                          <a:latin typeface="华文楷体" panose="02010600040101010101" pitchFamily="2" charset="-122"/>
                          <a:ea typeface="华文楷体" panose="02010600040101010101" pitchFamily="2" charset="-122"/>
                        </a:rPr>
                        <a:t>年</a:t>
                      </a:r>
                      <a:r>
                        <a:rPr lang="en-US" altLang="zh-CN" sz="2800" dirty="0">
                          <a:solidFill>
                            <a:srgbClr val="000000"/>
                          </a:solidFill>
                          <a:effectLst/>
                          <a:latin typeface="华文楷体" panose="02010600040101010101" pitchFamily="2" charset="-122"/>
                          <a:ea typeface="华文楷体" panose="02010600040101010101" pitchFamily="2" charset="-122"/>
                        </a:rPr>
                        <a:t>5</a:t>
                      </a:r>
                      <a:r>
                        <a:rPr lang="zh-CN" altLang="en-US" sz="2800" dirty="0">
                          <a:solidFill>
                            <a:srgbClr val="000000"/>
                          </a:solidFill>
                          <a:effectLst/>
                          <a:latin typeface="华文楷体" panose="02010600040101010101" pitchFamily="2" charset="-122"/>
                          <a:ea typeface="华文楷体" panose="02010600040101010101" pitchFamily="2" charset="-122"/>
                        </a:rPr>
                        <a:t>月</a:t>
                      </a:r>
                      <a:r>
                        <a:rPr lang="en-US" altLang="zh-CN" sz="2800" dirty="0">
                          <a:solidFill>
                            <a:srgbClr val="000000"/>
                          </a:solidFill>
                          <a:effectLst/>
                          <a:latin typeface="华文楷体" panose="02010600040101010101" pitchFamily="2" charset="-122"/>
                          <a:ea typeface="华文楷体" panose="02010600040101010101" pitchFamily="2" charset="-122"/>
                        </a:rPr>
                        <a:t>20</a:t>
                      </a:r>
                      <a:r>
                        <a:rPr lang="zh-CN" altLang="en-US" sz="2800" dirty="0">
                          <a:solidFill>
                            <a:srgbClr val="000000"/>
                          </a:solidFill>
                          <a:effectLst/>
                          <a:latin typeface="华文楷体" panose="02010600040101010101" pitchFamily="2" charset="-122"/>
                          <a:ea typeface="华文楷体" panose="02010600040101010101" pitchFamily="2" charset="-122"/>
                        </a:rPr>
                        <a:t>日</a:t>
                      </a:r>
                      <a:endParaRPr lang="zh-CN" altLang="en-US" sz="2800" dirty="0">
                        <a:solidFill>
                          <a:srgbClr val="000000"/>
                        </a:solidFill>
                        <a:effectLst/>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9" name="矩形 18"/>
          <p:cNvSpPr/>
          <p:nvPr/>
        </p:nvSpPr>
        <p:spPr>
          <a:xfrm>
            <a:off x="-5261" y="2411943"/>
            <a:ext cx="12192000" cy="1080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sz="quarter" idx="10"/>
          </p:nvPr>
        </p:nvSpPr>
        <p:spPr>
          <a:xfrm>
            <a:off x="750740" y="2564904"/>
            <a:ext cx="10690521" cy="701792"/>
          </a:xfrm>
        </p:spPr>
        <p:txBody>
          <a:bodyPr/>
          <a:lstStyle/>
          <a:p>
            <a:pPr algn="ctr"/>
            <a:r>
              <a:rPr lang="zh-CN" altLang="en-US" sz="5400" b="1" dirty="0">
                <a:latin typeface="黑体" panose="02010609060101010101" pitchFamily="49" charset="-122"/>
                <a:ea typeface="黑体" panose="02010609060101010101" pitchFamily="49" charset="-122"/>
              </a:rPr>
              <a:t>安卓应用保活行为识别与意图分析</a:t>
            </a:r>
            <a:endParaRPr lang="zh-CN" altLang="en-US" sz="5400" b="1" dirty="0">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占位符 1"/>
          <p:cNvSpPr>
            <a:spLocks noGrp="1"/>
          </p:cNvSpPr>
          <p:nvPr>
            <p:ph type="body" sz="quarter" idx="4294967295"/>
          </p:nvPr>
        </p:nvSpPr>
        <p:spPr>
          <a:xfrm>
            <a:off x="4583832" y="1160748"/>
            <a:ext cx="5493943" cy="4536504"/>
          </a:xfrm>
          <a:prstGeom prst="rect">
            <a:avLst/>
          </a:prstGeom>
        </p:spPr>
        <p:txBody>
          <a:bodyPr/>
          <a:lstStyle/>
          <a:p>
            <a:r>
              <a:rPr lang="en-US" altLang="zh-CN" dirty="0"/>
              <a:t>PART  01 </a:t>
            </a:r>
            <a:r>
              <a:rPr lang="zh-CN" altLang="en-US" dirty="0">
                <a:sym typeface="+mn-ea"/>
              </a:rPr>
              <a:t>研究背景与意义</a:t>
            </a:r>
            <a:endParaRPr lang="en-US" altLang="zh-CN" dirty="0">
              <a:sym typeface="+mn-ea"/>
            </a:endParaRPr>
          </a:p>
          <a:p>
            <a:endParaRPr lang="en-US" altLang="zh-CN" dirty="0">
              <a:sym typeface="+mn-ea"/>
            </a:endParaRPr>
          </a:p>
          <a:p>
            <a:r>
              <a:rPr lang="en-US" altLang="zh-CN" dirty="0"/>
              <a:t>PART  02 </a:t>
            </a:r>
            <a:r>
              <a:rPr lang="zh-CN" altLang="en-US" dirty="0"/>
              <a:t>研究现状与挑战</a:t>
            </a:r>
            <a:endParaRPr lang="zh-CN" altLang="en-US" dirty="0">
              <a:sym typeface="+mn-ea"/>
            </a:endParaRPr>
          </a:p>
          <a:p>
            <a:endParaRPr lang="en-US" altLang="zh-CN" dirty="0">
              <a:sym typeface="+mn-ea"/>
            </a:endParaRPr>
          </a:p>
          <a:p>
            <a:r>
              <a:rPr lang="en-US" altLang="zh-CN" dirty="0"/>
              <a:t>PART  03 </a:t>
            </a:r>
            <a:r>
              <a:rPr lang="zh-CN" altLang="en-US" dirty="0"/>
              <a:t>研究内容与方法</a:t>
            </a:r>
            <a:endParaRPr lang="en-US" altLang="zh-CN" dirty="0"/>
          </a:p>
          <a:p>
            <a:endParaRPr lang="en-US" altLang="zh-CN" dirty="0">
              <a:sym typeface="+mn-ea"/>
            </a:endParaRPr>
          </a:p>
          <a:p>
            <a:r>
              <a:rPr lang="en-US" altLang="zh-CN" dirty="0"/>
              <a:t>PART  04 </a:t>
            </a:r>
            <a:r>
              <a:rPr lang="zh-CN" altLang="en-US" dirty="0"/>
              <a:t>实验结果与分析</a:t>
            </a:r>
            <a:endParaRPr lang="en-US" altLang="zh-CN" dirty="0"/>
          </a:p>
          <a:p>
            <a:endParaRPr lang="en-US" altLang="zh-CN" dirty="0">
              <a:sym typeface="+mn-ea"/>
            </a:endParaRPr>
          </a:p>
          <a:p>
            <a:r>
              <a:rPr lang="en-US" altLang="zh-CN" dirty="0"/>
              <a:t>PART  05 </a:t>
            </a:r>
            <a:r>
              <a:rPr lang="zh-CN" altLang="en-US" dirty="0"/>
              <a:t>总结与展望</a:t>
            </a:r>
            <a:endParaRPr lang="zh-CN" altLang="en-US" dirty="0"/>
          </a:p>
          <a:p>
            <a:endParaRPr lang="zh-CN" altLang="en-US" dirty="0">
              <a:sym typeface="+mn-ea"/>
            </a:endParaRPr>
          </a:p>
          <a:p>
            <a:endParaRPr lang="zh-CN" altLang="en-US" dirty="0">
              <a:sym typeface="+mn-ea"/>
            </a:endParaRPr>
          </a:p>
          <a:p>
            <a:endParaRPr lang="zh-CN" altLang="en-US"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a:t>
            </a:r>
            <a:endParaRPr lang="zh-CN" altLang="en-US" dirty="0"/>
          </a:p>
        </p:txBody>
      </p:sp>
      <p:sp>
        <p:nvSpPr>
          <p:cNvPr id="3" name="文本占位符 2"/>
          <p:cNvSpPr>
            <a:spLocks noGrp="1"/>
          </p:cNvSpPr>
          <p:nvPr>
            <p:ph type="body" sz="quarter" idx="12"/>
          </p:nvPr>
        </p:nvSpPr>
        <p:spPr>
          <a:xfrm>
            <a:off x="1437591" y="348250"/>
            <a:ext cx="9468473" cy="689864"/>
          </a:xfrm>
        </p:spPr>
        <p:txBody>
          <a:bodyPr/>
          <a:lstStyle/>
          <a:p>
            <a:pPr fontAlgn="base"/>
            <a:r>
              <a:rPr lang="zh-CN" altLang="en-US" b="1" dirty="0"/>
              <a:t>研究背景与意义</a:t>
            </a:r>
            <a:endParaRPr lang="en-US" altLang="zh-CN" b="1" dirty="0"/>
          </a:p>
        </p:txBody>
      </p:sp>
      <p:sp>
        <p:nvSpPr>
          <p:cNvPr id="29" name="文本框 28"/>
          <p:cNvSpPr txBox="1"/>
          <p:nvPr/>
        </p:nvSpPr>
        <p:spPr>
          <a:xfrm>
            <a:off x="263352" y="1601251"/>
            <a:ext cx="6696744" cy="3944972"/>
          </a:xfrm>
          <a:prstGeom prst="rect">
            <a:avLst/>
          </a:prstGeom>
          <a:noFill/>
        </p:spPr>
        <p:txBody>
          <a:bodyPr wrap="square">
            <a:noAutofit/>
          </a:bodyPr>
          <a:lstStyle/>
          <a:p>
            <a:pPr algn="just"/>
            <a:r>
              <a:rPr lang="en-US" altLang="zh-CN" sz="2000" dirty="0">
                <a:solidFill>
                  <a:srgbClr val="FF0000"/>
                </a:solidFill>
                <a:latin typeface="微软雅黑" panose="020B0503020204020204" pitchFamily="34" charset="-122"/>
                <a:ea typeface="微软雅黑" panose="020B0503020204020204" pitchFamily="34" charset="-122"/>
              </a:rPr>
              <a:t>APP </a:t>
            </a:r>
            <a:r>
              <a:rPr lang="zh-CN" altLang="en-US" sz="2000" dirty="0">
                <a:solidFill>
                  <a:srgbClr val="FF0000"/>
                </a:solidFill>
                <a:latin typeface="微软雅黑" panose="020B0503020204020204" pitchFamily="34" charset="-122"/>
                <a:ea typeface="微软雅黑" panose="020B0503020204020204" pitchFamily="34" charset="-122"/>
              </a:rPr>
              <a:t>保活（</a:t>
            </a:r>
            <a:r>
              <a:rPr lang="en-US" altLang="zh-CN" sz="2000" dirty="0">
                <a:solidFill>
                  <a:srgbClr val="FF0000"/>
                </a:solidFill>
                <a:latin typeface="微软雅黑" panose="020B0503020204020204" pitchFamily="34" charset="-122"/>
                <a:ea typeface="微软雅黑" panose="020B0503020204020204" pitchFamily="34" charset="-122"/>
              </a:rPr>
              <a:t>Application Keep-Alive</a:t>
            </a:r>
            <a:r>
              <a:rPr lang="zh-CN" altLang="en-US" sz="2000" dirty="0">
                <a:solidFill>
                  <a:srgbClr val="FF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是指应用开发者通过特定技术手段，绕过</a:t>
            </a:r>
            <a:r>
              <a:rPr lang="en-US" altLang="zh-CN" sz="2000" dirty="0">
                <a:latin typeface="微软雅黑" panose="020B0503020204020204" pitchFamily="34" charset="-122"/>
                <a:ea typeface="微软雅黑" panose="020B0503020204020204" pitchFamily="34" charset="-122"/>
              </a:rPr>
              <a:t>Android</a:t>
            </a:r>
            <a:r>
              <a:rPr lang="zh-CN" altLang="en-US" sz="2000" dirty="0">
                <a:latin typeface="微软雅黑" panose="020B0503020204020204" pitchFamily="34" charset="-122"/>
                <a:ea typeface="微软雅黑" panose="020B0503020204020204" pitchFamily="34" charset="-122"/>
              </a:rPr>
              <a:t>操作系统的清理，使他们的软件应用在</a:t>
            </a:r>
            <a:r>
              <a:rPr lang="zh-CN" altLang="en-US" sz="2000" dirty="0">
                <a:solidFill>
                  <a:srgbClr val="FF0000"/>
                </a:solidFill>
                <a:latin typeface="微软雅黑" panose="020B0503020204020204" pitchFamily="34" charset="-122"/>
                <a:ea typeface="微软雅黑" panose="020B0503020204020204" pitchFamily="34" charset="-122"/>
              </a:rPr>
              <a:t>后台或设备空闲状态下，仍然保持活跃。</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endParaRPr lang="en-US" altLang="zh-CN" sz="2000" dirty="0">
              <a:solidFill>
                <a:srgbClr val="FF0000"/>
              </a:solidFill>
              <a:latin typeface="微软雅黑" panose="020B0503020204020204" pitchFamily="34" charset="-122"/>
              <a:ea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rPr>
              <a:t>这种需求通常出现在需要</a:t>
            </a:r>
            <a:r>
              <a:rPr lang="zh-CN" altLang="en-US" sz="2000" dirty="0">
                <a:solidFill>
                  <a:srgbClr val="FF0000"/>
                </a:solidFill>
                <a:latin typeface="微软雅黑" panose="020B0503020204020204" pitchFamily="34" charset="-122"/>
                <a:ea typeface="微软雅黑" panose="020B0503020204020204" pitchFamily="34" charset="-122"/>
              </a:rPr>
              <a:t>实时性或持续性服务</a:t>
            </a:r>
            <a:r>
              <a:rPr lang="zh-CN" altLang="en-US" sz="2000" dirty="0">
                <a:latin typeface="微软雅黑" panose="020B0503020204020204" pitchFamily="34" charset="-122"/>
                <a:ea typeface="微软雅黑" panose="020B0503020204020204" pitchFamily="34" charset="-122"/>
              </a:rPr>
              <a:t>的应用场景中，合理利用保活，有助于提升用户体验。</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endParaRPr lang="zh-CN" altLang="en-US"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保活的“</a:t>
            </a:r>
            <a:r>
              <a:rPr lang="zh-CN" altLang="en-US" sz="2000" dirty="0">
                <a:solidFill>
                  <a:srgbClr val="00B050"/>
                </a:solidFill>
                <a:latin typeface="微软雅黑" panose="020B0503020204020204" pitchFamily="34" charset="-122"/>
                <a:ea typeface="微软雅黑" panose="020B0503020204020204" pitchFamily="34" charset="-122"/>
              </a:rPr>
              <a:t>正确打开方式</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342900" indent="-342900" algn="just">
              <a:buChar char="•"/>
            </a:pPr>
            <a:r>
              <a:rPr lang="zh-CN" altLang="en-US" sz="2000" dirty="0">
                <a:latin typeface="微软雅黑" panose="020B0503020204020204" pitchFamily="34" charset="-122"/>
                <a:ea typeface="微软雅黑" panose="020B0503020204020204" pitchFamily="34" charset="-122"/>
              </a:rPr>
              <a:t>软件打开提速（减少重新进入时的加载时间）</a:t>
            </a:r>
            <a:endParaRPr lang="zh-CN" altLang="en-US" sz="2000" dirty="0">
              <a:latin typeface="微软雅黑" panose="020B0503020204020204" pitchFamily="34" charset="-122"/>
              <a:ea typeface="微软雅黑" panose="020B0503020204020204" pitchFamily="34" charset="-122"/>
            </a:endParaRPr>
          </a:p>
          <a:p>
            <a:pPr marL="342900" indent="-342900" algn="just">
              <a:buChar char="•"/>
            </a:pPr>
            <a:r>
              <a:rPr lang="zh-CN" altLang="en-US" sz="2000" dirty="0">
                <a:latin typeface="微软雅黑" panose="020B0503020204020204" pitchFamily="34" charset="-122"/>
                <a:ea typeface="微软雅黑" panose="020B0503020204020204" pitchFamily="34" charset="-122"/>
              </a:rPr>
              <a:t>持续后台任务（运动</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记录运动、音乐</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播放音乐）</a:t>
            </a:r>
            <a:endParaRPr lang="zh-CN" altLang="en-US" sz="2000" dirty="0">
              <a:latin typeface="微软雅黑" panose="020B0503020204020204" pitchFamily="34" charset="-122"/>
              <a:ea typeface="微软雅黑" panose="020B0503020204020204" pitchFamily="34" charset="-122"/>
            </a:endParaRPr>
          </a:p>
          <a:p>
            <a:pPr marL="342900" indent="-342900" algn="just">
              <a:buChar char="•"/>
            </a:pPr>
            <a:r>
              <a:rPr lang="zh-CN" altLang="en-US" sz="2000" dirty="0">
                <a:latin typeface="微软雅黑" panose="020B0503020204020204" pitchFamily="34" charset="-122"/>
                <a:ea typeface="微软雅黑" panose="020B0503020204020204" pitchFamily="34" charset="-122"/>
              </a:rPr>
              <a:t>数据同步（云空间备份服务、下载服务等）</a:t>
            </a:r>
            <a:endParaRPr lang="zh-CN" altLang="en-US" sz="2000" dirty="0">
              <a:latin typeface="微软雅黑" panose="020B0503020204020204" pitchFamily="34" charset="-122"/>
              <a:ea typeface="微软雅黑" panose="020B0503020204020204" pitchFamily="34" charset="-122"/>
            </a:endParaRPr>
          </a:p>
          <a:p>
            <a:pPr marL="342900" indent="-342900" algn="just">
              <a:buChar char="•"/>
            </a:pPr>
            <a:r>
              <a:rPr lang="zh-CN" altLang="en-US" sz="2000" dirty="0">
                <a:latin typeface="微软雅黑" panose="020B0503020204020204" pitchFamily="34" charset="-122"/>
                <a:ea typeface="微软雅黑" panose="020B0503020204020204" pitchFamily="34" charset="-122"/>
              </a:rPr>
              <a:t>……</a:t>
            </a:r>
            <a:endParaRPr lang="zh-CN" altLang="en-US" sz="2000" dirty="0">
              <a:solidFill>
                <a:srgbClr val="FF0000"/>
              </a:solidFill>
              <a:latin typeface="微软雅黑" panose="020B0503020204020204" pitchFamily="34" charset="-122"/>
              <a:ea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endParaRPr>
          </a:p>
        </p:txBody>
      </p:sp>
      <p:grpSp>
        <p:nvGrpSpPr>
          <p:cNvPr id="6" name="组合 5"/>
          <p:cNvGrpSpPr/>
          <p:nvPr/>
        </p:nvGrpSpPr>
        <p:grpSpPr>
          <a:xfrm>
            <a:off x="6960096" y="1124744"/>
            <a:ext cx="3005951" cy="5363828"/>
            <a:chOff x="7143515" y="1124744"/>
            <a:chExt cx="3005951" cy="5363828"/>
          </a:xfrm>
        </p:grpSpPr>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b="17990"/>
            <a:stretch>
              <a:fillRect/>
            </a:stretch>
          </p:blipFill>
          <p:spPr>
            <a:xfrm>
              <a:off x="7300685" y="1124744"/>
              <a:ext cx="2691610" cy="4982368"/>
            </a:xfrm>
            <a:prstGeom prst="rect">
              <a:avLst/>
            </a:prstGeom>
          </p:spPr>
        </p:pic>
        <p:sp>
          <p:nvSpPr>
            <p:cNvPr id="14" name="文本框 13"/>
            <p:cNvSpPr txBox="1"/>
            <p:nvPr/>
          </p:nvSpPr>
          <p:spPr>
            <a:xfrm>
              <a:off x="7143515" y="6057685"/>
              <a:ext cx="3005951" cy="430887"/>
            </a:xfrm>
            <a:prstGeom prst="rect">
              <a:avLst/>
            </a:prstGeom>
            <a:noFill/>
          </p:spPr>
          <p:txBody>
            <a:bodyPr wrap="none" rtlCol="0">
              <a:spAutoFit/>
            </a:bodyPr>
            <a:lstStyle/>
            <a:p>
              <a:r>
                <a:rPr lang="zh-CN" altLang="en-US" sz="2200" dirty="0"/>
                <a:t>保活</a:t>
              </a:r>
              <a:r>
                <a:rPr lang="zh-CN" altLang="en-US" sz="2200" dirty="0">
                  <a:solidFill>
                    <a:srgbClr val="00B050"/>
                  </a:solidFill>
                </a:rPr>
                <a:t>正确打开方式</a:t>
              </a:r>
              <a:r>
                <a:rPr lang="zh-CN" altLang="en-US" sz="2200" dirty="0"/>
                <a:t>示例</a:t>
              </a:r>
              <a:endParaRPr lang="zh-CN" altLang="en-US" sz="2200" dirty="0"/>
            </a:p>
          </p:txBody>
        </p:sp>
      </p:grpSp>
      <p:sp>
        <p:nvSpPr>
          <p:cNvPr id="16" name="文本框 15"/>
          <p:cNvSpPr txBox="1"/>
          <p:nvPr/>
        </p:nvSpPr>
        <p:spPr>
          <a:xfrm>
            <a:off x="9785470" y="2702793"/>
            <a:ext cx="2339102" cy="461665"/>
          </a:xfrm>
          <a:prstGeom prst="rect">
            <a:avLst/>
          </a:prstGeom>
          <a:noFill/>
        </p:spPr>
        <p:txBody>
          <a:bodyPr wrap="none" rtlCol="0">
            <a:spAutoFit/>
          </a:bodyPr>
          <a:lstStyle/>
          <a:p>
            <a:r>
              <a:rPr lang="zh-CN" altLang="en-US" sz="2400" dirty="0"/>
              <a:t>←后台播放音乐</a:t>
            </a:r>
            <a:endParaRPr lang="zh-CN" altLang="en-US" sz="2400" dirty="0"/>
          </a:p>
        </p:txBody>
      </p:sp>
      <p:sp>
        <p:nvSpPr>
          <p:cNvPr id="17" name="文本框 16"/>
          <p:cNvSpPr txBox="1"/>
          <p:nvPr/>
        </p:nvSpPr>
        <p:spPr>
          <a:xfrm>
            <a:off x="9805570" y="3854921"/>
            <a:ext cx="2339102" cy="461665"/>
          </a:xfrm>
          <a:prstGeom prst="rect">
            <a:avLst/>
          </a:prstGeom>
          <a:noFill/>
        </p:spPr>
        <p:txBody>
          <a:bodyPr wrap="none" rtlCol="0">
            <a:spAutoFit/>
          </a:bodyPr>
          <a:lstStyle/>
          <a:p>
            <a:r>
              <a:rPr lang="zh-CN" altLang="en-US" sz="2400" dirty="0"/>
              <a:t>←后台持续导航</a:t>
            </a:r>
            <a:endParaRPr lang="zh-CN" altLang="en-US" sz="2400" dirty="0"/>
          </a:p>
        </p:txBody>
      </p:sp>
      <p:sp>
        <p:nvSpPr>
          <p:cNvPr id="18" name="文本框 17"/>
          <p:cNvSpPr txBox="1"/>
          <p:nvPr/>
        </p:nvSpPr>
        <p:spPr>
          <a:xfrm>
            <a:off x="9805570" y="4647009"/>
            <a:ext cx="2339102" cy="1446550"/>
          </a:xfrm>
          <a:prstGeom prst="rect">
            <a:avLst/>
          </a:prstGeom>
          <a:noFill/>
        </p:spPr>
        <p:txBody>
          <a:bodyPr wrap="square" rtlCol="0">
            <a:spAutoFit/>
          </a:bodyPr>
          <a:lstStyle/>
          <a:p>
            <a:r>
              <a:rPr lang="zh-CN" altLang="en-US" sz="2200" dirty="0"/>
              <a:t>场景：骑车时，手机处于息屏状态，</a:t>
            </a:r>
            <a:r>
              <a:rPr lang="zh-CN" altLang="en-US" sz="2200" b="1" dirty="0"/>
              <a:t>边听音乐边导航</a:t>
            </a:r>
            <a:endParaRPr lang="zh-CN" altLang="en-US" sz="2200" b="1" dirty="0"/>
          </a:p>
        </p:txBody>
      </p:sp>
      <p:grpSp>
        <p:nvGrpSpPr>
          <p:cNvPr id="9" name="组合 8"/>
          <p:cNvGrpSpPr/>
          <p:nvPr/>
        </p:nvGrpSpPr>
        <p:grpSpPr>
          <a:xfrm>
            <a:off x="263352" y="1139585"/>
            <a:ext cx="7560840" cy="523220"/>
            <a:chOff x="724001" y="1515264"/>
            <a:chExt cx="7560840" cy="523220"/>
          </a:xfrm>
        </p:grpSpPr>
        <p:sp>
          <p:nvSpPr>
            <p:cNvPr id="10" name="文本框 9"/>
            <p:cNvSpPr txBox="1"/>
            <p:nvPr/>
          </p:nvSpPr>
          <p:spPr>
            <a:xfrm>
              <a:off x="1001976" y="1515264"/>
              <a:ext cx="728286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什么是“保活”？</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724001" y="1630680"/>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grpSp>
      <p:sp>
        <p:nvSpPr>
          <p:cNvPr id="5" name="Text Box 7"/>
          <p:cNvSpPr txBox="1"/>
          <p:nvPr/>
        </p:nvSpPr>
        <p:spPr>
          <a:xfrm>
            <a:off x="1544492" y="5877272"/>
            <a:ext cx="4134465" cy="523220"/>
          </a:xfrm>
          <a:prstGeom prst="rect">
            <a:avLst/>
          </a:prstGeom>
        </p:spPr>
        <p:txBody>
          <a:bodyPr wrap="none" rtlCol="0">
            <a:spAutoFit/>
          </a:bodyPr>
          <a:lstStyle/>
          <a:p>
            <a:r>
              <a:rPr lang="zh-CN" altLang="en-US" sz="2800" dirty="0">
                <a:latin typeface="华文隶书" panose="02010800040101010101" charset="-122"/>
                <a:ea typeface="华文隶书" panose="02010800040101010101" charset="-122"/>
                <a:cs typeface="华文隶书" panose="02010800040101010101" charset="-122"/>
              </a:rPr>
              <a:t>但是，技术是一把双刃剑</a:t>
            </a:r>
            <a:endParaRPr lang="zh-CN" altLang="en-US" sz="2800" dirty="0">
              <a:latin typeface="华文隶书" panose="02010800040101010101" charset="-122"/>
              <a:ea typeface="华文隶书" panose="02010800040101010101" charset="-122"/>
              <a:cs typeface="华文隶书" panose="020108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a:t>
            </a:r>
            <a:endParaRPr lang="zh-CN" altLang="en-US" dirty="0"/>
          </a:p>
        </p:txBody>
      </p:sp>
      <p:sp>
        <p:nvSpPr>
          <p:cNvPr id="3" name="文本占位符 2"/>
          <p:cNvSpPr>
            <a:spLocks noGrp="1"/>
          </p:cNvSpPr>
          <p:nvPr>
            <p:ph type="body" sz="quarter" idx="12"/>
          </p:nvPr>
        </p:nvSpPr>
        <p:spPr>
          <a:xfrm>
            <a:off x="1437591" y="348250"/>
            <a:ext cx="9468473" cy="689864"/>
          </a:xfrm>
        </p:spPr>
        <p:txBody>
          <a:bodyPr/>
          <a:lstStyle/>
          <a:p>
            <a:pPr fontAlgn="base"/>
            <a:r>
              <a:rPr lang="zh-CN" altLang="en-US" b="1" dirty="0"/>
              <a:t>研究背景与意义</a:t>
            </a:r>
            <a:endParaRPr lang="en-US" altLang="zh-CN" b="1" dirty="0"/>
          </a:p>
        </p:txBody>
      </p:sp>
      <p:sp>
        <p:nvSpPr>
          <p:cNvPr id="29" name="文本框 28"/>
          <p:cNvSpPr txBox="1"/>
          <p:nvPr/>
        </p:nvSpPr>
        <p:spPr>
          <a:xfrm>
            <a:off x="263353" y="1601250"/>
            <a:ext cx="4680520" cy="2630649"/>
          </a:xfrm>
          <a:prstGeom prst="rect">
            <a:avLst/>
          </a:prstGeom>
          <a:noFill/>
        </p:spPr>
        <p:txBody>
          <a:bodyPr wrap="square">
            <a:noAutofit/>
          </a:bodyPr>
          <a:lstStyle/>
          <a:p>
            <a:pPr algn="just"/>
            <a:r>
              <a:rPr lang="zh-CN" altLang="en-US" sz="2000" dirty="0">
                <a:latin typeface="微软雅黑" panose="020B0503020204020204" pitchFamily="34" charset="-122"/>
                <a:ea typeface="微软雅黑" panose="020B0503020204020204" pitchFamily="34" charset="-122"/>
              </a:rPr>
              <a:t>恶意开发者通过利用保活机制，制造大量流氓应用，这些流氓应用在后台持续保活，会</a:t>
            </a:r>
            <a:r>
              <a:rPr lang="zh-CN" altLang="en-US" sz="2000" dirty="0">
                <a:latin typeface="微软雅黑" panose="020B0503020204020204" pitchFamily="34" charset="-122"/>
                <a:ea typeface="微软雅黑" panose="020B0503020204020204" pitchFamily="34" charset="-122"/>
                <a:sym typeface="+mn-ea"/>
              </a:rPr>
              <a:t>导致：</a:t>
            </a:r>
            <a:endParaRPr lang="zh-CN" altLang="en-US" sz="2000" dirty="0">
              <a:latin typeface="微软雅黑" panose="020B0503020204020204" pitchFamily="34" charset="-122"/>
              <a:ea typeface="微软雅黑" panose="020B0503020204020204" pitchFamily="34" charset="-122"/>
              <a:sym typeface="+mn-ea"/>
            </a:endParaRPr>
          </a:p>
          <a:p>
            <a:pPr marL="342900" indent="-342900" algn="just">
              <a:buChar char="•"/>
            </a:pPr>
            <a:r>
              <a:rPr lang="zh-CN" altLang="en-US" sz="2000" i="1" dirty="0">
                <a:latin typeface="微软雅黑" panose="020B0503020204020204" pitchFamily="34" charset="-122"/>
                <a:ea typeface="微软雅黑" panose="020B0503020204020204" pitchFamily="34" charset="-122"/>
                <a:sym typeface="+mn-ea"/>
              </a:rPr>
              <a:t>手机电池加速消耗</a:t>
            </a:r>
            <a:endParaRPr lang="en-US" altLang="zh-CN" sz="2000" i="1" dirty="0">
              <a:latin typeface="微软雅黑" panose="020B0503020204020204" pitchFamily="34" charset="-122"/>
              <a:ea typeface="微软雅黑" panose="020B0503020204020204" pitchFamily="34" charset="-122"/>
              <a:sym typeface="+mn-ea"/>
            </a:endParaRPr>
          </a:p>
          <a:p>
            <a:pPr marL="342900" indent="-342900" algn="just">
              <a:buChar char="•"/>
            </a:pPr>
            <a:r>
              <a:rPr lang="zh-CN" altLang="en-US" sz="2000" i="1" dirty="0">
                <a:latin typeface="微软雅黑" panose="020B0503020204020204" pitchFamily="34" charset="-122"/>
                <a:ea typeface="微软雅黑" panose="020B0503020204020204" pitchFamily="34" charset="-122"/>
                <a:sym typeface="+mn-ea"/>
              </a:rPr>
              <a:t>手机卡顿、发热等</a:t>
            </a:r>
            <a:endParaRPr lang="zh-CN" altLang="en-US" sz="2000" i="1" dirty="0">
              <a:latin typeface="微软雅黑" panose="020B0503020204020204" pitchFamily="34" charset="-122"/>
              <a:ea typeface="微软雅黑" panose="020B0503020204020204" pitchFamily="34" charset="-122"/>
              <a:sym typeface="+mn-ea"/>
            </a:endParaRPr>
          </a:p>
          <a:p>
            <a:pPr marL="342900" indent="-342900" algn="just">
              <a:buChar char="•"/>
            </a:pPr>
            <a:r>
              <a:rPr lang="zh-CN" altLang="en-US" sz="2000" i="1" dirty="0">
                <a:latin typeface="微软雅黑" panose="020B0503020204020204" pitchFamily="34" charset="-122"/>
                <a:ea typeface="微软雅黑" panose="020B0503020204020204" pitchFamily="34" charset="-122"/>
              </a:rPr>
              <a:t>资费受损</a:t>
            </a:r>
            <a:endParaRPr lang="en-US" altLang="zh-CN" sz="2000" i="1" dirty="0">
              <a:latin typeface="微软雅黑" panose="020B0503020204020204" pitchFamily="34" charset="-122"/>
              <a:ea typeface="微软雅黑" panose="020B0503020204020204" pitchFamily="34" charset="-122"/>
            </a:endParaRPr>
          </a:p>
          <a:p>
            <a:pPr marL="342900" indent="-342900" algn="just">
              <a:buChar char="•"/>
            </a:pPr>
            <a:r>
              <a:rPr lang="zh-CN" altLang="en-US" sz="2000" i="1" dirty="0">
                <a:latin typeface="微软雅黑" panose="020B0503020204020204" pitchFamily="34" charset="-122"/>
                <a:ea typeface="微软雅黑" panose="020B0503020204020204" pitchFamily="34" charset="-122"/>
              </a:rPr>
              <a:t>隐私泄露</a:t>
            </a:r>
            <a:endParaRPr lang="en-US" altLang="zh-CN" sz="2000" i="1" dirty="0">
              <a:latin typeface="微软雅黑" panose="020B0503020204020204" pitchFamily="34" charset="-122"/>
              <a:ea typeface="微软雅黑" panose="020B0503020204020204" pitchFamily="34" charset="-122"/>
            </a:endParaRPr>
          </a:p>
          <a:p>
            <a:pPr marL="342900" indent="-342900" algn="just">
              <a:buChar char="•"/>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just"/>
            <a:endParaRPr lang="zh-CN" altLang="en-US" sz="2000" dirty="0">
              <a:solidFill>
                <a:srgbClr val="FF0000"/>
              </a:solidFill>
              <a:latin typeface="微软雅黑" panose="020B0503020204020204" pitchFamily="34" charset="-122"/>
              <a:ea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63352" y="5805264"/>
            <a:ext cx="10241280" cy="829945"/>
          </a:xfrm>
          <a:prstGeom prst="rect">
            <a:avLst/>
          </a:prstGeom>
        </p:spPr>
        <p:txBody>
          <a:bodyPr wrap="none" rtlCol="0">
            <a:spAutoFit/>
          </a:bodyPr>
          <a:lstStyle/>
          <a:p>
            <a:r>
              <a:rPr lang="zh-CN" altLang="en-US" sz="2400" dirty="0">
                <a:latin typeface="华文隶书" panose="02010800040101010101" charset="-122"/>
                <a:ea typeface="华文隶书" panose="02010800040101010101" charset="-122"/>
                <a:cs typeface="华文隶书" panose="02010800040101010101" charset="-122"/>
              </a:rPr>
              <a:t>研究如何</a:t>
            </a:r>
            <a:r>
              <a:rPr lang="zh-CN" altLang="en-US" sz="2400" dirty="0">
                <a:solidFill>
                  <a:srgbClr val="FF0000"/>
                </a:solidFill>
                <a:latin typeface="华文隶书" panose="02010800040101010101" charset="-122"/>
                <a:ea typeface="华文隶书" panose="02010800040101010101" charset="-122"/>
                <a:cs typeface="华文隶书" panose="02010800040101010101" charset="-122"/>
              </a:rPr>
              <a:t>检测保活、分析保活意图</a:t>
            </a:r>
            <a:endParaRPr lang="zh-CN" altLang="en-US" sz="2400" dirty="0">
              <a:solidFill>
                <a:srgbClr val="FF0000"/>
              </a:solidFill>
              <a:latin typeface="华文隶书" panose="02010800040101010101" charset="-122"/>
              <a:ea typeface="华文隶书" panose="02010800040101010101" charset="-122"/>
              <a:cs typeface="华文隶书" panose="02010800040101010101" charset="-122"/>
            </a:endParaRPr>
          </a:p>
          <a:p>
            <a:r>
              <a:rPr lang="zh-CN" altLang="en-US" sz="2400" dirty="0">
                <a:latin typeface="华文隶书" panose="02010800040101010101" charset="-122"/>
                <a:ea typeface="华文隶书" panose="02010800040101010101" charset="-122"/>
                <a:cs typeface="华文隶书" panose="02010800040101010101" charset="-122"/>
              </a:rPr>
              <a:t>区分</a:t>
            </a:r>
            <a:r>
              <a:rPr lang="zh-CN" altLang="en-US" sz="2400" dirty="0">
                <a:solidFill>
                  <a:srgbClr val="FF0000"/>
                </a:solidFill>
                <a:latin typeface="华文隶书" panose="02010800040101010101" charset="-122"/>
                <a:ea typeface="华文隶书" panose="02010800040101010101" charset="-122"/>
                <a:cs typeface="华文隶书" panose="02010800040101010101" charset="-122"/>
              </a:rPr>
              <a:t>良性保活与恶意保活</a:t>
            </a:r>
            <a:r>
              <a:rPr lang="zh-CN" altLang="en-US" sz="2400" dirty="0">
                <a:latin typeface="华文隶书" panose="02010800040101010101" charset="-122"/>
                <a:ea typeface="华文隶书" panose="02010800040101010101" charset="-122"/>
                <a:cs typeface="华文隶书" panose="02010800040101010101" charset="-122"/>
              </a:rPr>
              <a:t>，对</a:t>
            </a:r>
            <a:r>
              <a:rPr lang="zh-CN" altLang="en-US" sz="2400" dirty="0">
                <a:solidFill>
                  <a:srgbClr val="FF0000"/>
                </a:solidFill>
                <a:latin typeface="华文隶书" panose="02010800040101010101" charset="-122"/>
                <a:ea typeface="华文隶书" panose="02010800040101010101" charset="-122"/>
                <a:cs typeface="华文隶书" panose="02010800040101010101" charset="-122"/>
              </a:rPr>
              <a:t>提升用户体验、捍卫健康移动生态</a:t>
            </a:r>
            <a:r>
              <a:rPr lang="zh-CN" altLang="en-US" sz="2400" dirty="0">
                <a:latin typeface="华文隶书" panose="02010800040101010101" charset="-122"/>
                <a:ea typeface="华文隶书" panose="02010800040101010101" charset="-122"/>
                <a:cs typeface="华文隶书" panose="02010800040101010101" charset="-122"/>
              </a:rPr>
              <a:t>有重要意义</a:t>
            </a:r>
            <a:endParaRPr lang="zh-CN" altLang="en-US" sz="2400" dirty="0">
              <a:latin typeface="华文隶书" panose="02010800040101010101" charset="-122"/>
              <a:ea typeface="华文隶书" panose="02010800040101010101" charset="-122"/>
              <a:cs typeface="华文隶书" panose="02010800040101010101" charset="-122"/>
            </a:endParaRPr>
          </a:p>
        </p:txBody>
      </p:sp>
      <p:sp>
        <p:nvSpPr>
          <p:cNvPr id="10" name="文本框 9"/>
          <p:cNvSpPr txBox="1"/>
          <p:nvPr/>
        </p:nvSpPr>
        <p:spPr>
          <a:xfrm>
            <a:off x="541327" y="1139585"/>
            <a:ext cx="728286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被恶意利用的“保活”行为</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5" name="文本框 4"/>
          <p:cNvSpPr txBox="1"/>
          <p:nvPr/>
        </p:nvSpPr>
        <p:spPr>
          <a:xfrm>
            <a:off x="303362" y="4553833"/>
            <a:ext cx="4912710" cy="1323439"/>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Android</a:t>
            </a:r>
            <a:r>
              <a:rPr lang="zh-CN" altLang="en-US" sz="2000" dirty="0">
                <a:latin typeface="微软雅黑" panose="020B0503020204020204" pitchFamily="34" charset="-122"/>
                <a:ea typeface="微软雅黑" panose="020B0503020204020204" pitchFamily="34" charset="-122"/>
              </a:rPr>
              <a:t>是目前全球</a:t>
            </a:r>
            <a:r>
              <a:rPr lang="zh-CN" altLang="en-US" sz="2000" b="1" dirty="0">
                <a:latin typeface="微软雅黑" panose="020B0503020204020204" pitchFamily="34" charset="-122"/>
                <a:ea typeface="微软雅黑" panose="020B0503020204020204" pitchFamily="34" charset="-122"/>
              </a:rPr>
              <a:t>市场占有率最高</a:t>
            </a:r>
            <a:r>
              <a:rPr lang="zh-CN" altLang="en-US" sz="2000" dirty="0">
                <a:latin typeface="微软雅黑" panose="020B0503020204020204" pitchFamily="34" charset="-122"/>
                <a:ea typeface="微软雅黑" panose="020B0503020204020204" pitchFamily="34" charset="-122"/>
              </a:rPr>
              <a:t>的移动端操作系统</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恶意的保活行为正在</a:t>
            </a:r>
            <a:r>
              <a:rPr lang="zh-CN" altLang="en-US" sz="2000" b="1" dirty="0">
                <a:latin typeface="微软雅黑" panose="020B0503020204020204" pitchFamily="34" charset="-122"/>
                <a:ea typeface="微软雅黑" panose="020B0503020204020204" pitchFamily="34" charset="-122"/>
              </a:rPr>
              <a:t>严重破坏</a:t>
            </a:r>
            <a:r>
              <a:rPr lang="en-US" altLang="zh-CN" sz="2000" b="1" dirty="0">
                <a:latin typeface="微软雅黑" panose="020B0503020204020204" pitchFamily="34" charset="-122"/>
                <a:ea typeface="微软雅黑" panose="020B0503020204020204" pitchFamily="34" charset="-122"/>
              </a:rPr>
              <a:t>Android</a:t>
            </a:r>
            <a:r>
              <a:rPr lang="zh-CN" altLang="en-US" sz="2000" b="1" dirty="0">
                <a:latin typeface="微软雅黑" panose="020B0503020204020204" pitchFamily="34" charset="-122"/>
                <a:ea typeface="微软雅黑" panose="020B0503020204020204" pitchFamily="34" charset="-122"/>
              </a:rPr>
              <a:t>移动软件生态</a:t>
            </a:r>
            <a:endParaRPr lang="zh-CN" altLang="en-US" sz="2000" b="1"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5135031" y="1164495"/>
            <a:ext cx="4313134" cy="4890603"/>
            <a:chOff x="5692805" y="1266657"/>
            <a:chExt cx="3816686" cy="4538607"/>
          </a:xfrm>
        </p:grpSpPr>
        <p:grpSp>
          <p:nvGrpSpPr>
            <p:cNvPr id="20" name="组合 19"/>
            <p:cNvGrpSpPr/>
            <p:nvPr/>
          </p:nvGrpSpPr>
          <p:grpSpPr>
            <a:xfrm>
              <a:off x="5692805" y="1629833"/>
              <a:ext cx="3816686" cy="4175431"/>
              <a:chOff x="5692805" y="1629833"/>
              <a:chExt cx="3816686" cy="4175431"/>
            </a:xfrm>
          </p:grpSpPr>
          <p:grpSp>
            <p:nvGrpSpPr>
              <p:cNvPr id="22" name="组合 21"/>
              <p:cNvGrpSpPr/>
              <p:nvPr/>
            </p:nvGrpSpPr>
            <p:grpSpPr>
              <a:xfrm>
                <a:off x="7681799" y="1629833"/>
                <a:ext cx="1827692" cy="4175431"/>
                <a:chOff x="7886922" y="1629833"/>
                <a:chExt cx="1827692" cy="4175431"/>
              </a:xfrm>
            </p:grpSpPr>
            <p:sp>
              <p:nvSpPr>
                <p:cNvPr id="26" name="文本框 25"/>
                <p:cNvSpPr txBox="1"/>
                <p:nvPr userDrawn="1"/>
              </p:nvSpPr>
              <p:spPr>
                <a:xfrm>
                  <a:off x="7895244" y="5515693"/>
                  <a:ext cx="1655515" cy="289571"/>
                </a:xfrm>
                <a:prstGeom prst="rect">
                  <a:avLst/>
                </a:prstGeom>
              </p:spPr>
              <p:txBody>
                <a:bodyPr wrap="square" rtlCol="0">
                  <a:noAutofit/>
                </a:bodyPr>
                <a:lstStyle/>
                <a:p>
                  <a:pPr algn="ctr"/>
                  <a:r>
                    <a:rPr lang="zh-CN" altLang="en-US" sz="2200" dirty="0"/>
                    <a:t>顽固通知示例</a:t>
                  </a:r>
                  <a:endParaRPr lang="zh-CN" altLang="en-US" sz="2200" dirty="0"/>
                </a:p>
              </p:txBody>
            </p:sp>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886922" y="1629833"/>
                  <a:ext cx="1827692" cy="3960000"/>
                </a:xfrm>
                <a:prstGeom prst="rect">
                  <a:avLst/>
                </a:prstGeom>
              </p:spPr>
            </p:pic>
          </p:grpSp>
          <p:grpSp>
            <p:nvGrpSpPr>
              <p:cNvPr id="23" name="组合 22"/>
              <p:cNvGrpSpPr/>
              <p:nvPr/>
            </p:nvGrpSpPr>
            <p:grpSpPr>
              <a:xfrm>
                <a:off x="5692805" y="1629833"/>
                <a:ext cx="1827692" cy="4175431"/>
                <a:chOff x="5692805" y="1629833"/>
                <a:chExt cx="1827692" cy="4175431"/>
              </a:xfrm>
            </p:grpSpPr>
            <p:sp>
              <p:nvSpPr>
                <p:cNvPr id="24" name="文本框 23"/>
                <p:cNvSpPr txBox="1"/>
                <p:nvPr userDrawn="1"/>
              </p:nvSpPr>
              <p:spPr>
                <a:xfrm>
                  <a:off x="5807979" y="5515693"/>
                  <a:ext cx="1690983" cy="289571"/>
                </a:xfrm>
                <a:prstGeom prst="rect">
                  <a:avLst/>
                </a:prstGeom>
              </p:spPr>
              <p:txBody>
                <a:bodyPr wrap="square" rtlCol="0">
                  <a:noAutofit/>
                </a:bodyPr>
                <a:lstStyle/>
                <a:p>
                  <a:pPr algn="ctr"/>
                  <a:r>
                    <a:rPr lang="zh-CN" altLang="en-US" sz="2200" dirty="0"/>
                    <a:t>流氓广告示例</a:t>
                  </a:r>
                  <a:endParaRPr lang="zh-CN" altLang="en-US" sz="2200" dirty="0"/>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692805" y="1629833"/>
                  <a:ext cx="1827692" cy="3960000"/>
                </a:xfrm>
                <a:prstGeom prst="rect">
                  <a:avLst/>
                </a:prstGeom>
              </p:spPr>
            </p:pic>
          </p:grpSp>
        </p:grpSp>
        <p:sp>
          <p:nvSpPr>
            <p:cNvPr id="21" name="文本框 20"/>
            <p:cNvSpPr txBox="1"/>
            <p:nvPr/>
          </p:nvSpPr>
          <p:spPr>
            <a:xfrm>
              <a:off x="6098173" y="1266657"/>
              <a:ext cx="2659962" cy="399874"/>
            </a:xfrm>
            <a:prstGeom prst="rect">
              <a:avLst/>
            </a:prstGeom>
            <a:noFill/>
          </p:spPr>
          <p:txBody>
            <a:bodyPr wrap="none" rtlCol="0">
              <a:spAutoFit/>
            </a:bodyPr>
            <a:lstStyle/>
            <a:p>
              <a:r>
                <a:rPr lang="zh-CN" altLang="en-US" sz="2200" b="1" dirty="0">
                  <a:solidFill>
                    <a:srgbClr val="000000"/>
                  </a:solidFill>
                </a:rPr>
                <a:t>常见恶意保活行为展示</a:t>
              </a:r>
              <a:endParaRPr lang="zh-CN" altLang="en-US" sz="2200" b="1" dirty="0">
                <a:solidFill>
                  <a:srgbClr val="000000"/>
                </a:solidFill>
              </a:endParaRPr>
            </a:p>
          </p:txBody>
        </p:sp>
      </p:grpSp>
      <p:sp>
        <p:nvSpPr>
          <p:cNvPr id="28" name="文本框 27"/>
          <p:cNvSpPr txBox="1"/>
          <p:nvPr/>
        </p:nvSpPr>
        <p:spPr>
          <a:xfrm>
            <a:off x="9334033" y="2780928"/>
            <a:ext cx="2954655" cy="461665"/>
          </a:xfrm>
          <a:prstGeom prst="rect">
            <a:avLst/>
          </a:prstGeom>
          <a:noFill/>
        </p:spPr>
        <p:txBody>
          <a:bodyPr wrap="none" rtlCol="0">
            <a:spAutoFit/>
          </a:bodyPr>
          <a:lstStyle/>
          <a:p>
            <a:r>
              <a:rPr lang="zh-CN" altLang="en-US" sz="2400" dirty="0"/>
              <a:t>←关不掉的流氓通知</a:t>
            </a:r>
            <a:endParaRPr lang="zh-CN" altLang="en-US" sz="2400" dirty="0"/>
          </a:p>
        </p:txBody>
      </p:sp>
      <p:sp>
        <p:nvSpPr>
          <p:cNvPr id="30" name="文本框 29"/>
          <p:cNvSpPr txBox="1"/>
          <p:nvPr/>
        </p:nvSpPr>
        <p:spPr>
          <a:xfrm>
            <a:off x="6840045" y="4148999"/>
            <a:ext cx="4382406" cy="461665"/>
          </a:xfrm>
          <a:prstGeom prst="rect">
            <a:avLst/>
          </a:prstGeom>
          <a:noFill/>
        </p:spPr>
        <p:txBody>
          <a:bodyPr wrap="square" rtlCol="0">
            <a:spAutoFit/>
          </a:bodyPr>
          <a:lstStyle/>
          <a:p>
            <a:r>
              <a:rPr lang="zh-CN" altLang="en-US" sz="2400" dirty="0"/>
              <a:t>←总是弹出的各种流氓广告</a:t>
            </a:r>
            <a:endParaRPr lang="zh-CN" altLang="en-US" sz="2400" dirty="0"/>
          </a:p>
        </p:txBody>
      </p:sp>
      <p:sp>
        <p:nvSpPr>
          <p:cNvPr id="32" name="文本框 31"/>
          <p:cNvSpPr txBox="1"/>
          <p:nvPr/>
        </p:nvSpPr>
        <p:spPr>
          <a:xfrm>
            <a:off x="541327" y="4077072"/>
            <a:ext cx="728286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为什么要研究安卓保活行为</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33" name="不完整圆 32"/>
          <p:cNvSpPr/>
          <p:nvPr/>
        </p:nvSpPr>
        <p:spPr>
          <a:xfrm>
            <a:off x="263352" y="4223266"/>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2</a:t>
            </a:r>
            <a:endParaRPr lang="zh-CN" altLang="en-US" dirty="0"/>
          </a:p>
        </p:txBody>
      </p:sp>
      <p:sp>
        <p:nvSpPr>
          <p:cNvPr id="3" name="文本占位符 2"/>
          <p:cNvSpPr>
            <a:spLocks noGrp="1"/>
          </p:cNvSpPr>
          <p:nvPr>
            <p:ph type="body" sz="quarter" idx="12"/>
          </p:nvPr>
        </p:nvSpPr>
        <p:spPr>
          <a:xfrm>
            <a:off x="1437591" y="348250"/>
            <a:ext cx="9468473" cy="689864"/>
          </a:xfrm>
        </p:spPr>
        <p:txBody>
          <a:bodyPr/>
          <a:lstStyle/>
          <a:p>
            <a:pPr fontAlgn="base"/>
            <a:r>
              <a:rPr lang="zh-CN" altLang="en-US" b="1" dirty="0"/>
              <a:t>研究现状与挑战</a:t>
            </a:r>
            <a:endParaRPr lang="en-US" altLang="zh-CN" b="1" dirty="0"/>
          </a:p>
        </p:txBody>
      </p:sp>
      <p:sp>
        <p:nvSpPr>
          <p:cNvPr id="29" name="文本框 28"/>
          <p:cNvSpPr txBox="1"/>
          <p:nvPr/>
        </p:nvSpPr>
        <p:spPr>
          <a:xfrm>
            <a:off x="263352" y="1601251"/>
            <a:ext cx="11737303" cy="415393"/>
          </a:xfrm>
          <a:prstGeom prst="rect">
            <a:avLst/>
          </a:prstGeom>
          <a:noFill/>
        </p:spPr>
        <p:txBody>
          <a:bodyPr wrap="square">
            <a:noAutofit/>
          </a:bodyPr>
          <a:lstStyle/>
          <a:p>
            <a:pPr algn="just"/>
            <a:r>
              <a:rPr lang="zh-CN" altLang="en-US" sz="2000" b="1" dirty="0">
                <a:latin typeface="仿宋" panose="02010609060101010101" pitchFamily="49" charset="-122"/>
                <a:ea typeface="仿宋" panose="02010609060101010101" pitchFamily="49" charset="-122"/>
              </a:rPr>
              <a:t>现状：相关工作不多，检测分析面临严峻挑战</a:t>
            </a:r>
            <a:endParaRPr lang="en-US" altLang="zh-CN" sz="2000" b="1" dirty="0">
              <a:latin typeface="仿宋" panose="02010609060101010101" pitchFamily="49" charset="-122"/>
              <a:ea typeface="仿宋" panose="02010609060101010101" pitchFamily="49" charset="-122"/>
            </a:endParaRPr>
          </a:p>
        </p:txBody>
      </p:sp>
      <p:sp>
        <p:nvSpPr>
          <p:cNvPr id="10" name="文本框 9"/>
          <p:cNvSpPr txBox="1"/>
          <p:nvPr/>
        </p:nvSpPr>
        <p:spPr>
          <a:xfrm>
            <a:off x="541327" y="1139585"/>
            <a:ext cx="843499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研究现状：国内外对安卓保活行为的研究刚刚兴起</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3" name="文本框 12"/>
          <p:cNvSpPr txBox="1"/>
          <p:nvPr/>
        </p:nvSpPr>
        <p:spPr>
          <a:xfrm>
            <a:off x="263352" y="1946813"/>
            <a:ext cx="11449272" cy="280794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香港理工大学罗夏朴老师团队论文</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Demystifying Diehard Android Apps</a:t>
            </a:r>
            <a:r>
              <a:rPr lang="en-US" altLang="zh-CN" sz="2000" dirty="0">
                <a:latin typeface="微软雅黑" panose="020B0503020204020204" pitchFamily="34" charset="-122"/>
                <a:ea typeface="微软雅黑" panose="020B0503020204020204" pitchFamily="34" charset="-122"/>
              </a:rPr>
              <a:t>”</a:t>
            </a:r>
            <a:r>
              <a:rPr lang="en-US" altLang="zh-CN" sz="2000" baseline="30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首次系统性研究了</a:t>
            </a:r>
            <a:r>
              <a:rPr lang="en-US" altLang="zh-CN" sz="2000" b="1" dirty="0">
                <a:latin typeface="微软雅黑" panose="020B0503020204020204" pitchFamily="34" charset="-122"/>
                <a:ea typeface="微软雅黑" panose="020B0503020204020204" pitchFamily="34" charset="-122"/>
              </a:rPr>
              <a:t>Android</a:t>
            </a:r>
            <a:r>
              <a:rPr lang="zh-CN" altLang="en-US" sz="2000" b="1" dirty="0">
                <a:latin typeface="微软雅黑" panose="020B0503020204020204" pitchFamily="34" charset="-122"/>
                <a:ea typeface="微软雅黑" panose="020B0503020204020204" pitchFamily="34" charset="-122"/>
              </a:rPr>
              <a:t>应用的保活行为</a:t>
            </a:r>
            <a:r>
              <a:rPr lang="zh-CN" altLang="en-US" sz="2000" dirty="0">
                <a:latin typeface="微软雅黑" panose="020B0503020204020204" pitchFamily="34" charset="-122"/>
                <a:ea typeface="微软雅黑" panose="020B0503020204020204" pitchFamily="34" charset="-122"/>
              </a:rPr>
              <a:t>，构建</a:t>
            </a:r>
            <a:r>
              <a:rPr lang="en-US" altLang="zh-CN" sz="2000" dirty="0" err="1">
                <a:latin typeface="微软雅黑" panose="020B0503020204020204" pitchFamily="34" charset="-122"/>
                <a:ea typeface="微软雅黑" panose="020B0503020204020204" pitchFamily="34" charset="-122"/>
              </a:rPr>
              <a:t>DiehardDetector</a:t>
            </a:r>
            <a:r>
              <a:rPr lang="zh-CN" altLang="en-US" sz="2000" dirty="0">
                <a:latin typeface="微软雅黑" panose="020B0503020204020204" pitchFamily="34" charset="-122"/>
                <a:ea typeface="微软雅黑" panose="020B0503020204020204" pitchFamily="34" charset="-122"/>
              </a:rPr>
              <a:t>具识别保活行为，具有开创性，但</a:t>
            </a:r>
            <a:r>
              <a:rPr lang="zh-CN" altLang="en-US" sz="2000" b="1" dirty="0">
                <a:latin typeface="微软雅黑" panose="020B0503020204020204" pitchFamily="34" charset="-122"/>
                <a:ea typeface="微软雅黑" panose="020B0503020204020204" pitchFamily="34" charset="-122"/>
              </a:rPr>
              <a:t>没有关注保活行为的意图和区分保活行为的良恶性</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2020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中国科学技术大学颜宏冰</a:t>
            </a:r>
            <a:r>
              <a:rPr lang="en-US" altLang="zh-CN" sz="2000" baseline="30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对在</a:t>
            </a:r>
            <a:r>
              <a:rPr lang="zh-CN" altLang="en-US" sz="2000" b="1" dirty="0">
                <a:latin typeface="微软雅黑" panose="020B0503020204020204" pitchFamily="34" charset="-122"/>
                <a:ea typeface="微软雅黑" panose="020B0503020204020204" pitchFamily="34" charset="-122"/>
              </a:rPr>
              <a:t>后台播放无声音频保活</a:t>
            </a:r>
            <a:r>
              <a:rPr lang="zh-CN" altLang="en-US" sz="2000" dirty="0">
                <a:latin typeface="微软雅黑" panose="020B0503020204020204" pitchFamily="34" charset="-122"/>
                <a:ea typeface="微软雅黑" panose="020B0503020204020204" pitchFamily="34" charset="-122"/>
              </a:rPr>
              <a:t>的行为进行了识别与检测，并认为在保活过程中使用了系统传感器的</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是良性的，也具有一定的局限性。（</a:t>
            </a:r>
            <a:r>
              <a:rPr lang="en-US" altLang="zh-CN" sz="2000" dirty="0">
                <a:latin typeface="微软雅黑" panose="020B0503020204020204" pitchFamily="34" charset="-122"/>
                <a:ea typeface="微软雅黑" panose="020B0503020204020204" pitchFamily="34" charset="-122"/>
              </a:rPr>
              <a:t>2019</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6213444" y="4293096"/>
            <a:ext cx="5931228" cy="2232248"/>
            <a:chOff x="6141436" y="4581128"/>
            <a:chExt cx="5931228" cy="2232248"/>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41436" y="4581128"/>
              <a:ext cx="5931228" cy="1888814"/>
            </a:xfrm>
            <a:prstGeom prst="rect">
              <a:avLst/>
            </a:prstGeom>
          </p:spPr>
        </p:pic>
        <p:sp>
          <p:nvSpPr>
            <p:cNvPr id="14" name="文本框 13"/>
            <p:cNvSpPr txBox="1"/>
            <p:nvPr/>
          </p:nvSpPr>
          <p:spPr>
            <a:xfrm>
              <a:off x="7218750" y="6413266"/>
              <a:ext cx="3776601" cy="400110"/>
            </a:xfrm>
            <a:prstGeom prst="rect">
              <a:avLst/>
            </a:prstGeom>
            <a:noFill/>
          </p:spPr>
          <p:txBody>
            <a:bodyPr wrap="square">
              <a:spAutoFit/>
            </a:bodyPr>
            <a:lstStyle/>
            <a:p>
              <a:pPr algn="ctr"/>
              <a:r>
                <a:rPr lang="en-US" altLang="zh-CN" sz="2000" dirty="0" err="1">
                  <a:latin typeface="华文仿宋" panose="02010600040101010101" pitchFamily="2" charset="-122"/>
                  <a:ea typeface="华文仿宋" panose="02010600040101010101" pitchFamily="2" charset="-122"/>
                </a:rPr>
                <a:t>DiehardDetector</a:t>
              </a:r>
              <a:r>
                <a:rPr lang="zh-CN" altLang="en-US" sz="2000" dirty="0">
                  <a:latin typeface="华文仿宋" panose="02010600040101010101" pitchFamily="2" charset="-122"/>
                  <a:ea typeface="华文仿宋" panose="02010600040101010101" pitchFamily="2" charset="-122"/>
                </a:rPr>
                <a:t>工具整体架构</a:t>
              </a:r>
              <a:endParaRPr lang="en-US" altLang="zh-CN" sz="2000" dirty="0">
                <a:latin typeface="华文仿宋" panose="02010600040101010101" pitchFamily="2" charset="-122"/>
                <a:ea typeface="华文仿宋" panose="02010600040101010101" pitchFamily="2" charset="-122"/>
              </a:endParaRPr>
            </a:p>
          </p:txBody>
        </p:sp>
      </p:grpSp>
      <p:sp>
        <p:nvSpPr>
          <p:cNvPr id="4" name="文本框 3"/>
          <p:cNvSpPr txBox="1"/>
          <p:nvPr/>
        </p:nvSpPr>
        <p:spPr>
          <a:xfrm>
            <a:off x="79128" y="4597909"/>
            <a:ext cx="6151807" cy="986104"/>
          </a:xfrm>
          <a:prstGeom prst="rect">
            <a:avLst/>
          </a:prstGeom>
          <a:noFill/>
        </p:spPr>
        <p:txBody>
          <a:bodyPr wrap="square">
            <a:spAutoFit/>
          </a:bodyPr>
          <a:lstStyle/>
          <a:p>
            <a:pPr algn="ctr">
              <a:lnSpc>
                <a:spcPct val="150000"/>
              </a:lnSpc>
            </a:pPr>
            <a:r>
              <a:rPr lang="zh-CN" altLang="en-US" sz="2100" b="1" dirty="0">
                <a:latin typeface="仿宋" panose="02010609060101010101" pitchFamily="49" charset="-122"/>
                <a:ea typeface="仿宋" panose="02010609060101010101" pitchFamily="49" charset="-122"/>
              </a:rPr>
              <a:t>暂无研究针对工业界中存在的保活行为进行</a:t>
            </a:r>
            <a:endParaRPr lang="en-US" altLang="zh-CN" sz="2100" b="1" dirty="0">
              <a:latin typeface="仿宋" panose="02010609060101010101" pitchFamily="49" charset="-122"/>
              <a:ea typeface="仿宋" panose="02010609060101010101" pitchFamily="49" charset="-122"/>
            </a:endParaRPr>
          </a:p>
          <a:p>
            <a:pPr algn="ctr">
              <a:lnSpc>
                <a:spcPct val="150000"/>
              </a:lnSpc>
            </a:pPr>
            <a:r>
              <a:rPr lang="en-US" altLang="zh-CN" sz="2100" b="1" dirty="0">
                <a:latin typeface="仿宋" panose="02010609060101010101" pitchFamily="49" charset="-122"/>
                <a:ea typeface="仿宋" panose="02010609060101010101" pitchFamily="49" charset="-122"/>
              </a:rPr>
              <a:t>1)</a:t>
            </a:r>
            <a:r>
              <a:rPr lang="zh-CN" altLang="en-US" sz="2100" b="1" dirty="0">
                <a:latin typeface="仿宋" panose="02010609060101010101" pitchFamily="49" charset="-122"/>
                <a:ea typeface="仿宋" panose="02010609060101010101" pitchFamily="49" charset="-122"/>
              </a:rPr>
              <a:t>检测、</a:t>
            </a:r>
            <a:r>
              <a:rPr lang="en-US" altLang="zh-CN" sz="2100" b="1" dirty="0">
                <a:latin typeface="仿宋" panose="02010609060101010101" pitchFamily="49" charset="-122"/>
                <a:ea typeface="仿宋" panose="02010609060101010101" pitchFamily="49" charset="-122"/>
              </a:rPr>
              <a:t>2)</a:t>
            </a:r>
            <a:r>
              <a:rPr lang="zh-CN" altLang="en-US" sz="2100" b="1" dirty="0">
                <a:latin typeface="仿宋" panose="02010609060101010101" pitchFamily="49" charset="-122"/>
                <a:ea typeface="仿宋" panose="02010609060101010101" pitchFamily="49" charset="-122"/>
              </a:rPr>
              <a:t>识别保活意图和</a:t>
            </a:r>
            <a:r>
              <a:rPr lang="en-US" altLang="zh-CN" sz="2100" b="1" dirty="0">
                <a:latin typeface="仿宋" panose="02010609060101010101" pitchFamily="49" charset="-122"/>
                <a:ea typeface="仿宋" panose="02010609060101010101" pitchFamily="49" charset="-122"/>
              </a:rPr>
              <a:t>3)</a:t>
            </a:r>
            <a:r>
              <a:rPr lang="zh-CN" altLang="en-US" sz="2100" b="1" dirty="0">
                <a:latin typeface="仿宋" panose="02010609060101010101" pitchFamily="49" charset="-122"/>
                <a:ea typeface="仿宋" panose="02010609060101010101" pitchFamily="49" charset="-122"/>
              </a:rPr>
              <a:t>判断保活行为良恶性</a:t>
            </a:r>
            <a:endParaRPr lang="en-US" altLang="zh-CN" sz="2100" b="1" dirty="0">
              <a:latin typeface="仿宋" panose="02010609060101010101" pitchFamily="49" charset="-122"/>
              <a:ea typeface="仿宋" panose="02010609060101010101" pitchFamily="49" charset="-122"/>
            </a:endParaRPr>
          </a:p>
        </p:txBody>
      </p:sp>
      <p:sp>
        <p:nvSpPr>
          <p:cNvPr id="5" name="文本框 4"/>
          <p:cNvSpPr txBox="1"/>
          <p:nvPr/>
        </p:nvSpPr>
        <p:spPr>
          <a:xfrm>
            <a:off x="79128" y="5903893"/>
            <a:ext cx="7211630" cy="954107"/>
          </a:xfrm>
          <a:prstGeom prst="rect">
            <a:avLst/>
          </a:prstGeom>
          <a:noFill/>
        </p:spPr>
        <p:txBody>
          <a:bodyPr wrap="square" rtlCol="0">
            <a:spAutoFit/>
          </a:bodyPr>
          <a:lstStyle/>
          <a:p>
            <a:r>
              <a:rPr lang="en-US" altLang="zh-CN" sz="1400" kern="100" dirty="0">
                <a:latin typeface="+mj-ea"/>
                <a:ea typeface="+mj-ea"/>
                <a:cs typeface="Times New Roman" panose="02020603050405020304" pitchFamily="18" charset="0"/>
              </a:rPr>
              <a:t>[1] </a:t>
            </a:r>
            <a:r>
              <a:rPr lang="en-US" altLang="zh-CN" sz="1400" kern="100" dirty="0">
                <a:effectLst/>
                <a:latin typeface="+mj-ea"/>
                <a:ea typeface="+mj-ea"/>
                <a:cs typeface="Times New Roman" panose="02020603050405020304" pitchFamily="18" charset="0"/>
              </a:rPr>
              <a:t>H. Zhou et al. Demystifying diehard Android apps. </a:t>
            </a:r>
            <a:r>
              <a:rPr lang="en-US" altLang="zh-CN" sz="1400" kern="100" dirty="0">
                <a:latin typeface="+mj-ea"/>
                <a:ea typeface="+mj-ea"/>
                <a:cs typeface="Times New Roman" panose="02020603050405020304" pitchFamily="18" charset="0"/>
              </a:rPr>
              <a:t>T</a:t>
            </a:r>
            <a:r>
              <a:rPr lang="en-US" altLang="zh-CN" sz="1400" kern="100" dirty="0">
                <a:effectLst/>
                <a:latin typeface="+mj-ea"/>
                <a:ea typeface="+mj-ea"/>
                <a:cs typeface="Times New Roman" panose="02020603050405020304" pitchFamily="18" charset="0"/>
              </a:rPr>
              <a:t>he 35th IEEE/ACM International Conference on Automated Software Engineering, 2020</a:t>
            </a:r>
            <a:endParaRPr lang="en-US" altLang="zh-CN" sz="1400" kern="100" dirty="0">
              <a:effectLst/>
              <a:latin typeface="+mj-ea"/>
              <a:ea typeface="+mj-ea"/>
              <a:cs typeface="Times New Roman" panose="02020603050405020304" pitchFamily="18" charset="0"/>
            </a:endParaRPr>
          </a:p>
          <a:p>
            <a:r>
              <a:rPr lang="en-US" altLang="zh-CN" sz="1400" kern="100" dirty="0">
                <a:effectLst/>
                <a:latin typeface="+mj-ea"/>
                <a:ea typeface="+mj-ea"/>
                <a:cs typeface="Times New Roman" panose="02020603050405020304" pitchFamily="18" charset="0"/>
              </a:rPr>
              <a:t>[2]</a:t>
            </a:r>
            <a:r>
              <a:rPr lang="zh-CN" altLang="en-US" sz="1400" kern="100" dirty="0">
                <a:effectLst/>
                <a:latin typeface="+mj-ea"/>
                <a:ea typeface="+mj-ea"/>
                <a:cs typeface="Times New Roman" panose="02020603050405020304" pitchFamily="18" charset="0"/>
              </a:rPr>
              <a:t>颜宏冰</a:t>
            </a:r>
            <a:r>
              <a:rPr lang="en-US" altLang="zh-CN" sz="1400" kern="100" dirty="0">
                <a:effectLst/>
                <a:latin typeface="+mj-ea"/>
                <a:ea typeface="+mj-ea"/>
                <a:cs typeface="Times New Roman" panose="02020603050405020304" pitchFamily="18" charset="0"/>
              </a:rPr>
              <a:t>. </a:t>
            </a:r>
            <a:r>
              <a:rPr lang="zh-CN" altLang="en-US" sz="1400" kern="100" dirty="0">
                <a:effectLst/>
                <a:latin typeface="+mj-ea"/>
                <a:ea typeface="+mj-ea"/>
                <a:cs typeface="Times New Roman" panose="02020603050405020304" pitchFamily="18" charset="0"/>
              </a:rPr>
              <a:t>安卓应用中资源滥用行为检测方法研究</a:t>
            </a:r>
            <a:r>
              <a:rPr lang="en-US" altLang="zh-CN" sz="1400" kern="100" dirty="0">
                <a:effectLst/>
                <a:latin typeface="+mj-ea"/>
                <a:ea typeface="+mj-ea"/>
                <a:cs typeface="Times New Roman" panose="02020603050405020304" pitchFamily="18" charset="0"/>
              </a:rPr>
              <a:t>[</a:t>
            </a:r>
            <a:r>
              <a:rPr lang="zh-CN" altLang="en-US" sz="1400" kern="100" dirty="0">
                <a:effectLst/>
                <a:latin typeface="+mj-ea"/>
                <a:ea typeface="+mj-ea"/>
                <a:cs typeface="Times New Roman" panose="02020603050405020304" pitchFamily="18" charset="0"/>
              </a:rPr>
              <a:t>硕士学位论文</a:t>
            </a:r>
            <a:r>
              <a:rPr lang="en-US" altLang="zh-CN" sz="1400" kern="100" dirty="0">
                <a:effectLst/>
                <a:latin typeface="+mj-ea"/>
                <a:ea typeface="+mj-ea"/>
                <a:cs typeface="Times New Roman" panose="02020603050405020304" pitchFamily="18" charset="0"/>
              </a:rPr>
              <a:t>]. </a:t>
            </a:r>
            <a:r>
              <a:rPr lang="zh-CN" altLang="en-US" sz="1400" kern="100" dirty="0">
                <a:effectLst/>
                <a:latin typeface="+mj-ea"/>
                <a:ea typeface="+mj-ea"/>
                <a:cs typeface="Times New Roman" panose="02020603050405020304" pitchFamily="18" charset="0"/>
              </a:rPr>
              <a:t>合肥</a:t>
            </a:r>
            <a:r>
              <a:rPr lang="en-US" altLang="zh-CN" sz="1400" kern="100" dirty="0">
                <a:effectLst/>
                <a:latin typeface="+mj-ea"/>
                <a:ea typeface="+mj-ea"/>
                <a:cs typeface="Times New Roman" panose="02020603050405020304" pitchFamily="18" charset="0"/>
              </a:rPr>
              <a:t>: </a:t>
            </a:r>
            <a:r>
              <a:rPr lang="zh-CN" altLang="en-US" sz="1400" kern="100" dirty="0">
                <a:effectLst/>
                <a:latin typeface="+mj-ea"/>
                <a:ea typeface="+mj-ea"/>
                <a:cs typeface="Times New Roman" panose="02020603050405020304" pitchFamily="18" charset="0"/>
              </a:rPr>
              <a:t>中国科学技术大学</a:t>
            </a:r>
            <a:r>
              <a:rPr lang="en-US" altLang="zh-CN" sz="1400" kern="100" dirty="0">
                <a:effectLst/>
                <a:latin typeface="+mj-ea"/>
                <a:ea typeface="+mj-ea"/>
                <a:cs typeface="Times New Roman" panose="02020603050405020304" pitchFamily="18" charset="0"/>
              </a:rPr>
              <a:t>, 2019</a:t>
            </a:r>
            <a:endParaRPr lang="en-US" altLang="zh-CN" sz="1400" kern="100" dirty="0">
              <a:effectLst/>
              <a:latin typeface="+mj-ea"/>
              <a:ea typeface="+mj-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2</a:t>
            </a:r>
            <a:endParaRPr lang="zh-CN" altLang="en-US" dirty="0"/>
          </a:p>
        </p:txBody>
      </p:sp>
      <p:sp>
        <p:nvSpPr>
          <p:cNvPr id="3" name="文本占位符 2"/>
          <p:cNvSpPr>
            <a:spLocks noGrp="1"/>
          </p:cNvSpPr>
          <p:nvPr>
            <p:ph type="body" sz="quarter" idx="12"/>
          </p:nvPr>
        </p:nvSpPr>
        <p:spPr>
          <a:xfrm>
            <a:off x="1437591" y="348250"/>
            <a:ext cx="9468473" cy="689864"/>
          </a:xfrm>
        </p:spPr>
        <p:txBody>
          <a:bodyPr/>
          <a:lstStyle/>
          <a:p>
            <a:pPr fontAlgn="base"/>
            <a:r>
              <a:rPr lang="zh-CN" altLang="en-US" b="1" dirty="0"/>
              <a:t>研究现状与挑战</a:t>
            </a:r>
            <a:endParaRPr lang="en-US" altLang="zh-CN" b="1" dirty="0"/>
          </a:p>
        </p:txBody>
      </p:sp>
      <p:sp>
        <p:nvSpPr>
          <p:cNvPr id="29" name="文本框 28"/>
          <p:cNvSpPr txBox="1"/>
          <p:nvPr/>
        </p:nvSpPr>
        <p:spPr>
          <a:xfrm>
            <a:off x="263352" y="1601251"/>
            <a:ext cx="11737303" cy="443706"/>
          </a:xfrm>
          <a:prstGeom prst="rect">
            <a:avLst/>
          </a:prstGeom>
          <a:noFill/>
        </p:spPr>
        <p:txBody>
          <a:bodyPr wrap="square">
            <a:noAutofit/>
          </a:bodyPr>
          <a:lstStyle/>
          <a:p>
            <a:pPr algn="just"/>
            <a:r>
              <a:rPr lang="zh-CN" altLang="en-US" sz="2000" dirty="0">
                <a:latin typeface="微软雅黑" panose="020B0503020204020204" pitchFamily="34" charset="-122"/>
                <a:ea typeface="微软雅黑" panose="020B0503020204020204" pitchFamily="34" charset="-122"/>
              </a:rPr>
              <a:t>对真实工业界中存在的保活行为进行</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检测、</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理解保活意图 </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判断保活行为良恶性，存在诸多挑战</a:t>
            </a:r>
            <a:endParaRPr lang="en-US" altLang="zh-CN"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1327" y="1139585"/>
            <a:ext cx="11603345"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挑战与应对：复杂度高、传统方法难达预期→静态分析与大模型的结合</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rcRect t="3019" b="3019"/>
          <a:stretch>
            <a:fillRect/>
          </a:stretch>
        </p:blipFill>
        <p:spPr>
          <a:xfrm>
            <a:off x="2603612" y="2020616"/>
            <a:ext cx="6984776" cy="3669218"/>
          </a:xfrm>
          <a:prstGeom prst="rect">
            <a:avLst/>
          </a:prstGeom>
        </p:spPr>
      </p:pic>
      <p:sp>
        <p:nvSpPr>
          <p:cNvPr id="14" name="文本框 13"/>
          <p:cNvSpPr txBox="1"/>
          <p:nvPr/>
        </p:nvSpPr>
        <p:spPr>
          <a:xfrm>
            <a:off x="256944" y="6009630"/>
            <a:ext cx="11737303" cy="443706"/>
          </a:xfrm>
          <a:prstGeom prst="rect">
            <a:avLst/>
          </a:prstGeom>
          <a:noFill/>
        </p:spPr>
        <p:txBody>
          <a:bodyPr wrap="square">
            <a:noAutofit/>
          </a:bodyPr>
          <a:lstStyle/>
          <a:p>
            <a:pPr algn="ctr"/>
            <a:r>
              <a:rPr lang="zh-CN" altLang="en-US" sz="2000" dirty="0">
                <a:latin typeface="微软雅黑" panose="020B0503020204020204" pitchFamily="34" charset="-122"/>
                <a:ea typeface="微软雅黑" panose="020B0503020204020204" pitchFamily="34" charset="-122"/>
              </a:rPr>
              <a:t>结合使用上述应对措施，期望构建一个能识别、分析、理解与判断保活行为的框架</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7" name="文本框 16"/>
          <p:cNvSpPr txBox="1"/>
          <p:nvPr/>
        </p:nvSpPr>
        <p:spPr>
          <a:xfrm>
            <a:off x="263352" y="1601250"/>
            <a:ext cx="11809312" cy="2553335"/>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本课题研究的保活行为有三种（来自华为安全部门，多见于华为应用市场，也是工业界较常用的三种）</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研究保活行为的第一步是要</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找到</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的保活行为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，再根据函数调用关系，</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溯源找到使用该保活功能的业务逻辑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，梳理清楚一条保活核心代码的“调用链”（或称函数调用子图）。</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2" name="图片 21"/>
          <p:cNvPicPr>
            <a:picLocks noChangeAspect="1"/>
          </p:cNvPicPr>
          <p:nvPr/>
        </p:nvPicPr>
        <p:blipFill>
          <a:blip r:embed="rId1"/>
          <a:stretch>
            <a:fillRect/>
          </a:stretch>
        </p:blipFill>
        <p:spPr>
          <a:xfrm>
            <a:off x="19845" y="4746432"/>
            <a:ext cx="9172499" cy="2084655"/>
          </a:xfrm>
          <a:prstGeom prst="rect">
            <a:avLst/>
          </a:prstGeom>
        </p:spPr>
      </p:pic>
      <p:pic>
        <p:nvPicPr>
          <p:cNvPr id="26" name="图片 25"/>
          <p:cNvPicPr>
            <a:picLocks noChangeAspect="1"/>
          </p:cNvPicPr>
          <p:nvPr/>
        </p:nvPicPr>
        <p:blipFill>
          <a:blip r:embed="rId2"/>
          <a:srcRect l="5180" r="6760" b="7264"/>
          <a:stretch>
            <a:fillRect/>
          </a:stretch>
        </p:blipFill>
        <p:spPr>
          <a:xfrm>
            <a:off x="10848528" y="5661713"/>
            <a:ext cx="1224136" cy="956112"/>
          </a:xfrm>
          <a:prstGeom prst="rect">
            <a:avLst/>
          </a:prstGeom>
        </p:spPr>
      </p:pic>
      <p:sp>
        <p:nvSpPr>
          <p:cNvPr id="27" name="文本框 26"/>
          <p:cNvSpPr txBox="1"/>
          <p:nvPr/>
        </p:nvSpPr>
        <p:spPr>
          <a:xfrm>
            <a:off x="9172499" y="4746433"/>
            <a:ext cx="2396110" cy="1630045"/>
          </a:xfrm>
          <a:prstGeom prst="rect">
            <a:avLst/>
          </a:prstGeom>
          <a:noFill/>
        </p:spPr>
        <p:txBody>
          <a:bodyPr wrap="square" rtlCol="0">
            <a:spAutoFit/>
          </a:bodyPr>
          <a:lstStyle/>
          <a:p>
            <a:r>
              <a:rPr lang="zh-CN" altLang="en-US" sz="2000" dirty="0"/>
              <a:t>进行保活意图分析，不仅仅需要：</a:t>
            </a:r>
            <a:endParaRPr lang="en-US" altLang="zh-CN" sz="2000" dirty="0"/>
          </a:p>
          <a:p>
            <a:endParaRPr lang="en-US" altLang="zh-CN" sz="2000" dirty="0"/>
          </a:p>
          <a:p>
            <a:endParaRPr lang="en-US" altLang="zh-CN" sz="2000" dirty="0"/>
          </a:p>
          <a:p>
            <a:r>
              <a:rPr lang="en-US" altLang="zh-CN" sz="2000" dirty="0"/>
              <a:t>        </a:t>
            </a:r>
            <a:r>
              <a:rPr lang="zh-CN" altLang="en-US" sz="2000" dirty="0"/>
              <a:t>更需要：</a:t>
            </a:r>
            <a:endParaRPr lang="zh-CN" altLang="en-US" sz="2000" dirty="0"/>
          </a:p>
        </p:txBody>
      </p:sp>
      <p:pic>
        <p:nvPicPr>
          <p:cNvPr id="29" name="图片 28"/>
          <p:cNvPicPr>
            <a:picLocks noChangeAspect="1"/>
          </p:cNvPicPr>
          <p:nvPr/>
        </p:nvPicPr>
        <p:blipFill>
          <a:blip r:embed="rId3"/>
          <a:srcRect l="17516" t="17935" r="17516" b="19380"/>
          <a:stretch>
            <a:fillRect/>
          </a:stretch>
        </p:blipFill>
        <p:spPr>
          <a:xfrm>
            <a:off x="11368270" y="5128101"/>
            <a:ext cx="400677" cy="386601"/>
          </a:xfrm>
          <a:prstGeom prst="rect">
            <a:avLst/>
          </a:prstGeom>
        </p:spPr>
      </p:pic>
      <p:sp>
        <p:nvSpPr>
          <p:cNvPr id="7" name="文本框 6"/>
          <p:cNvSpPr txBox="1"/>
          <p:nvPr/>
        </p:nvSpPr>
        <p:spPr>
          <a:xfrm>
            <a:off x="541326" y="1139585"/>
            <a:ext cx="1045121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研究内容</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1</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：检测与定位</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常见保活行为的检测与调用链构建</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8" name="不完整圆 7"/>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4" name="文本框 3"/>
          <p:cNvSpPr txBox="1"/>
          <p:nvPr/>
        </p:nvSpPr>
        <p:spPr>
          <a:xfrm>
            <a:off x="263352" y="4064483"/>
            <a:ext cx="10009112" cy="707886"/>
          </a:xfrm>
          <a:prstGeom prst="rect">
            <a:avLst/>
          </a:prstGeom>
          <a:noFill/>
        </p:spPr>
        <p:txBody>
          <a:bodyPr wrap="square" rtlCol="0">
            <a:spAutoFit/>
          </a:bodyPr>
          <a:lstStyle/>
          <a:p>
            <a:r>
              <a:rPr lang="zh-CN" altLang="en-US" sz="2000" b="1" dirty="0">
                <a:latin typeface="华文仿宋" panose="02010600040101010101" pitchFamily="2" charset="-122"/>
                <a:ea typeface="华文仿宋" panose="02010600040101010101" pitchFamily="2" charset="-122"/>
              </a:rPr>
              <a:t>补充：</a:t>
            </a:r>
            <a:r>
              <a:rPr lang="en-US" altLang="zh-CN" sz="2000" b="1" dirty="0">
                <a:latin typeface="华文仿宋" panose="02010600040101010101" pitchFamily="2" charset="-122"/>
                <a:ea typeface="华文仿宋" panose="02010600040101010101" pitchFamily="2" charset="-122"/>
              </a:rPr>
              <a:t>Activity</a:t>
            </a:r>
            <a:r>
              <a:rPr lang="zh-CN" altLang="en-US" sz="2000" b="1" dirty="0">
                <a:latin typeface="华文仿宋" panose="02010600040101010101" pitchFamily="2" charset="-122"/>
                <a:ea typeface="华文仿宋" panose="02010600040101010101" pitchFamily="2" charset="-122"/>
              </a:rPr>
              <a:t>和</a:t>
            </a:r>
            <a:r>
              <a:rPr lang="en-US" altLang="zh-CN" sz="2000" b="1" dirty="0">
                <a:latin typeface="华文仿宋" panose="02010600040101010101" pitchFamily="2" charset="-122"/>
                <a:ea typeface="华文仿宋" panose="02010600040101010101" pitchFamily="2" charset="-122"/>
              </a:rPr>
              <a:t>Service</a:t>
            </a:r>
            <a:r>
              <a:rPr lang="zh-CN" altLang="en-US" sz="2000" b="1" dirty="0">
                <a:latin typeface="华文仿宋" panose="02010600040101010101" pitchFamily="2" charset="-122"/>
                <a:ea typeface="华文仿宋" panose="02010600040101010101" pitchFamily="2" charset="-122"/>
              </a:rPr>
              <a:t>都是</a:t>
            </a:r>
            <a:r>
              <a:rPr lang="en-US" altLang="zh-CN" sz="2000" b="1" dirty="0">
                <a:latin typeface="华文仿宋" panose="02010600040101010101" pitchFamily="2" charset="-122"/>
                <a:ea typeface="华文仿宋" panose="02010600040101010101" pitchFamily="2" charset="-122"/>
              </a:rPr>
              <a:t>Android</a:t>
            </a:r>
            <a:r>
              <a:rPr lang="zh-CN" altLang="en-US" sz="2000" b="1" dirty="0">
                <a:latin typeface="华文仿宋" panose="02010600040101010101" pitchFamily="2" charset="-122"/>
                <a:ea typeface="华文仿宋" panose="02010600040101010101" pitchFamily="2" charset="-122"/>
              </a:rPr>
              <a:t>的组件，</a:t>
            </a:r>
            <a:r>
              <a:rPr lang="en-US" altLang="zh-CN" sz="2000" b="1" dirty="0">
                <a:latin typeface="华文仿宋" panose="02010600040101010101" pitchFamily="2" charset="-122"/>
                <a:ea typeface="华文仿宋" panose="02010600040101010101" pitchFamily="2" charset="-122"/>
              </a:rPr>
              <a:t>Activity</a:t>
            </a:r>
            <a:r>
              <a:rPr lang="zh-CN" altLang="en-US" sz="2000" b="1" dirty="0">
                <a:latin typeface="华文仿宋" panose="02010600040101010101" pitchFamily="2" charset="-122"/>
                <a:ea typeface="华文仿宋" panose="02010600040101010101" pitchFamily="2" charset="-122"/>
              </a:rPr>
              <a:t>可理解为用户直接交互使用的界面，</a:t>
            </a:r>
            <a:r>
              <a:rPr lang="en-US" altLang="zh-CN" sz="2000" b="1" dirty="0">
                <a:latin typeface="华文仿宋" panose="02010600040101010101" pitchFamily="2" charset="-122"/>
                <a:ea typeface="华文仿宋" panose="02010600040101010101" pitchFamily="2" charset="-122"/>
              </a:rPr>
              <a:t>Service</a:t>
            </a:r>
            <a:r>
              <a:rPr lang="zh-CN" altLang="en-US" sz="2000" b="1" dirty="0">
                <a:latin typeface="华文仿宋" panose="02010600040101010101" pitchFamily="2" charset="-122"/>
                <a:ea typeface="华文仿宋" panose="02010600040101010101" pitchFamily="2" charset="-122"/>
              </a:rPr>
              <a:t>则在后台提供服务，没有和用户交互的界面。</a:t>
            </a:r>
            <a:endParaRPr lang="zh-CN" altLang="en-US" sz="2000" b="1" dirty="0">
              <a:latin typeface="华文仿宋" panose="02010600040101010101" pitchFamily="2" charset="-122"/>
              <a:ea typeface="华文仿宋" panose="02010600040101010101" pitchFamily="2" charset="-122"/>
            </a:endParaRPr>
          </a:p>
        </p:txBody>
      </p:sp>
      <p:graphicFrame>
        <p:nvGraphicFramePr>
          <p:cNvPr id="5" name="表格 4"/>
          <p:cNvGraphicFramePr>
            <a:graphicFrameLocks noGrp="1"/>
          </p:cNvGraphicFramePr>
          <p:nvPr/>
        </p:nvGraphicFramePr>
        <p:xfrm>
          <a:off x="487721" y="1986580"/>
          <a:ext cx="10936872" cy="1442420"/>
        </p:xfrm>
        <a:graphic>
          <a:graphicData uri="http://schemas.openxmlformats.org/drawingml/2006/table">
            <a:tbl>
              <a:tblPr firstRow="1">
                <a:tableStyleId>{5C22544A-7EE6-4342-B048-85BDC9FD1C3A}</a:tableStyleId>
              </a:tblPr>
              <a:tblGrid>
                <a:gridCol w="2537359"/>
                <a:gridCol w="5122999"/>
                <a:gridCol w="3276514"/>
              </a:tblGrid>
              <a:tr h="360605">
                <a:tc>
                  <a:txBody>
                    <a:bodyPr/>
                    <a:lstStyle/>
                    <a:p>
                      <a:pPr algn="ctr"/>
                      <a:r>
                        <a:rPr lang="zh-CN" altLang="en-US" sz="1600" dirty="0">
                          <a:latin typeface="+mj-ea"/>
                          <a:ea typeface="+mj-ea"/>
                        </a:rPr>
                        <a:t>保活方式</a:t>
                      </a:r>
                      <a:endParaRPr lang="zh-CN" altLang="en-US" sz="1600" dirty="0">
                        <a:latin typeface="+mj-ea"/>
                        <a:ea typeface="+mj-ea"/>
                      </a:endParaRPr>
                    </a:p>
                  </a:txBody>
                  <a:tcPr anchor="ctr"/>
                </a:tc>
                <a:tc>
                  <a:txBody>
                    <a:bodyPr/>
                    <a:lstStyle/>
                    <a:p>
                      <a:pPr algn="ctr"/>
                      <a:r>
                        <a:rPr lang="zh-CN" altLang="en-US" sz="1600" dirty="0">
                          <a:latin typeface="+mj-ea"/>
                          <a:ea typeface="+mj-ea"/>
                        </a:rPr>
                        <a:t>实现机制</a:t>
                      </a:r>
                      <a:endParaRPr lang="zh-CN" altLang="en-US" sz="1600" dirty="0">
                        <a:latin typeface="+mj-ea"/>
                        <a:ea typeface="+mj-ea"/>
                      </a:endParaRPr>
                    </a:p>
                  </a:txBody>
                  <a:tcPr anchor="ctr"/>
                </a:tc>
                <a:tc>
                  <a:txBody>
                    <a:bodyPr/>
                    <a:lstStyle/>
                    <a:p>
                      <a:pPr algn="ctr"/>
                      <a:r>
                        <a:rPr lang="zh-CN" altLang="en-US" sz="1600">
                          <a:latin typeface="+mj-ea"/>
                          <a:ea typeface="+mj-ea"/>
                        </a:rPr>
                        <a:t>关键特点</a:t>
                      </a:r>
                      <a:endParaRPr lang="zh-CN" altLang="en-US" sz="1600">
                        <a:latin typeface="+mj-ea"/>
                        <a:ea typeface="+mj-ea"/>
                      </a:endParaRPr>
                    </a:p>
                  </a:txBody>
                  <a:tcPr anchor="ctr"/>
                </a:tc>
              </a:tr>
              <a:tr h="360605">
                <a:tc>
                  <a:txBody>
                    <a:bodyPr/>
                    <a:lstStyle/>
                    <a:p>
                      <a:pPr algn="ctr"/>
                      <a:r>
                        <a:rPr lang="zh-CN" altLang="en-US" sz="1600" dirty="0">
                          <a:latin typeface="+mj-ea"/>
                          <a:ea typeface="+mj-ea"/>
                        </a:rPr>
                        <a:t>后台播放无声音频保活</a:t>
                      </a:r>
                      <a:endParaRPr lang="zh-CN" altLang="en-US" sz="1600" dirty="0">
                        <a:latin typeface="+mj-ea"/>
                        <a:ea typeface="+mj-ea"/>
                      </a:endParaRPr>
                    </a:p>
                  </a:txBody>
                  <a:tcPr anchor="ctr"/>
                </a:tc>
                <a:tc>
                  <a:txBody>
                    <a:bodyPr/>
                    <a:lstStyle/>
                    <a:p>
                      <a:pPr algn="ctr"/>
                      <a:r>
                        <a:rPr lang="zh-CN" altLang="en-US" sz="1600" dirty="0">
                          <a:latin typeface="+mj-ea"/>
                          <a:ea typeface="+mj-ea"/>
                        </a:rPr>
                        <a:t>在后台持续播放一个无声的音频文件</a:t>
                      </a:r>
                      <a:endParaRPr lang="zh-CN" altLang="en-US" sz="1600" dirty="0">
                        <a:latin typeface="+mj-ea"/>
                        <a:ea typeface="+mj-ea"/>
                      </a:endParaRPr>
                    </a:p>
                  </a:txBody>
                  <a:tcPr anchor="ctr"/>
                </a:tc>
                <a:tc>
                  <a:txBody>
                    <a:bodyPr/>
                    <a:lstStyle/>
                    <a:p>
                      <a:pPr algn="ctr"/>
                      <a:r>
                        <a:rPr lang="zh-CN" altLang="en-US" sz="1600" dirty="0">
                          <a:latin typeface="+mj-ea"/>
                          <a:ea typeface="+mj-ea"/>
                        </a:rPr>
                        <a:t>占用音频焦点，系统不回收</a:t>
                      </a:r>
                      <a:r>
                        <a:rPr lang="en-US" altLang="zh-CN" sz="1600" dirty="0">
                          <a:latin typeface="+mj-ea"/>
                          <a:ea typeface="+mj-ea"/>
                        </a:rPr>
                        <a:t>APP</a:t>
                      </a:r>
                      <a:endParaRPr lang="en-US" altLang="zh-CN" sz="1600" dirty="0">
                        <a:latin typeface="+mj-ea"/>
                        <a:ea typeface="+mj-ea"/>
                      </a:endParaRPr>
                    </a:p>
                  </a:txBody>
                  <a:tcPr anchor="ctr"/>
                </a:tc>
              </a:tr>
              <a:tr h="360605">
                <a:tc>
                  <a:txBody>
                    <a:bodyPr/>
                    <a:lstStyle/>
                    <a:p>
                      <a:pPr algn="ctr"/>
                      <a:r>
                        <a:rPr lang="zh-CN" altLang="en-US" sz="1600">
                          <a:latin typeface="+mj-ea"/>
                          <a:ea typeface="+mj-ea"/>
                        </a:rPr>
                        <a:t>拉起单像素</a:t>
                      </a:r>
                      <a:r>
                        <a:rPr lang="en-US" sz="1600">
                          <a:latin typeface="+mj-ea"/>
                          <a:ea typeface="+mj-ea"/>
                        </a:rPr>
                        <a:t>Activity</a:t>
                      </a:r>
                      <a:r>
                        <a:rPr lang="zh-CN" altLang="en-US" sz="1600">
                          <a:latin typeface="+mj-ea"/>
                          <a:ea typeface="+mj-ea"/>
                        </a:rPr>
                        <a:t>保活</a:t>
                      </a:r>
                      <a:endParaRPr lang="zh-CN" altLang="en-US" sz="1600">
                        <a:latin typeface="+mj-ea"/>
                        <a:ea typeface="+mj-ea"/>
                      </a:endParaRPr>
                    </a:p>
                  </a:txBody>
                  <a:tcPr anchor="ctr"/>
                </a:tc>
                <a:tc>
                  <a:txBody>
                    <a:bodyPr/>
                    <a:lstStyle/>
                    <a:p>
                      <a:pPr algn="ctr"/>
                      <a:r>
                        <a:rPr lang="zh-CN" altLang="en-US" sz="1600" b="1" dirty="0">
                          <a:latin typeface="+mj-ea"/>
                          <a:ea typeface="+mj-ea"/>
                        </a:rPr>
                        <a:t>拉起一个仅有</a:t>
                      </a:r>
                      <a:r>
                        <a:rPr lang="en-US" altLang="zh-CN" sz="1600" b="1" dirty="0">
                          <a:latin typeface="+mj-ea"/>
                          <a:ea typeface="+mj-ea"/>
                        </a:rPr>
                        <a:t>1</a:t>
                      </a:r>
                      <a:r>
                        <a:rPr lang="zh-CN" altLang="en-US" sz="1600" b="1" dirty="0">
                          <a:latin typeface="+mj-ea"/>
                          <a:ea typeface="+mj-ea"/>
                        </a:rPr>
                        <a:t>像素的</a:t>
                      </a:r>
                      <a:r>
                        <a:rPr lang="en-US" altLang="zh-CN" sz="1600" b="1" dirty="0">
                          <a:latin typeface="+mj-ea"/>
                          <a:ea typeface="+mj-ea"/>
                        </a:rPr>
                        <a:t>Activity</a:t>
                      </a:r>
                      <a:r>
                        <a:rPr lang="zh-CN" altLang="en-US" sz="1600" b="1" dirty="0">
                          <a:latin typeface="+mj-ea"/>
                          <a:ea typeface="+mj-ea"/>
                        </a:rPr>
                        <a:t>窗口</a:t>
                      </a:r>
                      <a:r>
                        <a:rPr lang="zh-CN" altLang="en-US" sz="1600" dirty="0">
                          <a:latin typeface="+mj-ea"/>
                          <a:ea typeface="+mj-ea"/>
                        </a:rPr>
                        <a:t>，维持前台状态</a:t>
                      </a:r>
                      <a:endParaRPr lang="zh-CN" altLang="en-US" sz="1600" dirty="0">
                        <a:latin typeface="+mj-ea"/>
                        <a:ea typeface="+mj-ea"/>
                      </a:endParaRPr>
                    </a:p>
                  </a:txBody>
                  <a:tcPr anchor="ctr"/>
                </a:tc>
                <a:tc>
                  <a:txBody>
                    <a:bodyPr/>
                    <a:lstStyle/>
                    <a:p>
                      <a:pPr algn="ctr"/>
                      <a:r>
                        <a:rPr lang="zh-CN" altLang="en-US" sz="1600" dirty="0">
                          <a:latin typeface="+mj-ea"/>
                          <a:ea typeface="+mj-ea"/>
                        </a:rPr>
                        <a:t>占用前台资源，用户难以察觉</a:t>
                      </a:r>
                      <a:endParaRPr lang="zh-CN" altLang="en-US" sz="1600" dirty="0">
                        <a:latin typeface="+mj-ea"/>
                        <a:ea typeface="+mj-ea"/>
                      </a:endParaRPr>
                    </a:p>
                  </a:txBody>
                  <a:tcPr anchor="ctr"/>
                </a:tc>
              </a:tr>
              <a:tr h="360605">
                <a:tc>
                  <a:txBody>
                    <a:bodyPr/>
                    <a:lstStyle/>
                    <a:p>
                      <a:pPr algn="ctr"/>
                      <a:r>
                        <a:rPr lang="zh-CN" altLang="en-US" sz="1600" dirty="0">
                          <a:latin typeface="+mj-ea"/>
                          <a:ea typeface="+mj-ea"/>
                        </a:rPr>
                        <a:t>灰色前台</a:t>
                      </a:r>
                      <a:r>
                        <a:rPr lang="en-US" sz="1600" dirty="0">
                          <a:latin typeface="+mj-ea"/>
                          <a:ea typeface="+mj-ea"/>
                        </a:rPr>
                        <a:t>Service</a:t>
                      </a:r>
                      <a:r>
                        <a:rPr lang="zh-CN" altLang="en-US" sz="1600" dirty="0">
                          <a:latin typeface="+mj-ea"/>
                          <a:ea typeface="+mj-ea"/>
                        </a:rPr>
                        <a:t>保活</a:t>
                      </a:r>
                      <a:endParaRPr lang="zh-CN" altLang="en-US" sz="1600" dirty="0">
                        <a:latin typeface="+mj-ea"/>
                        <a:ea typeface="+mj-ea"/>
                      </a:endParaRPr>
                    </a:p>
                  </a:txBody>
                  <a:tcPr anchor="ctr"/>
                </a:tc>
                <a:tc>
                  <a:txBody>
                    <a:bodyPr/>
                    <a:lstStyle/>
                    <a:p>
                      <a:pPr algn="ctr"/>
                      <a:r>
                        <a:rPr lang="zh-CN" altLang="en-US" sz="1600" b="1" dirty="0">
                          <a:latin typeface="+mj-ea"/>
                          <a:ea typeface="+mj-ea"/>
                        </a:rPr>
                        <a:t>利用系统漏洞，两个</a:t>
                      </a:r>
                      <a:r>
                        <a:rPr lang="en-US" sz="1600" b="1" dirty="0">
                          <a:latin typeface="+mj-ea"/>
                          <a:ea typeface="+mj-ea"/>
                        </a:rPr>
                        <a:t>Service</a:t>
                      </a:r>
                      <a:r>
                        <a:rPr lang="zh-CN" altLang="en-US" sz="1600" b="1" dirty="0">
                          <a:latin typeface="+mj-ea"/>
                          <a:ea typeface="+mj-ea"/>
                        </a:rPr>
                        <a:t>互相拉起</a:t>
                      </a:r>
                      <a:r>
                        <a:rPr lang="zh-CN" altLang="en-US" sz="1600" dirty="0">
                          <a:latin typeface="+mj-ea"/>
                          <a:ea typeface="+mj-ea"/>
                        </a:rPr>
                        <a:t>，静默活跃</a:t>
                      </a:r>
                      <a:endParaRPr lang="zh-CN" altLang="en-US" sz="1600" dirty="0">
                        <a:latin typeface="+mj-ea"/>
                        <a:ea typeface="+mj-ea"/>
                      </a:endParaRPr>
                    </a:p>
                  </a:txBody>
                  <a:tcPr anchor="ctr"/>
                </a:tc>
                <a:tc>
                  <a:txBody>
                    <a:bodyPr/>
                    <a:lstStyle/>
                    <a:p>
                      <a:pPr algn="ctr"/>
                      <a:r>
                        <a:rPr lang="zh-CN" altLang="en-US" sz="1600" dirty="0">
                          <a:latin typeface="+mj-ea"/>
                          <a:ea typeface="+mj-ea"/>
                        </a:rPr>
                        <a:t>利用系统漏洞、规避前台通知</a:t>
                      </a:r>
                      <a:endParaRPr lang="zh-CN" altLang="en-US" sz="1600" dirty="0">
                        <a:latin typeface="+mj-ea"/>
                        <a:ea typeface="+mj-ea"/>
                      </a:endParaRPr>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7" name="文本框 16"/>
          <p:cNvSpPr txBox="1"/>
          <p:nvPr/>
        </p:nvSpPr>
        <p:spPr>
          <a:xfrm>
            <a:off x="263352" y="1601250"/>
            <a:ext cx="11737304" cy="2862322"/>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良性与恶意保活的区分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良性保活：使用保活手段的业务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任务</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是用户所需要的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（例如后台定位服务，后台下载服务）</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恶意保活：使用保活手段的业务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任务</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是用户不需要的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（例如弹广告，利用用户手机算力挖矿）</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使用保活功能的业务代码本身难以看出良恶属性，故结合</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保活核心代码调用链和</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功能</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等相关信息，借助大语言模型进行对比判断</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lgn="just">
              <a:buFont typeface="+mj-lt"/>
              <a:buAutoNum type="arabicPeriod"/>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借助大语言模型</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对保活行为的意图进行解析</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lgn="just">
              <a:buAutoNum type="arabicPeriod"/>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将其与</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相关信息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主要功能描述等）</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进行对比</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以此判断</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使用保活的业务与</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主要功能是否匹配</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rcRect t="3531" b="3531"/>
          <a:stretch>
            <a:fillRect/>
          </a:stretch>
        </p:blipFill>
        <p:spPr>
          <a:xfrm>
            <a:off x="2135560" y="4385976"/>
            <a:ext cx="7536160" cy="2449838"/>
          </a:xfrm>
          <a:prstGeom prst="rect">
            <a:avLst/>
          </a:prstGeom>
        </p:spPr>
      </p:pic>
      <p:sp>
        <p:nvSpPr>
          <p:cNvPr id="14" name="文本框 13"/>
          <p:cNvSpPr txBox="1"/>
          <p:nvPr/>
        </p:nvSpPr>
        <p:spPr>
          <a:xfrm>
            <a:off x="541327" y="1139585"/>
            <a:ext cx="1095527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研究内容</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2</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分析与理解</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借助大语言模型理解判断保活行为意图</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5" name="不完整圆 14"/>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1153133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研究方法：基于层级函数调用图的保活识别与意图分析框架</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KALAD</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447929" y="2271287"/>
            <a:ext cx="6744072" cy="4586713"/>
          </a:xfrm>
          <a:prstGeom prst="rect">
            <a:avLst/>
          </a:prstGeom>
        </p:spPr>
      </p:pic>
      <p:sp>
        <p:nvSpPr>
          <p:cNvPr id="16" name="文本框 15"/>
          <p:cNvSpPr txBox="1"/>
          <p:nvPr/>
        </p:nvSpPr>
        <p:spPr>
          <a:xfrm>
            <a:off x="263352" y="1601250"/>
            <a:ext cx="11737304" cy="707886"/>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为完成前述研究内容，构建</a:t>
            </a:r>
            <a:r>
              <a:rPr lang="zh-CN" altLang="en-US" sz="2000" b="1" i="1" dirty="0">
                <a:latin typeface="微软雅黑" panose="020B0503020204020204" pitchFamily="34" charset="-122"/>
                <a:ea typeface="微软雅黑" panose="020B0503020204020204" pitchFamily="34" charset="-122"/>
                <a:cs typeface="微软雅黑" panose="020B0503020204020204" pitchFamily="34" charset="-122"/>
              </a:rPr>
              <a:t>基于层级函数调用图的保活识别与意图分析框架</a:t>
            </a:r>
            <a:r>
              <a:rPr lang="en-US" altLang="zh-CN" sz="2000" b="1" i="1" dirty="0">
                <a:latin typeface="微软雅黑" panose="020B0503020204020204" pitchFamily="34" charset="-122"/>
                <a:ea typeface="微软雅黑" panose="020B0503020204020204" pitchFamily="34" charset="-122"/>
                <a:cs typeface="微软雅黑" panose="020B0503020204020204" pitchFamily="34" charset="-122"/>
              </a:rPr>
              <a:t>——KALAD</a:t>
            </a:r>
            <a:r>
              <a:rPr lang="zh-CN" altLang="en-US" sz="2000" b="1" i="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i="1" dirty="0">
                <a:latin typeface="微软雅黑" panose="020B0503020204020204" pitchFamily="34" charset="-122"/>
                <a:ea typeface="微软雅黑" panose="020B0503020204020204" pitchFamily="34" charset="-122"/>
                <a:cs typeface="微软雅黑" panose="020B0503020204020204" pitchFamily="34" charset="-122"/>
              </a:rPr>
              <a:t>Keep-</a:t>
            </a:r>
            <a:r>
              <a:rPr lang="en-US" altLang="zh-CN" sz="2000" b="1" i="1" dirty="0" err="1">
                <a:latin typeface="微软雅黑" panose="020B0503020204020204" pitchFamily="34" charset="-122"/>
                <a:ea typeface="微软雅黑" panose="020B0503020204020204" pitchFamily="34" charset="-122"/>
                <a:cs typeface="微软雅黑" panose="020B0503020204020204" pitchFamily="34" charset="-122"/>
              </a:rPr>
              <a:t>ALive</a:t>
            </a:r>
            <a:r>
              <a:rPr lang="en-US" altLang="zh-CN" sz="2000" b="1" i="1" dirty="0">
                <a:latin typeface="微软雅黑" panose="020B0503020204020204" pitchFamily="34" charset="-122"/>
                <a:ea typeface="微软雅黑" panose="020B0503020204020204" pitchFamily="34" charset="-122"/>
                <a:cs typeface="微软雅黑" panose="020B0503020204020204" pitchFamily="34" charset="-122"/>
              </a:rPr>
              <a:t> Application Detector</a:t>
            </a:r>
            <a:r>
              <a:rPr lang="zh-CN" altLang="en-US" sz="2000" b="1"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包含以下四个模块：</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a:off x="263352" y="2667684"/>
            <a:ext cx="5184577" cy="3785652"/>
          </a:xfrm>
          <a:prstGeom prst="rect">
            <a:avLst/>
          </a:prstGeom>
          <a:noFill/>
        </p:spPr>
        <p:txBody>
          <a:bodyPr wrap="square">
            <a:spAutoFit/>
          </a:bodyPr>
          <a:lstStyle/>
          <a:p>
            <a:pPr marL="342265" indent="-342265">
              <a:buAutoNum type="arabicPeriod"/>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预处理</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，预先解析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文件，获取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多种相关信息，为后续分析检测做准备；</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buAutoNum type="arabicPeriod"/>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buAutoNum type="arabicPeriod"/>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保活行为检测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，三种独立的检测规则，识别特定保活行为，</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记录保活关键函数与类</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buAutoNum type="arabicPeriod"/>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buAutoNum type="arabicPeriod"/>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函数调用图抽取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，使用设计的抽取算法，从函数调用总图中抽取保活行为相关代码及其上下文（调用链或调用子图）</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buAutoNum type="arabicPeriod"/>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265" indent="-342265">
              <a:buAutoNum type="arabicPeriod"/>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理解意图，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借助大语言模型，多轮提问，逐步理解代码，分析意图并判断良恶</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1. </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预处理</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2346283"/>
          </a:xfrm>
          <a:prstGeom prst="rect">
            <a:avLst/>
          </a:prstGeom>
          <a:noFill/>
        </p:spPr>
        <p:txBody>
          <a:bodyPr wrap="square">
            <a:sp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为后续静态分析、代码抽取与意图理解等步骤做准备，预处理部分将进行如下操作：</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生成函数调用图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Androguard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生成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包含的所有函数的调用图</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便于后续代码</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&amp;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上下文抽取</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解包</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APKTool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进行解包</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便于文件查找、静态分析</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获取</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APK DEX</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文件、</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相关信息（如</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Manifest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等）</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Androguard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封装的函数</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AnalysisAPK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获取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DEX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文件（</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Dalvik Executable File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信息等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便于静态分析、意图理解等</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5951984" y="4130487"/>
            <a:ext cx="6240016" cy="2709685"/>
          </a:xfrm>
          <a:prstGeom prst="rect">
            <a:avLst/>
          </a:prstGeom>
        </p:spPr>
      </p:pic>
      <p:graphicFrame>
        <p:nvGraphicFramePr>
          <p:cNvPr id="8" name="表格 7"/>
          <p:cNvGraphicFramePr>
            <a:graphicFrameLocks noGrp="1"/>
          </p:cNvGraphicFramePr>
          <p:nvPr/>
        </p:nvGraphicFramePr>
        <p:xfrm>
          <a:off x="0" y="4112753"/>
          <a:ext cx="5951984" cy="2745151"/>
        </p:xfrm>
        <a:graphic>
          <a:graphicData uri="http://schemas.openxmlformats.org/drawingml/2006/table">
            <a:tbl>
              <a:tblPr firstRow="1">
                <a:tableStyleId>{073A0DAA-6AF3-43AB-8588-CEC1D06C72B9}</a:tableStyleId>
              </a:tblPr>
              <a:tblGrid>
                <a:gridCol w="1559496"/>
                <a:gridCol w="4392488"/>
              </a:tblGrid>
              <a:tr h="314900">
                <a:tc>
                  <a:txBody>
                    <a:bodyPr/>
                    <a:lstStyle/>
                    <a:p>
                      <a:pPr marL="0" marR="0" algn="ctr">
                        <a:lnSpc>
                          <a:spcPts val="1500"/>
                        </a:lnSpc>
                        <a:buNone/>
                      </a:pPr>
                      <a:r>
                        <a:rPr lang="zh-CN" altLang="en-US" sz="1600" kern="100">
                          <a:effectLst/>
                          <a:latin typeface="+mj-ea"/>
                          <a:ea typeface="+mj-ea"/>
                        </a:rPr>
                        <a:t>文件</a:t>
                      </a:r>
                      <a:r>
                        <a:rPr lang="en-US" altLang="zh-CN" sz="1600" kern="100">
                          <a:effectLst/>
                          <a:latin typeface="+mj-ea"/>
                          <a:ea typeface="+mj-ea"/>
                        </a:rPr>
                        <a:t>/</a:t>
                      </a:r>
                      <a:r>
                        <a:rPr lang="zh-CN" altLang="en-US" sz="1600" kern="100">
                          <a:effectLst/>
                          <a:latin typeface="+mj-ea"/>
                          <a:ea typeface="+mj-ea"/>
                        </a:rPr>
                        <a:t>文件夹</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描述</a:t>
                      </a:r>
                      <a:endParaRPr lang="zh-CN" altLang="en-US" sz="1600" kern="100" dirty="0">
                        <a:effectLst/>
                        <a:latin typeface="+mj-ea"/>
                        <a:ea typeface="+mj-ea"/>
                      </a:endParaRPr>
                    </a:p>
                  </a:txBody>
                  <a:tcPr marL="68580" marR="68580" anchor="ctr"/>
                </a:tc>
              </a:tr>
              <a:tr h="540851">
                <a:tc>
                  <a:txBody>
                    <a:bodyPr/>
                    <a:lstStyle/>
                    <a:p>
                      <a:pPr marL="0" marR="0" algn="ctr">
                        <a:lnSpc>
                          <a:spcPts val="1500"/>
                        </a:lnSpc>
                        <a:buNone/>
                      </a:pPr>
                      <a:r>
                        <a:rPr lang="en-US" sz="1600" b="1" kern="100" dirty="0">
                          <a:effectLst/>
                          <a:latin typeface="+mj-ea"/>
                          <a:ea typeface="+mj-ea"/>
                        </a:rPr>
                        <a:t>Android-Manifest.xml</a:t>
                      </a:r>
                      <a:endParaRPr lang="en-US" sz="1600" b="1" kern="100" dirty="0">
                        <a:effectLst/>
                        <a:latin typeface="+mj-ea"/>
                        <a:ea typeface="+mj-ea"/>
                      </a:endParaRPr>
                    </a:p>
                  </a:txBody>
                  <a:tcPr marL="68580" marR="68580" anchor="ctr"/>
                </a:tc>
                <a:tc>
                  <a:txBody>
                    <a:bodyPr/>
                    <a:lstStyle/>
                    <a:p>
                      <a:pPr marL="0" marR="0" algn="ctr">
                        <a:lnSpc>
                          <a:spcPts val="1500"/>
                        </a:lnSpc>
                        <a:buNone/>
                      </a:pPr>
                      <a:r>
                        <a:rPr lang="zh-CN" altLang="en-US" sz="1600" b="1" kern="100" dirty="0">
                          <a:effectLst/>
                          <a:latin typeface="+mj-ea"/>
                          <a:ea typeface="+mj-ea"/>
                        </a:rPr>
                        <a:t>清单文件，记录应用必要信息</a:t>
                      </a:r>
                      <a:r>
                        <a:rPr lang="en-US" altLang="zh-CN" sz="1600" b="1" kern="100" dirty="0">
                          <a:effectLst/>
                          <a:latin typeface="+mj-ea"/>
                          <a:ea typeface="+mj-ea"/>
                        </a:rPr>
                        <a:t>,</a:t>
                      </a:r>
                      <a:r>
                        <a:rPr lang="zh-CN" altLang="en-US" sz="1600" b="1" kern="100" dirty="0">
                          <a:effectLst/>
                          <a:latin typeface="+mj-ea"/>
                          <a:ea typeface="+mj-ea"/>
                        </a:rPr>
                        <a:t>如应用包名等</a:t>
                      </a:r>
                      <a:endParaRPr lang="zh-CN" altLang="en-US" sz="1600" b="1" kern="100" dirty="0">
                        <a:effectLst/>
                        <a:latin typeface="+mj-ea"/>
                        <a:ea typeface="+mj-ea"/>
                      </a:endParaRPr>
                    </a:p>
                  </a:txBody>
                  <a:tcPr marL="68580" marR="68580" anchor="ctr"/>
                </a:tc>
              </a:tr>
              <a:tr h="314900">
                <a:tc>
                  <a:txBody>
                    <a:bodyPr/>
                    <a:lstStyle/>
                    <a:p>
                      <a:pPr marL="0" marR="0" algn="ctr">
                        <a:lnSpc>
                          <a:spcPts val="1500"/>
                        </a:lnSpc>
                        <a:buNone/>
                      </a:pPr>
                      <a:r>
                        <a:rPr lang="en-US" sz="1600" b="1" kern="100" dirty="0" err="1">
                          <a:effectLst/>
                          <a:latin typeface="+mj-ea"/>
                          <a:ea typeface="+mj-ea"/>
                        </a:rPr>
                        <a:t>smali</a:t>
                      </a:r>
                      <a:r>
                        <a:rPr lang="en-US" sz="1600" b="1" kern="100" dirty="0">
                          <a:effectLst/>
                          <a:latin typeface="+mj-ea"/>
                          <a:ea typeface="+mj-ea"/>
                        </a:rPr>
                        <a:t>/</a:t>
                      </a:r>
                      <a:endParaRPr lang="en-US" sz="1600" b="1" kern="100" dirty="0">
                        <a:effectLst/>
                        <a:latin typeface="+mj-ea"/>
                        <a:ea typeface="+mj-ea"/>
                      </a:endParaRPr>
                    </a:p>
                  </a:txBody>
                  <a:tcPr marL="68580" marR="68580" anchor="ctr"/>
                </a:tc>
                <a:tc>
                  <a:txBody>
                    <a:bodyPr/>
                    <a:lstStyle/>
                    <a:p>
                      <a:pPr marL="0" marR="0" algn="ctr">
                        <a:lnSpc>
                          <a:spcPts val="1500"/>
                        </a:lnSpc>
                        <a:buNone/>
                      </a:pPr>
                      <a:r>
                        <a:rPr lang="zh-CN" altLang="en-US" sz="1600" b="1" kern="100" dirty="0">
                          <a:effectLst/>
                          <a:latin typeface="+mj-ea"/>
                          <a:ea typeface="+mj-ea"/>
                        </a:rPr>
                        <a:t>存放字节码，可存在多个，用</a:t>
                      </a:r>
                      <a:r>
                        <a:rPr lang="en-US" altLang="zh-CN" sz="1600" b="1" kern="100" dirty="0" err="1">
                          <a:effectLst/>
                          <a:latin typeface="+mj-ea"/>
                          <a:ea typeface="+mj-ea"/>
                        </a:rPr>
                        <a:t>smali</a:t>
                      </a:r>
                      <a:r>
                        <a:rPr lang="zh-CN" altLang="en-US" sz="1600" b="1" kern="100" dirty="0">
                          <a:effectLst/>
                          <a:latin typeface="+mj-ea"/>
                          <a:ea typeface="+mj-ea"/>
                        </a:rPr>
                        <a:t>格式表示</a:t>
                      </a:r>
                      <a:endParaRPr lang="zh-CN" altLang="en-US" sz="1600" b="1" kern="100" dirty="0">
                        <a:effectLst/>
                        <a:latin typeface="+mj-ea"/>
                        <a:ea typeface="+mj-ea"/>
                      </a:endParaRPr>
                    </a:p>
                  </a:txBody>
                  <a:tcPr marL="68580" marR="68580" anchor="ctr"/>
                </a:tc>
              </a:tr>
              <a:tr h="314900">
                <a:tc>
                  <a:txBody>
                    <a:bodyPr/>
                    <a:lstStyle/>
                    <a:p>
                      <a:pPr marL="0" marR="0" algn="ctr">
                        <a:lnSpc>
                          <a:spcPts val="1500"/>
                        </a:lnSpc>
                        <a:buNone/>
                      </a:pPr>
                      <a:r>
                        <a:rPr lang="en-US" sz="1600" i="1" kern="100" dirty="0">
                          <a:effectLst/>
                          <a:latin typeface="+mj-ea"/>
                          <a:ea typeface="+mj-ea"/>
                        </a:rPr>
                        <a:t>res/</a:t>
                      </a:r>
                      <a:endParaRPr lang="en-US" sz="1600" i="1" kern="100" dirty="0">
                        <a:effectLst/>
                        <a:latin typeface="+mj-ea"/>
                        <a:ea typeface="+mj-ea"/>
                      </a:endParaRPr>
                    </a:p>
                  </a:txBody>
                  <a:tcPr marL="68580" marR="68580" anchor="ctr"/>
                </a:tc>
                <a:tc>
                  <a:txBody>
                    <a:bodyPr/>
                    <a:lstStyle/>
                    <a:p>
                      <a:pPr marL="0" marR="0" algn="ctr">
                        <a:lnSpc>
                          <a:spcPts val="1500"/>
                        </a:lnSpc>
                        <a:buNone/>
                      </a:pPr>
                      <a:r>
                        <a:rPr lang="en-US" altLang="zh-CN" sz="1600" i="1" kern="100" dirty="0">
                          <a:effectLst/>
                          <a:latin typeface="+mj-ea"/>
                          <a:ea typeface="+mj-ea"/>
                        </a:rPr>
                        <a:t>APP</a:t>
                      </a:r>
                      <a:r>
                        <a:rPr lang="zh-CN" altLang="en-US" sz="1600" i="1" kern="100" dirty="0">
                          <a:effectLst/>
                          <a:latin typeface="+mj-ea"/>
                          <a:ea typeface="+mj-ea"/>
                        </a:rPr>
                        <a:t>资源文件夹，包含图标、界面布局等信息</a:t>
                      </a:r>
                      <a:endParaRPr lang="zh-CN" altLang="en-US" sz="1600" i="1" kern="100" dirty="0">
                        <a:effectLst/>
                        <a:latin typeface="+mj-ea"/>
                        <a:ea typeface="+mj-ea"/>
                      </a:endParaRPr>
                    </a:p>
                  </a:txBody>
                  <a:tcPr marL="68580" marR="68580" anchor="ctr"/>
                </a:tc>
              </a:tr>
              <a:tr h="314900">
                <a:tc>
                  <a:txBody>
                    <a:bodyPr/>
                    <a:lstStyle/>
                    <a:p>
                      <a:pPr marL="0" marR="0" algn="ctr">
                        <a:lnSpc>
                          <a:spcPts val="1500"/>
                        </a:lnSpc>
                        <a:buNone/>
                      </a:pPr>
                      <a:r>
                        <a:rPr lang="en-US" sz="1600" kern="100">
                          <a:effectLst/>
                          <a:latin typeface="+mj-ea"/>
                          <a:ea typeface="+mj-ea"/>
                        </a:rPr>
                        <a:t>assets/</a:t>
                      </a:r>
                      <a:endParaRPr 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存放未经过编译的原始文件</a:t>
                      </a:r>
                      <a:endParaRPr lang="zh-CN" altLang="en-US" sz="1600" kern="100" dirty="0">
                        <a:effectLst/>
                        <a:latin typeface="+mj-ea"/>
                        <a:ea typeface="+mj-ea"/>
                      </a:endParaRPr>
                    </a:p>
                  </a:txBody>
                  <a:tcPr marL="68580" marR="68580" anchor="ctr"/>
                </a:tc>
              </a:tr>
              <a:tr h="314900">
                <a:tc>
                  <a:txBody>
                    <a:bodyPr/>
                    <a:lstStyle/>
                    <a:p>
                      <a:pPr marL="0" marR="0" algn="ctr">
                        <a:lnSpc>
                          <a:spcPts val="1500"/>
                        </a:lnSpc>
                        <a:buNone/>
                      </a:pPr>
                      <a:r>
                        <a:rPr lang="en-US" sz="1600" kern="100">
                          <a:effectLst/>
                          <a:latin typeface="+mj-ea"/>
                          <a:ea typeface="+mj-ea"/>
                        </a:rPr>
                        <a:t>META-INF/</a:t>
                      </a:r>
                      <a:endParaRPr 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存放</a:t>
                      </a:r>
                      <a:r>
                        <a:rPr lang="en-US" altLang="zh-CN" sz="1600" kern="100" dirty="0">
                          <a:effectLst/>
                          <a:latin typeface="+mj-ea"/>
                          <a:ea typeface="+mj-ea"/>
                        </a:rPr>
                        <a:t>APK</a:t>
                      </a:r>
                      <a:r>
                        <a:rPr lang="zh-CN" altLang="en-US" sz="1600" kern="100" dirty="0">
                          <a:effectLst/>
                          <a:latin typeface="+mj-ea"/>
                          <a:ea typeface="+mj-ea"/>
                        </a:rPr>
                        <a:t>的数字签名和证书等相关的文件</a:t>
                      </a:r>
                      <a:endParaRPr lang="zh-CN" altLang="en-US" sz="1600" kern="100" dirty="0">
                        <a:effectLst/>
                        <a:latin typeface="+mj-ea"/>
                        <a:ea typeface="+mj-ea"/>
                      </a:endParaRPr>
                    </a:p>
                  </a:txBody>
                  <a:tcPr marL="68580" marR="68580" anchor="ctr"/>
                </a:tc>
              </a:tr>
              <a:tr h="314900">
                <a:tc>
                  <a:txBody>
                    <a:bodyPr/>
                    <a:lstStyle/>
                    <a:p>
                      <a:pPr marL="0" marR="0" algn="ctr">
                        <a:lnSpc>
                          <a:spcPts val="1500"/>
                        </a:lnSpc>
                        <a:buNone/>
                      </a:pPr>
                      <a:r>
                        <a:rPr lang="en-US" sz="1600" kern="100">
                          <a:effectLst/>
                          <a:latin typeface="+mj-ea"/>
                          <a:ea typeface="+mj-ea"/>
                        </a:rPr>
                        <a:t>lib/</a:t>
                      </a:r>
                      <a:endParaRPr 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存放</a:t>
                      </a:r>
                      <a:r>
                        <a:rPr lang="en-US" sz="1600" kern="100" dirty="0">
                          <a:effectLst/>
                          <a:latin typeface="+mj-ea"/>
                          <a:ea typeface="+mj-ea"/>
                        </a:rPr>
                        <a:t>native</a:t>
                      </a:r>
                      <a:r>
                        <a:rPr lang="zh-CN" altLang="en-US" sz="1600" kern="100" dirty="0">
                          <a:effectLst/>
                          <a:latin typeface="+mj-ea"/>
                          <a:ea typeface="+mj-ea"/>
                        </a:rPr>
                        <a:t>库文件</a:t>
                      </a:r>
                      <a:endParaRPr lang="zh-CN" altLang="en-US" sz="1600" kern="100" dirty="0">
                        <a:effectLst/>
                        <a:latin typeface="+mj-ea"/>
                        <a:ea typeface="+mj-ea"/>
                      </a:endParaRPr>
                    </a:p>
                  </a:txBody>
                  <a:tcPr marL="68580" marR="68580" anchor="ctr"/>
                </a:tc>
              </a:tr>
              <a:tr h="314900">
                <a:tc>
                  <a:txBody>
                    <a:bodyPr/>
                    <a:lstStyle/>
                    <a:p>
                      <a:pPr marL="0" marR="0" algn="ctr">
                        <a:lnSpc>
                          <a:spcPts val="1500"/>
                        </a:lnSpc>
                        <a:buNone/>
                      </a:pPr>
                      <a:r>
                        <a:rPr lang="en-US" sz="1600" kern="100" dirty="0" err="1">
                          <a:effectLst/>
                          <a:latin typeface="+mj-ea"/>
                          <a:ea typeface="+mj-ea"/>
                        </a:rPr>
                        <a:t>resources.arsc</a:t>
                      </a:r>
                      <a:endParaRPr lang="en-US" sz="1600" kern="100" dirty="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资源映射文件，含</a:t>
                      </a:r>
                      <a:r>
                        <a:rPr lang="en-US" altLang="zh-CN" sz="1600" kern="100" dirty="0">
                          <a:effectLst/>
                          <a:latin typeface="+mj-ea"/>
                          <a:ea typeface="+mj-ea"/>
                        </a:rPr>
                        <a:t>res/</a:t>
                      </a:r>
                      <a:r>
                        <a:rPr lang="zh-CN" altLang="en-US" sz="1600" kern="100" dirty="0">
                          <a:effectLst/>
                          <a:latin typeface="+mj-ea"/>
                          <a:ea typeface="+mj-ea"/>
                        </a:rPr>
                        <a:t>中所有资源的索引和信息</a:t>
                      </a:r>
                      <a:endParaRPr lang="zh-CN" altLang="en-US" sz="1600" kern="100" dirty="0">
                        <a:effectLst/>
                        <a:latin typeface="+mj-ea"/>
                        <a:ea typeface="+mj-ea"/>
                      </a:endParaRPr>
                    </a:p>
                  </a:txBody>
                  <a:tcPr marL="68580" marR="6858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2</a:t>
            </a:r>
            <a:r>
              <a:rPr kumimoji="1" lang="en-US" altLang="zh-CN"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1 </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后台播放无声音频保活行为检测</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3170099"/>
          </a:xfrm>
          <a:prstGeom prst="rect">
            <a:avLst/>
          </a:prstGeom>
          <a:noFill/>
        </p:spPr>
        <p:txBody>
          <a:bodyPr wrap="square">
            <a:spAutoFit/>
          </a:bodyPr>
          <a:lstStyle/>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保活原理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为保障用户体验，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Android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系统会</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尽量避免打断正在播放音频的应用</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故在后台播放无声音频，会让</a:t>
            </a:r>
            <a:r>
              <a:rPr lang="zh-CN" altLang="en-US" sz="2000" b="1" i="1" dirty="0">
                <a:latin typeface="微软雅黑" panose="020B0503020204020204" pitchFamily="34" charset="-122"/>
                <a:ea typeface="微软雅黑" panose="020B0503020204020204" pitchFamily="34" charset="-122"/>
                <a:cs typeface="微软雅黑" panose="020B0503020204020204" pitchFamily="34" charset="-122"/>
              </a:rPr>
              <a:t>系统判断应用正在播放音频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cs typeface="微软雅黑" panose="020B0503020204020204" pitchFamily="34" charset="-122"/>
              </a:rPr>
              <a:t>但用户实际上不可感知</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无声音频保活通常还会</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与前台</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Service</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配合使用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，使之更难被清理。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检测步骤</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无声音频保活行为，</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核心是无声音频文件</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从解包文件夹中，</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寻找所有无声音频文件</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检查平均振幅是否在阈值之下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/res/values/</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public.xml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中寻找该无声音频文件的</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16</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进制全局</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ID</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Yara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在所有的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字节码文件夹</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cs typeface="微软雅黑" panose="020B0503020204020204" pitchFamily="34" charset="-122"/>
              </a:rPr>
              <a:t>smali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中匹配</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寻找该无声音频文件的调用</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img_v3_02lq_d846c9fe-7d52-4681-86ab-445b056e99fg"/>
          <p:cNvPicPr>
            <a:picLocks noChangeAspect="1"/>
          </p:cNvPicPr>
          <p:nvPr/>
        </p:nvPicPr>
        <p:blipFill>
          <a:blip r:embed="rId1"/>
          <a:stretch>
            <a:fillRect/>
          </a:stretch>
        </p:blipFill>
        <p:spPr>
          <a:xfrm>
            <a:off x="-1526" y="5013176"/>
            <a:ext cx="12193526" cy="18516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2</a:t>
            </a:r>
            <a:r>
              <a:rPr kumimoji="1" lang="en-US" altLang="zh-CN"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.2</a:t>
            </a:r>
            <a:r>
              <a:rPr kumimoji="1" lang="zh-CN" altLang="en-US"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 </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拉起单像素</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Activity</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3170099"/>
          </a:xfrm>
          <a:prstGeom prst="rect">
            <a:avLst/>
          </a:prstGeom>
          <a:noFill/>
        </p:spPr>
        <p:txBody>
          <a:bodyPr wrap="square">
            <a:spAutoFit/>
          </a:bodyPr>
          <a:lstStyle/>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保活原理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Android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系统一般会给前台应用和可见应用设置较高的优先级；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拉起一个只有一个像素的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Activity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，会让</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系统判断存在一个前台可见的应用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但用户实际看不到该</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Activity</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为进一步减小被用户警觉发现的可能，开发者还会将该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Activity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设置为透明，且无切换动画</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检测步骤</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Manifest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提取所有的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Activity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结合</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DEX</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文件，遍历每一个</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Activity</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检查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Activity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是否存在函数</a:t>
            </a:r>
            <a:r>
              <a:rPr lang="en-US" altLang="zh-CN" sz="2000" b="1" dirty="0" err="1">
                <a:latin typeface="JetBrains Mono" panose="02000009000000000000" pitchFamily="49" charset="0"/>
                <a:ea typeface="微软雅黑" panose="020B0503020204020204" pitchFamily="34" charset="-122"/>
                <a:cs typeface="JetBrains Mono" panose="02000009000000000000" pitchFamily="49" charset="0"/>
              </a:rPr>
              <a:t>android.view.Window</a:t>
            </a:r>
            <a:r>
              <a:rPr lang="en-US" altLang="zh-CN" sz="2000" b="1" dirty="0">
                <a:latin typeface="JetBrains Mono" panose="02000009000000000000" pitchFamily="49" charset="0"/>
                <a:ea typeface="微软雅黑" panose="020B0503020204020204" pitchFamily="34" charset="-122"/>
                <a:cs typeface="JetBrains Mono" panose="02000009000000000000" pitchFamily="49" charset="0"/>
              </a:rPr>
              <a:t>;-&gt;</a:t>
            </a:r>
            <a:r>
              <a:rPr lang="en-US" altLang="zh-CN" sz="2000" b="1" dirty="0" err="1">
                <a:latin typeface="JetBrains Mono" panose="02000009000000000000" pitchFamily="49" charset="0"/>
                <a:ea typeface="微软雅黑" panose="020B0503020204020204" pitchFamily="34" charset="-122"/>
                <a:cs typeface="JetBrains Mono" panose="02000009000000000000" pitchFamily="49" charset="0"/>
              </a:rPr>
              <a:t>setAttributes</a:t>
            </a:r>
            <a:r>
              <a:rPr lang="en-US" altLang="zh-CN" sz="2000" b="1"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的调用</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检查特定参数的赋值：</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窗口宽</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高赋值是否小于</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窗口位置</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x/y</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，作为辅助判断</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IMG_256"/>
          <p:cNvPicPr>
            <a:picLocks noChangeAspect="1"/>
          </p:cNvPicPr>
          <p:nvPr/>
        </p:nvPicPr>
        <p:blipFill>
          <a:blip r:embed="rId1"/>
          <a:stretch>
            <a:fillRect/>
          </a:stretch>
        </p:blipFill>
        <p:spPr>
          <a:xfrm>
            <a:off x="0" y="4869160"/>
            <a:ext cx="12198112" cy="198884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2</a:t>
            </a:r>
            <a:r>
              <a:rPr kumimoji="1" lang="en-US" altLang="zh-CN"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.3</a:t>
            </a:r>
            <a:r>
              <a:rPr kumimoji="1" lang="zh-CN" altLang="en-US"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 </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灰色前台</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Service</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2062103"/>
          </a:xfrm>
          <a:prstGeom prst="rect">
            <a:avLst/>
          </a:prstGeom>
          <a:noFill/>
        </p:spPr>
        <p:txBody>
          <a:bodyPr wrap="square">
            <a:spAutoFit/>
          </a:bodyPr>
          <a:lstStyle/>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保活原理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2" indent="-342900" algn="jus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前台</a:t>
            </a:r>
            <a:r>
              <a:rPr lang="en-US" altLang="zh-CN" dirty="0">
                <a:latin typeface="微软雅黑" panose="020B0503020204020204" pitchFamily="34" charset="-122"/>
                <a:ea typeface="微软雅黑" panose="020B0503020204020204" pitchFamily="34" charset="-122"/>
              </a:rPr>
              <a:t>Service</a:t>
            </a:r>
            <a:r>
              <a:rPr lang="zh-CN" altLang="en-US" dirty="0">
                <a:latin typeface="微软雅黑" panose="020B0503020204020204" pitchFamily="34" charset="-122"/>
                <a:ea typeface="微软雅黑" panose="020B0503020204020204" pitchFamily="34" charset="-122"/>
              </a:rPr>
              <a:t>是一种优先级较高的</a:t>
            </a:r>
            <a:r>
              <a:rPr lang="en-US" altLang="zh-CN" dirty="0">
                <a:latin typeface="微软雅黑" panose="020B0503020204020204" pitchFamily="34" charset="-122"/>
                <a:ea typeface="微软雅黑" panose="020B0503020204020204" pitchFamily="34" charset="-122"/>
              </a:rPr>
              <a:t>Service</a:t>
            </a:r>
            <a:r>
              <a:rPr lang="zh-CN" altLang="en-US" dirty="0">
                <a:latin typeface="微软雅黑" panose="020B0503020204020204" pitchFamily="34" charset="-122"/>
                <a:ea typeface="微软雅黑" panose="020B0503020204020204" pitchFamily="34" charset="-122"/>
              </a:rPr>
              <a:t>，适用于需要连续执行的任务，会</a:t>
            </a:r>
            <a:r>
              <a:rPr lang="zh-CN" altLang="en-US" b="1" dirty="0">
                <a:latin typeface="微软雅黑" panose="020B0503020204020204" pitchFamily="34" charset="-122"/>
                <a:ea typeface="微软雅黑" panose="020B0503020204020204" pitchFamily="34" charset="-122"/>
              </a:rPr>
              <a:t>在通知栏启动一个伴随通知</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Notification</a:t>
            </a:r>
            <a:r>
              <a:rPr lang="zh-CN" altLang="en-US" dirty="0">
                <a:latin typeface="微软雅黑" panose="020B0503020204020204" pitchFamily="34" charset="-122"/>
                <a:ea typeface="微软雅黑" panose="020B0503020204020204" pitchFamily="34" charset="-122"/>
              </a:rPr>
              <a:t>，如音乐播放、运动记录等），以明确告诉用户后台正在运行的任务</a:t>
            </a:r>
            <a:endParaRPr lang="en-US" altLang="zh-CN" dirty="0">
              <a:latin typeface="微软雅黑" panose="020B0503020204020204" pitchFamily="34" charset="-122"/>
              <a:ea typeface="微软雅黑" panose="020B0503020204020204" pitchFamily="34" charset="-122"/>
            </a:endParaRPr>
          </a:p>
          <a:p>
            <a:pPr marL="800100" lvl="2" indent="-342900" algn="jus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开发者</a:t>
            </a:r>
            <a:r>
              <a:rPr lang="zh-CN" altLang="en-US" b="1" dirty="0">
                <a:latin typeface="微软雅黑" panose="020B0503020204020204" pitchFamily="34" charset="-122"/>
                <a:ea typeface="微软雅黑" panose="020B0503020204020204" pitchFamily="34" charset="-122"/>
              </a:rPr>
              <a:t>希望隐藏该伴随通知</a:t>
            </a:r>
            <a:r>
              <a:rPr lang="zh-CN" altLang="en-US" dirty="0">
                <a:latin typeface="微软雅黑" panose="020B0503020204020204" pitchFamily="34" charset="-122"/>
                <a:ea typeface="微软雅黑" panose="020B0503020204020204" pitchFamily="34" charset="-122"/>
              </a:rPr>
              <a:t>，以实现隐蔽的保活，可以通过如下手段：</a:t>
            </a:r>
            <a:endParaRPr lang="en-US" altLang="zh-CN" dirty="0">
              <a:latin typeface="微软雅黑" panose="020B0503020204020204" pitchFamily="34" charset="-122"/>
              <a:ea typeface="微软雅黑" panose="020B0503020204020204" pitchFamily="34" charset="-122"/>
            </a:endParaRPr>
          </a:p>
          <a:p>
            <a:pPr marL="1257300" lvl="3" indent="-342900" algn="just">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API&lt;18(Android4.3</a:t>
            </a:r>
            <a:r>
              <a:rPr lang="zh-CN" altLang="en-US" dirty="0">
                <a:latin typeface="微软雅黑" panose="020B0503020204020204" pitchFamily="34" charset="-122"/>
                <a:ea typeface="微软雅黑" panose="020B0503020204020204" pitchFamily="34" charset="-122"/>
              </a:rPr>
              <a:t>以下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直接向函数</a:t>
            </a:r>
            <a:r>
              <a:rPr lang="en-US" altLang="zh-CN" b="1" dirty="0" err="1">
                <a:latin typeface="JetBrains Mono" panose="02000009000000000000" pitchFamily="49" charset="0"/>
                <a:ea typeface="微软雅黑" panose="020B0503020204020204" pitchFamily="34" charset="-122"/>
                <a:cs typeface="JetBrains Mono" panose="02000009000000000000" pitchFamily="49" charset="0"/>
              </a:rPr>
              <a:t>startForeground</a:t>
            </a:r>
            <a:r>
              <a:rPr lang="en-US" altLang="zh-CN" b="1"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b="1" dirty="0">
                <a:latin typeface="微软雅黑" panose="020B0503020204020204" pitchFamily="34" charset="-122"/>
                <a:ea typeface="微软雅黑" panose="020B0503020204020204" pitchFamily="34" charset="-122"/>
              </a:rPr>
              <a:t>传入空通知</a:t>
            </a:r>
            <a:r>
              <a:rPr lang="en-US" altLang="zh-CN" b="1" dirty="0">
                <a:latin typeface="微软雅黑" panose="020B0503020204020204" pitchFamily="34" charset="-122"/>
                <a:ea typeface="微软雅黑" panose="020B0503020204020204" pitchFamily="34" charset="-122"/>
              </a:rPr>
              <a:t>(Notification)</a:t>
            </a:r>
            <a:r>
              <a:rPr lang="zh-CN" altLang="en-US" b="1" dirty="0">
                <a:latin typeface="微软雅黑" panose="020B0503020204020204" pitchFamily="34" charset="-122"/>
                <a:ea typeface="微软雅黑" panose="020B0503020204020204" pitchFamily="34" charset="-122"/>
              </a:rPr>
              <a:t>对象</a:t>
            </a:r>
            <a:endParaRPr lang="en-US" altLang="zh-CN" b="1" dirty="0">
              <a:latin typeface="微软雅黑" panose="020B0503020204020204" pitchFamily="34" charset="-122"/>
              <a:ea typeface="微软雅黑" panose="020B0503020204020204" pitchFamily="34" charset="-122"/>
            </a:endParaRPr>
          </a:p>
          <a:p>
            <a:pPr marL="1257300" lvl="3" indent="-342900" algn="just">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API&gt;18(Android4.3+)</a:t>
            </a:r>
            <a:r>
              <a:rPr lang="zh-CN" altLang="en-US" dirty="0">
                <a:latin typeface="微软雅黑" panose="020B0503020204020204" pitchFamily="34" charset="-122"/>
                <a:ea typeface="微软雅黑" panose="020B0503020204020204" pitchFamily="34" charset="-122"/>
              </a:rPr>
              <a:t>，启动一主一辅两个</a:t>
            </a:r>
            <a:r>
              <a:rPr lang="en-US" altLang="zh-CN" dirty="0">
                <a:latin typeface="微软雅黑" panose="020B0503020204020204" pitchFamily="34" charset="-122"/>
                <a:ea typeface="微软雅黑" panose="020B0503020204020204" pitchFamily="34" charset="-122"/>
              </a:rPr>
              <a:t>Service</a:t>
            </a:r>
            <a:r>
              <a:rPr lang="zh-CN" altLang="en-US" dirty="0">
                <a:latin typeface="微软雅黑" panose="020B0503020204020204" pitchFamily="34" charset="-122"/>
                <a:ea typeface="微软雅黑" panose="020B0503020204020204" pitchFamily="34" charset="-122"/>
              </a:rPr>
              <a:t>，同时调用</a:t>
            </a:r>
            <a:r>
              <a:rPr lang="en-US" altLang="zh-CN" dirty="0" err="1">
                <a:latin typeface="JetBrains Mono" panose="02000009000000000000" pitchFamily="49" charset="0"/>
                <a:ea typeface="微软雅黑" panose="020B0503020204020204" pitchFamily="34" charset="-122"/>
                <a:cs typeface="JetBrains Mono" panose="02000009000000000000" pitchFamily="49" charset="0"/>
              </a:rPr>
              <a:t>startForeground</a:t>
            </a:r>
            <a:r>
              <a:rPr lang="en-US" altLang="zh-CN"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dirty="0">
                <a:latin typeface="JetBrains Mono" panose="02000009000000000000" pitchFamily="49" charset="0"/>
                <a:ea typeface="微软雅黑" panose="020B0503020204020204" pitchFamily="34" charset="-122"/>
                <a:cs typeface="JetBrains Mono" panose="02000009000000000000" pitchFamily="49" charset="0"/>
              </a:rPr>
              <a:t>且</a:t>
            </a:r>
            <a:r>
              <a:rPr lang="zh-CN" altLang="en-US" b="1" dirty="0">
                <a:latin typeface="JetBrains Mono" panose="02000009000000000000" pitchFamily="49" charset="0"/>
                <a:ea typeface="微软雅黑" panose="020B0503020204020204" pitchFamily="34" charset="-122"/>
                <a:cs typeface="JetBrains Mono" panose="02000009000000000000" pitchFamily="49" charset="0"/>
              </a:rPr>
              <a:t>传入</a:t>
            </a:r>
            <a:r>
              <a:rPr lang="zh-CN" altLang="en-US" b="1" dirty="0">
                <a:latin typeface="+mj-ea"/>
                <a:ea typeface="+mj-ea"/>
                <a:cs typeface="JetBrains Mono" panose="02000009000000000000" pitchFamily="49" charset="0"/>
              </a:rPr>
              <a:t>相同通知</a:t>
            </a:r>
            <a:r>
              <a:rPr lang="en-US" altLang="zh-CN" b="1" dirty="0">
                <a:latin typeface="+mj-ea"/>
                <a:ea typeface="+mj-ea"/>
                <a:cs typeface="JetBrains Mono" panose="02000009000000000000" pitchFamily="49" charset="0"/>
              </a:rPr>
              <a:t>ID</a:t>
            </a:r>
            <a:r>
              <a:rPr lang="zh-CN" altLang="en-US" b="1" dirty="0">
                <a:latin typeface="+mj-ea"/>
                <a:ea typeface="+mj-ea"/>
                <a:cs typeface="JetBrains Mono" panose="02000009000000000000" pitchFamily="49" charset="0"/>
              </a:rPr>
              <a:t>，并立即停止辅</a:t>
            </a:r>
            <a:r>
              <a:rPr lang="en-US" altLang="zh-CN" b="1" dirty="0">
                <a:latin typeface="+mj-ea"/>
                <a:ea typeface="+mj-ea"/>
                <a:cs typeface="JetBrains Mono" panose="02000009000000000000" pitchFamily="49" charset="0"/>
              </a:rPr>
              <a:t>Service</a:t>
            </a:r>
            <a:r>
              <a:rPr lang="zh-CN" altLang="en-US" dirty="0">
                <a:latin typeface="+mj-ea"/>
                <a:ea typeface="+mj-ea"/>
                <a:cs typeface="JetBrains Mono" panose="02000009000000000000" pitchFamily="49" charset="0"/>
              </a:rPr>
              <a:t>，此时主</a:t>
            </a:r>
            <a:r>
              <a:rPr lang="en-US" altLang="zh-CN" dirty="0">
                <a:latin typeface="+mj-ea"/>
                <a:ea typeface="+mj-ea"/>
                <a:cs typeface="JetBrains Mono" panose="02000009000000000000" pitchFamily="49" charset="0"/>
              </a:rPr>
              <a:t>Service</a:t>
            </a:r>
            <a:r>
              <a:rPr lang="zh-CN" altLang="en-US" dirty="0">
                <a:latin typeface="+mj-ea"/>
                <a:ea typeface="+mj-ea"/>
                <a:cs typeface="JetBrains Mono" panose="02000009000000000000" pitchFamily="49" charset="0"/>
              </a:rPr>
              <a:t>仍在持续保活，但伴随通知已经被关掉</a:t>
            </a:r>
            <a:endParaRPr lang="en-US" altLang="zh-CN" dirty="0">
              <a:latin typeface="+mj-ea"/>
              <a:ea typeface="+mj-ea"/>
            </a:endParaRPr>
          </a:p>
        </p:txBody>
      </p:sp>
      <p:grpSp>
        <p:nvGrpSpPr>
          <p:cNvPr id="6" name="组合 5"/>
          <p:cNvGrpSpPr/>
          <p:nvPr/>
        </p:nvGrpSpPr>
        <p:grpSpPr>
          <a:xfrm>
            <a:off x="5899408" y="3757199"/>
            <a:ext cx="6029240" cy="2997321"/>
            <a:chOff x="2983603" y="3757199"/>
            <a:chExt cx="6029240" cy="2997321"/>
          </a:xfrm>
        </p:grpSpPr>
        <p:sp>
          <p:nvSpPr>
            <p:cNvPr id="17" name="Text Box 7"/>
            <p:cNvSpPr txBox="1"/>
            <p:nvPr/>
          </p:nvSpPr>
          <p:spPr>
            <a:xfrm>
              <a:off x="3430308" y="6354410"/>
              <a:ext cx="5135830" cy="400110"/>
            </a:xfrm>
            <a:prstGeom prst="rect">
              <a:avLst/>
            </a:prstGeom>
          </p:spPr>
          <p:txBody>
            <a:bodyPr wrap="none" rtlCol="0">
              <a:spAutoFit/>
            </a:bodyPr>
            <a:lstStyle/>
            <a:p>
              <a:r>
                <a:rPr lang="zh-CN" altLang="en-US" sz="2000" dirty="0">
                  <a:latin typeface="+mj-ea"/>
                  <a:ea typeface="+mj-ea"/>
                  <a:cs typeface="华文隶书" panose="02010800040101010101" charset="-122"/>
                </a:rPr>
                <a:t>利用</a:t>
              </a:r>
              <a:r>
                <a:rPr lang="en-US" altLang="zh-CN" sz="2000" dirty="0">
                  <a:latin typeface="+mj-ea"/>
                  <a:ea typeface="+mj-ea"/>
                  <a:cs typeface="华文隶书" panose="02010800040101010101" charset="-122"/>
                </a:rPr>
                <a:t>Android</a:t>
              </a:r>
              <a:r>
                <a:rPr lang="zh-CN" altLang="en-US" sz="2000" dirty="0">
                  <a:latin typeface="+mj-ea"/>
                  <a:ea typeface="+mj-ea"/>
                  <a:cs typeface="华文隶书" panose="02010800040101010101" charset="-122"/>
                </a:rPr>
                <a:t>系统漏洞隐蔽启动前台</a:t>
              </a:r>
              <a:r>
                <a:rPr lang="en-US" altLang="zh-CN" sz="2000" dirty="0">
                  <a:latin typeface="+mj-ea"/>
                  <a:ea typeface="+mj-ea"/>
                  <a:cs typeface="华文隶书" panose="02010800040101010101" charset="-122"/>
                </a:rPr>
                <a:t>Service</a:t>
              </a:r>
              <a:endParaRPr lang="zh-CN" altLang="en-US" sz="2000" dirty="0">
                <a:latin typeface="+mj-ea"/>
                <a:ea typeface="+mj-ea"/>
                <a:cs typeface="华文隶书" panose="02010800040101010101" charset="-122"/>
              </a:endParaRPr>
            </a:p>
          </p:txBody>
        </p:sp>
        <p:pic>
          <p:nvPicPr>
            <p:cNvPr id="5" name="图片 4"/>
            <p:cNvPicPr>
              <a:picLocks noChangeAspect="1"/>
            </p:cNvPicPr>
            <p:nvPr/>
          </p:nvPicPr>
          <p:blipFill>
            <a:blip r:embed="rId1"/>
            <a:srcRect l="4239" t="8859" r="3912" b="8454"/>
            <a:stretch>
              <a:fillRect/>
            </a:stretch>
          </p:blipFill>
          <p:spPr>
            <a:xfrm>
              <a:off x="2983603" y="3757199"/>
              <a:ext cx="6029240" cy="2597211"/>
            </a:xfrm>
            <a:prstGeom prst="rect">
              <a:avLst/>
            </a:prstGeom>
          </p:spPr>
        </p:pic>
      </p:grpSp>
      <p:pic>
        <p:nvPicPr>
          <p:cNvPr id="9" name="图片 8" descr="IMG_20250424_152002"/>
          <p:cNvPicPr>
            <a:picLocks noChangeAspect="1" noChangeArrowheads="1"/>
          </p:cNvPicPr>
          <p:nvPr/>
        </p:nvPicPr>
        <p:blipFill>
          <a:blip r:embed="rId2" cstate="print">
            <a:extLst>
              <a:ext uri="{28A0092B-C50C-407E-A947-70E740481C1C}">
                <a14:useLocalDpi xmlns:a14="http://schemas.microsoft.com/office/drawing/2010/main" val="0"/>
              </a:ext>
            </a:extLst>
          </a:blip>
          <a:srcRect b="55748"/>
          <a:stretch>
            <a:fillRect/>
          </a:stretch>
        </p:blipFill>
        <p:spPr>
          <a:xfrm>
            <a:off x="251810" y="4149080"/>
            <a:ext cx="5317586" cy="2142679"/>
          </a:xfrm>
          <a:prstGeom prst="rect">
            <a:avLst/>
          </a:prstGeom>
          <a:noFill/>
          <a:ln>
            <a:noFill/>
          </a:ln>
        </p:spPr>
      </p:pic>
      <p:sp>
        <p:nvSpPr>
          <p:cNvPr id="13" name="Text Box 7"/>
          <p:cNvSpPr txBox="1"/>
          <p:nvPr/>
        </p:nvSpPr>
        <p:spPr>
          <a:xfrm>
            <a:off x="1224116" y="6291759"/>
            <a:ext cx="3372975" cy="400110"/>
          </a:xfrm>
          <a:prstGeom prst="rect">
            <a:avLst/>
          </a:prstGeom>
        </p:spPr>
        <p:txBody>
          <a:bodyPr wrap="none" rtlCol="0">
            <a:spAutoFit/>
          </a:bodyPr>
          <a:lstStyle/>
          <a:p>
            <a:r>
              <a:rPr lang="zh-CN" altLang="en-US" sz="2000" dirty="0">
                <a:latin typeface="+mj-ea"/>
                <a:ea typeface="+mj-ea"/>
                <a:cs typeface="华文隶书" panose="02010800040101010101" charset="-122"/>
              </a:rPr>
              <a:t>前台</a:t>
            </a:r>
            <a:r>
              <a:rPr lang="en-US" altLang="zh-CN" sz="2000" dirty="0">
                <a:latin typeface="+mj-ea"/>
                <a:ea typeface="+mj-ea"/>
                <a:cs typeface="华文隶书" panose="02010800040101010101" charset="-122"/>
              </a:rPr>
              <a:t>Service</a:t>
            </a:r>
            <a:r>
              <a:rPr lang="zh-CN" altLang="en-US" sz="2000" dirty="0">
                <a:latin typeface="+mj-ea"/>
                <a:ea typeface="+mj-ea"/>
                <a:cs typeface="华文隶书" panose="02010800040101010101" charset="-122"/>
              </a:rPr>
              <a:t>的伴随通知实例</a:t>
            </a:r>
            <a:endParaRPr lang="zh-CN" altLang="en-US" sz="2000" dirty="0">
              <a:latin typeface="+mj-ea"/>
              <a:ea typeface="+mj-ea"/>
              <a:cs typeface="华文隶书" panose="020108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2</a:t>
            </a:r>
            <a:r>
              <a:rPr kumimoji="1" lang="en-US" altLang="zh-CN"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.3</a:t>
            </a:r>
            <a:r>
              <a:rPr kumimoji="1" lang="zh-CN" altLang="en-US"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 </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灰色前台</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Service</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保活行为检测</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2246769"/>
          </a:xfrm>
          <a:prstGeom prst="rect">
            <a:avLst/>
          </a:prstGeom>
          <a:noFill/>
        </p:spPr>
        <p:txBody>
          <a:bodyPr wrap="square">
            <a:spAutoFit/>
          </a:bodyPr>
          <a:lstStyle/>
          <a:p>
            <a:pPr marL="342900"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保活检测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Manifest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中提取所有的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Service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结合</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DEX</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文件，遍历每一个</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Service</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识别主</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Service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：检查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Service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是否存在函数</a:t>
            </a:r>
            <a:r>
              <a:rPr lang="en-US" altLang="zh-CN" sz="2000" b="1" dirty="0" err="1">
                <a:latin typeface="JetBrains Mono" panose="02000009000000000000" pitchFamily="49" charset="0"/>
                <a:ea typeface="微软雅黑" panose="020B0503020204020204" pitchFamily="34" charset="-122"/>
                <a:cs typeface="JetBrains Mono" panose="02000009000000000000" pitchFamily="49" charset="0"/>
              </a:rPr>
              <a:t>startForeground</a:t>
            </a:r>
            <a:r>
              <a:rPr lang="en-US" altLang="zh-CN" sz="2000" b="1"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b="1" dirty="0" err="1">
                <a:latin typeface="JetBrains Mono" panose="02000009000000000000" pitchFamily="49" charset="0"/>
                <a:ea typeface="微软雅黑" panose="020B0503020204020204" pitchFamily="34" charset="-122"/>
                <a:cs typeface="JetBrains Mono" panose="02000009000000000000" pitchFamily="49" charset="0"/>
              </a:rPr>
              <a:t>startService</a:t>
            </a:r>
            <a:r>
              <a:rPr lang="en-US" altLang="zh-CN" sz="2000" b="1"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sz="2000" b="1" dirty="0">
                <a:latin typeface="JetBrains Mono" panose="02000009000000000000" pitchFamily="49" charset="0"/>
                <a:ea typeface="微软雅黑" panose="020B0503020204020204" pitchFamily="34" charset="-122"/>
                <a:cs typeface="JetBrains Mono" panose="02000009000000000000" pitchFamily="49" charset="0"/>
              </a:rPr>
              <a:t>的调用</a:t>
            </a:r>
            <a:r>
              <a:rPr lang="zh-CN" altLang="en-US" sz="2000" dirty="0">
                <a:latin typeface="+mj-ea"/>
                <a:ea typeface="+mj-ea"/>
                <a:cs typeface="JetBrains Mono" panose="02000009000000000000" pitchFamily="49" charset="0"/>
              </a:rPr>
              <a:t>；</a:t>
            </a:r>
            <a:endParaRPr lang="en-US" altLang="zh-CN" sz="2000" dirty="0">
              <a:latin typeface="+mj-ea"/>
              <a:ea typeface="+mj-ea"/>
              <a:cs typeface="JetBrains Mono" panose="02000009000000000000" pitchFamily="49" charset="0"/>
            </a:endParaRPr>
          </a:p>
          <a:p>
            <a:pPr marL="800100" lvl="1" indent="-34290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识别辅</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Service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JetBrains Mono" panose="02000009000000000000" pitchFamily="49" charset="0"/>
                <a:ea typeface="微软雅黑" panose="020B0503020204020204" pitchFamily="34" charset="-122"/>
                <a:cs typeface="JetBrains Mono" panose="02000009000000000000" pitchFamily="49" charset="0"/>
              </a:rPr>
              <a:t>检查</a:t>
            </a:r>
            <a:r>
              <a:rPr lang="en-US" altLang="zh-CN" sz="2000" dirty="0">
                <a:latin typeface="微软雅黑" panose="020B0503020204020204" pitchFamily="34" charset="-122"/>
                <a:ea typeface="微软雅黑" panose="020B0503020204020204" pitchFamily="34" charset="-122"/>
              </a:rPr>
              <a:t>Service</a:t>
            </a:r>
            <a:r>
              <a:rPr lang="zh-CN" altLang="en-US" sz="2000" dirty="0">
                <a:latin typeface="微软雅黑" panose="020B0503020204020204" pitchFamily="34" charset="-122"/>
                <a:ea typeface="微软雅黑" panose="020B0503020204020204" pitchFamily="34" charset="-122"/>
              </a:rPr>
              <a:t>中</a:t>
            </a:r>
            <a:r>
              <a:rPr lang="zh-CN" altLang="en-US" sz="2000" b="1" dirty="0">
                <a:latin typeface="JetBrains Mono" panose="02000009000000000000" pitchFamily="49" charset="0"/>
                <a:ea typeface="微软雅黑" panose="020B0503020204020204" pitchFamily="34" charset="-122"/>
                <a:cs typeface="JetBrains Mono" panose="02000009000000000000" pitchFamily="49" charset="0"/>
              </a:rPr>
              <a:t>是否存在函数</a:t>
            </a:r>
            <a:r>
              <a:rPr lang="en-US" altLang="zh-CN" sz="2000" b="1" dirty="0" err="1">
                <a:latin typeface="JetBrains Mono" panose="02000009000000000000" pitchFamily="49" charset="0"/>
                <a:ea typeface="微软雅黑" panose="020B0503020204020204" pitchFamily="34" charset="-122"/>
                <a:cs typeface="JetBrains Mono" panose="02000009000000000000" pitchFamily="49" charset="0"/>
              </a:rPr>
              <a:t>startForeground</a:t>
            </a:r>
            <a:r>
              <a:rPr lang="en-US" altLang="zh-CN" sz="2000" b="1"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b="1" dirty="0" err="1">
                <a:latin typeface="JetBrains Mono" panose="02000009000000000000" pitchFamily="49" charset="0"/>
                <a:ea typeface="微软雅黑" panose="020B0503020204020204" pitchFamily="34" charset="-122"/>
                <a:cs typeface="JetBrains Mono" panose="02000009000000000000" pitchFamily="49" charset="0"/>
              </a:rPr>
              <a:t>stopSelf</a:t>
            </a:r>
            <a:r>
              <a:rPr lang="en-US" altLang="zh-CN" sz="2000" b="1" dirty="0">
                <a:latin typeface="JetBrains Mono" panose="02000009000000000000" pitchFamily="49" charset="0"/>
                <a:ea typeface="微软雅黑" panose="020B0503020204020204" pitchFamily="34" charset="-122"/>
                <a:cs typeface="JetBrains Mono" panose="02000009000000000000" pitchFamily="49" charset="0"/>
              </a:rPr>
              <a:t>()</a:t>
            </a:r>
            <a:r>
              <a:rPr lang="zh-CN" altLang="en-US" sz="2000" b="1" dirty="0">
                <a:latin typeface="JetBrains Mono" panose="02000009000000000000" pitchFamily="49" charset="0"/>
                <a:ea typeface="微软雅黑" panose="020B0503020204020204" pitchFamily="34" charset="-122"/>
                <a:cs typeface="JetBrains Mono" panose="02000009000000000000" pitchFamily="49" charset="0"/>
              </a:rPr>
              <a:t>的调用</a:t>
            </a:r>
            <a:r>
              <a:rPr lang="zh-CN" altLang="en-US" sz="2000" dirty="0">
                <a:latin typeface="+mj-ea"/>
                <a:ea typeface="+mj-ea"/>
                <a:cs typeface="JetBrains Mono" panose="02000009000000000000" pitchFamily="49" charset="0"/>
              </a:rPr>
              <a:t>；</a:t>
            </a:r>
            <a:endParaRPr lang="en-US" altLang="zh-CN" sz="2000" dirty="0">
              <a:latin typeface="+mj-ea"/>
              <a:ea typeface="+mj-ea"/>
              <a:cs typeface="JetBrains Mono" panose="02000009000000000000" pitchFamily="49" charset="0"/>
            </a:endParaRPr>
          </a:p>
          <a:p>
            <a:pPr marL="800100" lvl="1" indent="-342900" algn="just">
              <a:buFont typeface="Arial" panose="020B0604020202020204" pitchFamily="34" charset="0"/>
              <a:buChar char="•"/>
            </a:pPr>
            <a:r>
              <a:rPr lang="zh-CN" altLang="en-US" sz="2000" dirty="0">
                <a:latin typeface="+mj-ea"/>
                <a:ea typeface="+mj-ea"/>
                <a:cs typeface="JetBrains Mono" panose="02000009000000000000" pitchFamily="49" charset="0"/>
              </a:rPr>
              <a:t>匹配主</a:t>
            </a:r>
            <a:r>
              <a:rPr lang="en-US" altLang="zh-CN" sz="2000" dirty="0">
                <a:latin typeface="+mj-ea"/>
                <a:ea typeface="+mj-ea"/>
                <a:cs typeface="JetBrains Mono" panose="02000009000000000000" pitchFamily="49" charset="0"/>
              </a:rPr>
              <a:t>Service</a:t>
            </a:r>
            <a:r>
              <a:rPr lang="zh-CN" altLang="en-US" sz="2000" dirty="0">
                <a:latin typeface="+mj-ea"/>
                <a:ea typeface="+mj-ea"/>
                <a:cs typeface="JetBrains Mono" panose="02000009000000000000" pitchFamily="49" charset="0"/>
              </a:rPr>
              <a:t>和辅</a:t>
            </a:r>
            <a:r>
              <a:rPr lang="en-US" altLang="zh-CN" sz="2000" dirty="0">
                <a:latin typeface="+mj-ea"/>
                <a:ea typeface="+mj-ea"/>
                <a:cs typeface="JetBrains Mono" panose="02000009000000000000" pitchFamily="49" charset="0"/>
              </a:rPr>
              <a:t>Service</a:t>
            </a:r>
            <a:r>
              <a:rPr lang="zh-CN" altLang="en-US" sz="2000" dirty="0">
                <a:latin typeface="+mj-ea"/>
                <a:ea typeface="+mj-ea"/>
                <a:cs typeface="JetBrains Mono" panose="02000009000000000000" pitchFamily="49" charset="0"/>
              </a:rPr>
              <a:t>：</a:t>
            </a:r>
            <a:endParaRPr lang="en-US" altLang="zh-CN" sz="2000" dirty="0">
              <a:latin typeface="+mj-ea"/>
              <a:ea typeface="+mj-ea"/>
              <a:cs typeface="JetBrains Mono" panose="02000009000000000000" pitchFamily="49" charset="0"/>
            </a:endParaRPr>
          </a:p>
          <a:p>
            <a:pPr marL="1257300" lvl="2" indent="-342900" algn="just">
              <a:buFont typeface="Arial" panose="020B0604020202020204" pitchFamily="34" charset="0"/>
              <a:buChar char="•"/>
            </a:pPr>
            <a:r>
              <a:rPr lang="zh-CN" altLang="en-US" sz="2000" dirty="0">
                <a:latin typeface="+mj-ea"/>
                <a:ea typeface="+mj-ea"/>
                <a:cs typeface="JetBrains Mono" panose="02000009000000000000" pitchFamily="49" charset="0"/>
              </a:rPr>
              <a:t>主</a:t>
            </a:r>
            <a:r>
              <a:rPr lang="en-US" altLang="zh-CN" sz="2000" dirty="0">
                <a:latin typeface="+mj-ea"/>
                <a:ea typeface="+mj-ea"/>
                <a:cs typeface="JetBrains Mono" panose="02000009000000000000" pitchFamily="49" charset="0"/>
              </a:rPr>
              <a:t>Service</a:t>
            </a:r>
            <a:r>
              <a:rPr lang="zh-CN" altLang="en-US" sz="2000" dirty="0">
                <a:latin typeface="+mj-ea"/>
                <a:ea typeface="+mj-ea"/>
                <a:cs typeface="JetBrains Mono" panose="02000009000000000000" pitchFamily="49" charset="0"/>
              </a:rPr>
              <a:t>通过函数</a:t>
            </a:r>
            <a:r>
              <a:rPr lang="en-US" altLang="zh-CN" sz="2000" dirty="0" err="1">
                <a:latin typeface="JetBrains Mono" panose="02000009000000000000" pitchFamily="49" charset="0"/>
                <a:ea typeface="+mj-ea"/>
                <a:cs typeface="JetBrains Mono" panose="02000009000000000000" pitchFamily="49" charset="0"/>
              </a:rPr>
              <a:t>startService</a:t>
            </a:r>
            <a:r>
              <a:rPr lang="en-US" altLang="zh-CN" sz="2000" dirty="0">
                <a:latin typeface="JetBrains Mono" panose="02000009000000000000" pitchFamily="49" charset="0"/>
                <a:ea typeface="+mj-ea"/>
                <a:cs typeface="JetBrains Mono" panose="02000009000000000000" pitchFamily="49" charset="0"/>
              </a:rPr>
              <a:t>()</a:t>
            </a:r>
            <a:r>
              <a:rPr lang="zh-CN" altLang="en-US" sz="2000" dirty="0">
                <a:solidFill>
                  <a:srgbClr val="C00000"/>
                </a:solidFill>
                <a:latin typeface="+mj-ea"/>
                <a:ea typeface="+mj-ea"/>
                <a:cs typeface="JetBrains Mono" panose="02000009000000000000" pitchFamily="49" charset="0"/>
              </a:rPr>
              <a:t>启动辅</a:t>
            </a:r>
            <a:r>
              <a:rPr lang="en-US" altLang="zh-CN" sz="2000" dirty="0">
                <a:solidFill>
                  <a:srgbClr val="C00000"/>
                </a:solidFill>
                <a:latin typeface="+mj-ea"/>
                <a:ea typeface="+mj-ea"/>
                <a:cs typeface="JetBrains Mono" panose="02000009000000000000" pitchFamily="49" charset="0"/>
              </a:rPr>
              <a:t>Service</a:t>
            </a:r>
            <a:endParaRPr lang="en-US" altLang="zh-CN" sz="2000" dirty="0">
              <a:solidFill>
                <a:srgbClr val="C00000"/>
              </a:solidFill>
              <a:latin typeface="+mj-ea"/>
              <a:ea typeface="+mj-ea"/>
              <a:cs typeface="JetBrains Mono" panose="02000009000000000000" pitchFamily="49" charset="0"/>
            </a:endParaRPr>
          </a:p>
          <a:p>
            <a:pPr marL="1257300" lvl="2" indent="-342900" algn="just">
              <a:buFont typeface="Arial" panose="020B0604020202020204" pitchFamily="34" charset="0"/>
              <a:buChar char="•"/>
            </a:pPr>
            <a:r>
              <a:rPr lang="zh-CN" altLang="en-US" sz="2000" dirty="0">
                <a:latin typeface="+mj-ea"/>
                <a:ea typeface="+mj-ea"/>
                <a:cs typeface="JetBrains Mono" panose="02000009000000000000" pitchFamily="49" charset="0"/>
              </a:rPr>
              <a:t>主辅</a:t>
            </a:r>
            <a:r>
              <a:rPr lang="en-US" altLang="zh-CN" sz="2000" dirty="0">
                <a:latin typeface="+mj-ea"/>
                <a:ea typeface="+mj-ea"/>
                <a:cs typeface="JetBrains Mono" panose="02000009000000000000" pitchFamily="49" charset="0"/>
              </a:rPr>
              <a:t>Service</a:t>
            </a:r>
            <a:r>
              <a:rPr lang="zh-CN" altLang="en-US" sz="2000" dirty="0">
                <a:solidFill>
                  <a:srgbClr val="C00000"/>
                </a:solidFill>
                <a:latin typeface="+mj-ea"/>
                <a:ea typeface="+mj-ea"/>
                <a:cs typeface="JetBrains Mono" panose="02000009000000000000" pitchFamily="49" charset="0"/>
              </a:rPr>
              <a:t>传入函数</a:t>
            </a:r>
            <a:r>
              <a:rPr lang="en-US" altLang="zh-CN" sz="2000" dirty="0" err="1">
                <a:solidFill>
                  <a:srgbClr val="C00000"/>
                </a:solidFill>
                <a:latin typeface="JetBrains Mono" panose="02000009000000000000" pitchFamily="49" charset="0"/>
                <a:ea typeface="+mj-ea"/>
                <a:cs typeface="JetBrains Mono" panose="02000009000000000000" pitchFamily="49" charset="0"/>
              </a:rPr>
              <a:t>startForeground</a:t>
            </a:r>
            <a:r>
              <a:rPr lang="en-US" altLang="zh-CN" sz="2000" dirty="0">
                <a:solidFill>
                  <a:srgbClr val="C00000"/>
                </a:solidFill>
                <a:latin typeface="JetBrains Mono" panose="02000009000000000000" pitchFamily="49" charset="0"/>
                <a:ea typeface="+mj-ea"/>
                <a:cs typeface="JetBrains Mono" panose="02000009000000000000" pitchFamily="49" charset="0"/>
              </a:rPr>
              <a:t>()</a:t>
            </a:r>
            <a:r>
              <a:rPr lang="zh-CN" altLang="en-US" sz="2000" dirty="0">
                <a:solidFill>
                  <a:srgbClr val="C00000"/>
                </a:solidFill>
                <a:latin typeface="+mj-ea"/>
                <a:ea typeface="+mj-ea"/>
                <a:cs typeface="JetBrains Mono" panose="02000009000000000000" pitchFamily="49" charset="0"/>
              </a:rPr>
              <a:t>的通知</a:t>
            </a:r>
            <a:r>
              <a:rPr lang="en-US" altLang="zh-CN" sz="2000" dirty="0">
                <a:solidFill>
                  <a:srgbClr val="C00000"/>
                </a:solidFill>
                <a:latin typeface="+mj-ea"/>
                <a:ea typeface="+mj-ea"/>
                <a:cs typeface="JetBrains Mono" panose="02000009000000000000" pitchFamily="49" charset="0"/>
              </a:rPr>
              <a:t>ID</a:t>
            </a:r>
            <a:r>
              <a:rPr lang="zh-CN" altLang="en-US" sz="2000" dirty="0">
                <a:solidFill>
                  <a:srgbClr val="C00000"/>
                </a:solidFill>
                <a:latin typeface="+mj-ea"/>
                <a:ea typeface="+mj-ea"/>
                <a:cs typeface="JetBrains Mono" panose="02000009000000000000" pitchFamily="49" charset="0"/>
              </a:rPr>
              <a:t>一致</a:t>
            </a:r>
            <a:endParaRPr lang="en-US" altLang="zh-CN" sz="2000" dirty="0">
              <a:solidFill>
                <a:srgbClr val="C00000"/>
              </a:solidFill>
              <a:latin typeface="+mj-ea"/>
              <a:ea typeface="+mj-ea"/>
              <a:cs typeface="JetBrains Mono" panose="02000009000000000000" pitchFamily="49" charset="0"/>
            </a:endParaRPr>
          </a:p>
        </p:txBody>
      </p:sp>
      <p:pic>
        <p:nvPicPr>
          <p:cNvPr id="4" name="图片 3" descr="IMG_256"/>
          <p:cNvPicPr>
            <a:picLocks noChangeAspect="1"/>
          </p:cNvPicPr>
          <p:nvPr/>
        </p:nvPicPr>
        <p:blipFill>
          <a:blip r:embed="rId1"/>
          <a:stretch>
            <a:fillRect/>
          </a:stretch>
        </p:blipFill>
        <p:spPr>
          <a:xfrm>
            <a:off x="-1" y="4231130"/>
            <a:ext cx="12192001" cy="260750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11531337"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3. </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函数调用图抽取</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以类名（</a:t>
            </a:r>
            <a:r>
              <a:rPr kumimoji="1" lang="en-US" altLang="zh-CN" sz="2800" b="1" dirty="0" err="1">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ClassName</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）为层级的函数调用图抽取</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1754326"/>
          </a:xfrm>
          <a:prstGeom prst="rect">
            <a:avLst/>
          </a:prstGeom>
          <a:noFill/>
        </p:spPr>
        <p:txBody>
          <a:bodyPr wrap="square">
            <a:spAutoFit/>
          </a:bodyPr>
          <a:lstStyle/>
          <a:p>
            <a:pPr algn="just"/>
            <a:r>
              <a:rPr lang="zh-CN" altLang="en-US" dirty="0">
                <a:latin typeface="微软雅黑" panose="020B0503020204020204" pitchFamily="34" charset="-122"/>
                <a:ea typeface="微软雅黑" panose="020B0503020204020204" pitchFamily="34" charset="-122"/>
                <a:cs typeface="微软雅黑" panose="020B0503020204020204" pitchFamily="34" charset="-122"/>
              </a:rPr>
              <a:t>直接在函数调用图向上溯源，容易进入“死胡同”，因为</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类之间的调用，往往不会直接调用其函数</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（如类</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使用无声音频保活行为，不会直接调用播放音频的函数，而是调用实现了无声音频保活行为的类</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课题设计了一种以类名（</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ClassName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）为层级的函数调用图抽取算法：</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buFont typeface="+mj-lt"/>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将上一步中找到的</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保活关键代码</a:t>
            </a:r>
            <a:r>
              <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所在类的所有函数</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，记为第</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层</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buFont typeface="+mj-lt"/>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依照函数调用总图，</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寻找第</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层所有函数的源节点函数</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（即调用该函数的函数），</a:t>
            </a:r>
            <a:r>
              <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记录其所在类，记为第</a:t>
            </a:r>
            <a:r>
              <a:rPr lang="en-US" altLang="zh-CN"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层</a:t>
            </a:r>
            <a:endParaRPr lang="en-US" altLang="zh-CN"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buFont typeface="+mj-lt"/>
              <a:buAutoNum type="arabicPeriod"/>
            </a:pPr>
            <a:r>
              <a:rPr lang="zh-CN" altLang="en-US" dirty="0">
                <a:latin typeface="微软雅黑" panose="020B0503020204020204" pitchFamily="34" charset="-122"/>
                <a:ea typeface="微软雅黑" panose="020B0503020204020204" pitchFamily="34" charset="-122"/>
              </a:rPr>
              <a:t>循环</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步，直至没有更多的源函数节点或到达设定的层数</a:t>
            </a:r>
            <a:endParaRPr lang="en-US" altLang="zh-CN" dirty="0">
              <a:latin typeface="微软雅黑" panose="020B0503020204020204" pitchFamily="34" charset="-122"/>
              <a:ea typeface="微软雅黑" panose="020B0503020204020204" pitchFamily="34" charset="-122"/>
            </a:endParaRPr>
          </a:p>
        </p:txBody>
      </p:sp>
      <p:pic>
        <p:nvPicPr>
          <p:cNvPr id="4" name="图片 3" descr="IMG_256"/>
          <p:cNvPicPr>
            <a:picLocks noChangeAspect="1"/>
          </p:cNvPicPr>
          <p:nvPr/>
        </p:nvPicPr>
        <p:blipFill>
          <a:blip r:embed="rId1"/>
          <a:stretch>
            <a:fillRect/>
          </a:stretch>
        </p:blipFill>
        <p:spPr>
          <a:xfrm>
            <a:off x="224486" y="4759780"/>
            <a:ext cx="8103762" cy="2098219"/>
          </a:xfrm>
          <a:prstGeom prst="rect">
            <a:avLst/>
          </a:prstGeom>
          <a:noFill/>
          <a:ln w="9525">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35360" y="3278411"/>
            <a:ext cx="2102615" cy="1442108"/>
          </a:xfrm>
          <a:prstGeom prst="rect">
            <a:avLst/>
          </a:prstGeom>
        </p:spPr>
      </p:pic>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829724" y="3278411"/>
            <a:ext cx="2102615" cy="1442107"/>
          </a:xfrm>
          <a:prstGeom prst="rect">
            <a:avLst/>
          </a:prstGeom>
        </p:spPr>
      </p:pic>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5324088" y="3278411"/>
            <a:ext cx="2102615" cy="1442107"/>
          </a:xfrm>
          <a:prstGeom prst="rect">
            <a:avLst/>
          </a:prstGeom>
        </p:spPr>
      </p:pic>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7818452" y="3278411"/>
            <a:ext cx="2102615" cy="1442107"/>
          </a:xfrm>
          <a:prstGeom prst="rect">
            <a:avLst/>
          </a:prstGeom>
        </p:spPr>
      </p:pic>
      <p:pic>
        <p:nvPicPr>
          <p:cNvPr id="24" name="图片 23"/>
          <p:cNvPicPr>
            <a:picLocks noChangeAspect="1"/>
          </p:cNvPicPr>
          <p:nvPr/>
        </p:nvPicPr>
        <p:blipFill>
          <a:blip r:embed="rId6"/>
          <a:stretch>
            <a:fillRect/>
          </a:stretch>
        </p:blipFill>
        <p:spPr>
          <a:xfrm>
            <a:off x="8750256" y="4675810"/>
            <a:ext cx="3099431" cy="2161110"/>
          </a:xfrm>
          <a:prstGeom prst="rect">
            <a:avLst/>
          </a:prstGeom>
        </p:spPr>
      </p:pic>
      <p:sp>
        <p:nvSpPr>
          <p:cNvPr id="25" name="箭头: 右 24"/>
          <p:cNvSpPr/>
          <p:nvPr/>
        </p:nvSpPr>
        <p:spPr>
          <a:xfrm>
            <a:off x="2495600" y="3921872"/>
            <a:ext cx="334124" cy="1551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p:cNvSpPr/>
          <p:nvPr/>
        </p:nvSpPr>
        <p:spPr>
          <a:xfrm>
            <a:off x="4969788" y="3921872"/>
            <a:ext cx="334124" cy="1551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p:cNvSpPr/>
          <p:nvPr/>
        </p:nvSpPr>
        <p:spPr>
          <a:xfrm>
            <a:off x="7490068" y="3921872"/>
            <a:ext cx="334124" cy="1551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圆角右 27"/>
          <p:cNvSpPr/>
          <p:nvPr/>
        </p:nvSpPr>
        <p:spPr>
          <a:xfrm rot="5400000">
            <a:off x="10038438" y="3771038"/>
            <a:ext cx="864096" cy="828092"/>
          </a:xfrm>
          <a:prstGeom prst="bentArrow">
            <a:avLst>
              <a:gd name="adj1" fmla="val 12347"/>
              <a:gd name="adj2" fmla="val 18386"/>
              <a:gd name="adj3" fmla="val 19249"/>
              <a:gd name="adj4" fmla="val 1499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3</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研究内容与方法</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4. LLM</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理解意图</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多轮提问、逐步理解</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2120902"/>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为将抽取得到的函数调用图输入给大模型，进行代码意图理解分析，并判断保活良恶，</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设计多轮提问的方式如下：</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buFont typeface="+mj-lt"/>
              <a:buAutoNum type="arabicPeriod"/>
            </a:pPr>
            <a:r>
              <a:rPr lang="zh-CN" altLang="en-US" i="1" dirty="0">
                <a:latin typeface="微软雅黑" panose="020B0503020204020204" pitchFamily="34" charset="-122"/>
                <a:ea typeface="微软雅黑" panose="020B0503020204020204" pitchFamily="34" charset="-122"/>
                <a:cs typeface="微软雅黑" panose="020B0503020204020204" pitchFamily="34" charset="-122"/>
              </a:rPr>
              <a:t>子图节点分层理解</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：对于每一层，使用大模型依次</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生成所有函数的摘要</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，完成后再</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总结提炼层级的总意图</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buFont typeface="+mj-lt"/>
              <a:buAutoNum type="arabicPeriod"/>
            </a:pPr>
            <a:r>
              <a:rPr lang="en-US" altLang="zh-CN" i="1" dirty="0">
                <a:latin typeface="微软雅黑" panose="020B0503020204020204" pitchFamily="34" charset="-122"/>
                <a:ea typeface="微软雅黑" panose="020B0503020204020204" pitchFamily="34" charset="-122"/>
                <a:cs typeface="微软雅黑" panose="020B0503020204020204" pitchFamily="34" charset="-122"/>
              </a:rPr>
              <a:t>0-n</a:t>
            </a:r>
            <a:r>
              <a:rPr lang="zh-CN" altLang="en-US" i="1" dirty="0">
                <a:latin typeface="微软雅黑" panose="020B0503020204020204" pitchFamily="34" charset="-122"/>
                <a:ea typeface="微软雅黑" panose="020B0503020204020204" pitchFamily="34" charset="-122"/>
                <a:cs typeface="微软雅黑" panose="020B0503020204020204" pitchFamily="34" charset="-122"/>
              </a:rPr>
              <a:t>层描述汇总与整体意图提炼</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0-n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层的各项信息</a:t>
            </a:r>
            <a:r>
              <a:rPr lang="zh-CN" altLang="en-US" b="1" i="1" dirty="0">
                <a:latin typeface="微软雅黑" panose="020B0503020204020204" pitchFamily="34" charset="-122"/>
                <a:ea typeface="微软雅黑" panose="020B0503020204020204" pitchFamily="34" charset="-122"/>
                <a:cs typeface="微软雅黑" panose="020B0503020204020204" pitchFamily="34" charset="-122"/>
              </a:rPr>
              <a:t>汇总到一个文件中</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，使用大模型</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生成整体的意图分析提炼</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buFont typeface="+mj-lt"/>
              <a:buAutoNum type="arabicPeriod"/>
            </a:pPr>
            <a:r>
              <a:rPr lang="en-US" altLang="zh-CN" i="1" dirty="0">
                <a:latin typeface="微软雅黑" panose="020B0503020204020204" pitchFamily="34" charset="-122"/>
                <a:ea typeface="微软雅黑" panose="020B0503020204020204" pitchFamily="34" charset="-122"/>
              </a:rPr>
              <a:t>APP</a:t>
            </a:r>
            <a:r>
              <a:rPr lang="zh-CN" altLang="en-US" i="1" dirty="0">
                <a:latin typeface="微软雅黑" panose="020B0503020204020204" pitchFamily="34" charset="-122"/>
                <a:ea typeface="微软雅黑" panose="020B0503020204020204" pitchFamily="34" charset="-122"/>
              </a:rPr>
              <a:t>功能描述去主观化</a:t>
            </a:r>
            <a:r>
              <a:rPr lang="zh-CN" altLang="en-US" dirty="0">
                <a:latin typeface="微软雅黑" panose="020B0503020204020204" pitchFamily="34" charset="-122"/>
                <a:ea typeface="微软雅黑" panose="020B0503020204020204" pitchFamily="34" charset="-122"/>
              </a:rPr>
              <a:t>：将</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爬取到的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功能信息，并进行人工清洗，再使用大模型对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功能描述去主观化</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buFont typeface="+mj-lt"/>
              <a:buAutoNum type="arabicPeriod"/>
            </a:pPr>
            <a:r>
              <a:rPr lang="zh-CN" altLang="en-US" i="1" dirty="0">
                <a:latin typeface="微软雅黑" panose="020B0503020204020204" pitchFamily="34" charset="-122"/>
                <a:ea typeface="微软雅黑" panose="020B0503020204020204" pitchFamily="34" charset="-122"/>
                <a:cs typeface="微软雅黑" panose="020B0503020204020204" pitchFamily="34" charset="-122"/>
              </a:rPr>
              <a:t>对比判断</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：最后使用大模型</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对比</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功能的客观描述和保活行为的整体意图分析提炼，</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判断保活行为的良恶性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rcRect b="5532"/>
          <a:stretch>
            <a:fillRect/>
          </a:stretch>
        </p:blipFill>
        <p:spPr>
          <a:xfrm>
            <a:off x="1" y="4090026"/>
            <a:ext cx="7896199" cy="2767974"/>
          </a:xfrm>
          <a:prstGeom prst="rect">
            <a:avLst/>
          </a:prstGeom>
        </p:spPr>
      </p:pic>
      <p:sp>
        <p:nvSpPr>
          <p:cNvPr id="6" name="文本框 5"/>
          <p:cNvSpPr txBox="1"/>
          <p:nvPr/>
        </p:nvSpPr>
        <p:spPr>
          <a:xfrm>
            <a:off x="8040216" y="4738587"/>
            <a:ext cx="3960440" cy="1470852"/>
          </a:xfrm>
          <a:prstGeom prst="rect">
            <a:avLst/>
          </a:prstGeom>
          <a:noFill/>
        </p:spPr>
        <p:txBody>
          <a:bodyPr wrap="square">
            <a:spAutoFit/>
          </a:bodyPr>
          <a:lstStyle/>
          <a:p>
            <a:pPr algn="ctr">
              <a:lnSpc>
                <a:spcPct val="150000"/>
              </a:lnSpc>
            </a:pPr>
            <a:r>
              <a:rPr lang="zh-CN" altLang="en-US" sz="2100" b="1" dirty="0">
                <a:latin typeface="仿宋" panose="02010609060101010101" pitchFamily="49" charset="-122"/>
                <a:ea typeface="仿宋" panose="02010609060101010101" pitchFamily="49" charset="-122"/>
              </a:rPr>
              <a:t>多轮提问方式，让大模型</a:t>
            </a:r>
            <a:r>
              <a:rPr lang="zh-CN" altLang="en-US" sz="2100" b="1" dirty="0">
                <a:solidFill>
                  <a:srgbClr val="C00000"/>
                </a:solidFill>
                <a:latin typeface="仿宋" panose="02010609060101010101" pitchFamily="49" charset="-122"/>
                <a:ea typeface="仿宋" panose="02010609060101010101" pitchFamily="49" charset="-122"/>
              </a:rPr>
              <a:t>逐步理解</a:t>
            </a:r>
            <a:r>
              <a:rPr lang="zh-CN" altLang="en-US" sz="2100" b="1" dirty="0">
                <a:latin typeface="仿宋" panose="02010609060101010101" pitchFamily="49" charset="-122"/>
                <a:ea typeface="仿宋" panose="02010609060101010101" pitchFamily="49" charset="-122"/>
              </a:rPr>
              <a:t>保活关键代码及其上下文，并</a:t>
            </a:r>
            <a:r>
              <a:rPr lang="zh-CN" altLang="en-US" sz="2100" b="1" dirty="0">
                <a:solidFill>
                  <a:srgbClr val="C00000"/>
                </a:solidFill>
                <a:latin typeface="仿宋" panose="02010609060101010101" pitchFamily="49" charset="-122"/>
                <a:ea typeface="仿宋" panose="02010609060101010101" pitchFamily="49" charset="-122"/>
              </a:rPr>
              <a:t>结合</a:t>
            </a:r>
            <a:r>
              <a:rPr lang="en-US" altLang="zh-CN" sz="2100" b="1" dirty="0">
                <a:solidFill>
                  <a:srgbClr val="C00000"/>
                </a:solidFill>
                <a:latin typeface="仿宋" panose="02010609060101010101" pitchFamily="49" charset="-122"/>
                <a:ea typeface="仿宋" panose="02010609060101010101" pitchFamily="49" charset="-122"/>
              </a:rPr>
              <a:t>APP</a:t>
            </a:r>
            <a:r>
              <a:rPr lang="zh-CN" altLang="en-US" sz="2100" b="1" dirty="0">
                <a:solidFill>
                  <a:srgbClr val="C00000"/>
                </a:solidFill>
                <a:latin typeface="仿宋" panose="02010609060101010101" pitchFamily="49" charset="-122"/>
                <a:ea typeface="仿宋" panose="02010609060101010101" pitchFamily="49" charset="-122"/>
              </a:rPr>
              <a:t>功能</a:t>
            </a:r>
            <a:r>
              <a:rPr lang="zh-CN" altLang="en-US" sz="2100" b="1" dirty="0">
                <a:latin typeface="仿宋" panose="02010609060101010101" pitchFamily="49" charset="-122"/>
                <a:ea typeface="仿宋" panose="02010609060101010101" pitchFamily="49" charset="-122"/>
              </a:rPr>
              <a:t>，给出良恶性判断</a:t>
            </a:r>
            <a:endParaRPr lang="en-US" altLang="zh-CN" sz="2100" b="1" dirty="0">
              <a:latin typeface="仿宋" panose="02010609060101010101" pitchFamily="49" charset="-122"/>
              <a:ea typeface="仿宋"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4</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实验结果与分析</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实验结果</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实验设置</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2292935"/>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为评估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KALAD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的有效性和性能，并对三种保活行为的在野特征进行研究，设计实验回答如下三个问题：</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just">
              <a:buFont typeface="Times New Roman" panose="02020603050405020304" pitchFamily="18" charset="0"/>
              <a:buAutoNum type="arabicPeriod"/>
            </a:pPr>
            <a:r>
              <a:rPr lang="en-US" altLang="zh-CN" sz="2100" b="1" dirty="0">
                <a:latin typeface="仿宋" panose="02010609060101010101" pitchFamily="49" charset="-122"/>
                <a:ea typeface="仿宋" panose="02010609060101010101" pitchFamily="49" charset="-122"/>
              </a:rPr>
              <a:t>KALAD</a:t>
            </a:r>
            <a:r>
              <a:rPr lang="zh-CN" altLang="en-US" sz="2100" b="1" dirty="0">
                <a:latin typeface="仿宋" panose="02010609060101010101" pitchFamily="49" charset="-122"/>
                <a:ea typeface="仿宋" panose="02010609060101010101" pitchFamily="49" charset="-122"/>
              </a:rPr>
              <a:t>检测这三种保活行为及其良恶的有效性如何？</a:t>
            </a:r>
            <a:endParaRPr lang="zh-CN" altLang="en-US" sz="2100" b="1" dirty="0">
              <a:latin typeface="仿宋" panose="02010609060101010101" pitchFamily="49" charset="-122"/>
              <a:ea typeface="仿宋" panose="02010609060101010101" pitchFamily="49" charset="-122"/>
            </a:endParaRPr>
          </a:p>
          <a:p>
            <a:pPr marL="342900" marR="0" lvl="0" indent="-342900" algn="just">
              <a:buFont typeface="Times New Roman" panose="02020603050405020304" pitchFamily="18" charset="0"/>
              <a:buAutoNum type="arabicPeriod"/>
            </a:pPr>
            <a:r>
              <a:rPr lang="en-US" altLang="zh-CN" sz="2100" b="1" dirty="0">
                <a:latin typeface="仿宋" panose="02010609060101010101" pitchFamily="49" charset="-122"/>
                <a:ea typeface="仿宋" panose="02010609060101010101" pitchFamily="49" charset="-122"/>
              </a:rPr>
              <a:t>KALAD</a:t>
            </a:r>
            <a:r>
              <a:rPr lang="zh-CN" altLang="en-US" sz="2100" b="1" dirty="0">
                <a:latin typeface="仿宋" panose="02010609060101010101" pitchFamily="49" charset="-122"/>
                <a:ea typeface="仿宋" panose="02010609060101010101" pitchFamily="49" charset="-122"/>
              </a:rPr>
              <a:t>的性能如何？有哪些因素显著影响其性能？</a:t>
            </a:r>
            <a:endParaRPr lang="zh-CN" altLang="en-US" sz="2100" b="1" dirty="0">
              <a:latin typeface="仿宋" panose="02010609060101010101" pitchFamily="49" charset="-122"/>
              <a:ea typeface="仿宋" panose="02010609060101010101" pitchFamily="49" charset="-122"/>
            </a:endParaRPr>
          </a:p>
          <a:p>
            <a:pPr marL="342900" marR="0" lvl="0" indent="-342900" algn="just">
              <a:buFont typeface="Times New Roman" panose="02020603050405020304" pitchFamily="18" charset="0"/>
              <a:buAutoNum type="arabicPeriod"/>
            </a:pPr>
            <a:r>
              <a:rPr lang="zh-CN" altLang="en-US" sz="2100" b="1" dirty="0">
                <a:latin typeface="仿宋" panose="02010609060101010101" pitchFamily="49" charset="-122"/>
                <a:ea typeface="仿宋" panose="02010609060101010101" pitchFamily="49" charset="-122"/>
              </a:rPr>
              <a:t>三种保活行为的在野特性如何？</a:t>
            </a:r>
            <a:endParaRPr lang="en-US" altLang="zh-CN" sz="2100" b="1" dirty="0">
              <a:latin typeface="仿宋" panose="02010609060101010101" pitchFamily="49" charset="-122"/>
              <a:ea typeface="仿宋" panose="02010609060101010101" pitchFamily="49" charset="-122"/>
            </a:endParaRPr>
          </a:p>
          <a:p>
            <a:pPr marR="0" lvl="0" algn="just"/>
            <a:r>
              <a:rPr lang="zh-CN" altLang="en-US" sz="2000" dirty="0">
                <a:latin typeface="微软雅黑" panose="020B0503020204020204" pitchFamily="34" charset="-122"/>
                <a:ea typeface="微软雅黑" panose="020B0503020204020204" pitchFamily="34" charset="-122"/>
              </a:rPr>
              <a:t>实验设置：</a:t>
            </a:r>
            <a:endParaRPr lang="en-US" altLang="zh-CN" sz="2000" dirty="0">
              <a:latin typeface="微软雅黑" panose="020B0503020204020204" pitchFamily="34" charset="-122"/>
              <a:ea typeface="微软雅黑" panose="020B0503020204020204" pitchFamily="34" charset="-122"/>
            </a:endParaRPr>
          </a:p>
          <a:p>
            <a:pPr marR="0" lvl="0" algn="just"/>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使用来自华为安全部门的</a:t>
            </a:r>
            <a:r>
              <a:rPr lang="en-US" altLang="zh-CN" sz="2000" b="1" dirty="0">
                <a:latin typeface="微软雅黑" panose="020B0503020204020204" pitchFamily="34" charset="-122"/>
                <a:ea typeface="微软雅黑" panose="020B0503020204020204" pitchFamily="34" charset="-122"/>
              </a:rPr>
              <a:t>252</a:t>
            </a:r>
            <a:r>
              <a:rPr lang="zh-CN" altLang="en-US" sz="2000" b="1" dirty="0">
                <a:latin typeface="微软雅黑" panose="020B0503020204020204" pitchFamily="34" charset="-122"/>
                <a:ea typeface="微软雅黑" panose="020B0503020204020204" pitchFamily="34" charset="-122"/>
              </a:rPr>
              <a:t>个高可疑保活</a:t>
            </a:r>
            <a:r>
              <a:rPr lang="en-US" altLang="zh-CN" sz="2000" b="1" dirty="0">
                <a:latin typeface="微软雅黑" panose="020B0503020204020204" pitchFamily="34" charset="-122"/>
                <a:ea typeface="微软雅黑" panose="020B0503020204020204" pitchFamily="34" charset="-122"/>
              </a:rPr>
              <a:t>APP</a:t>
            </a:r>
            <a:r>
              <a:rPr lang="zh-CN" altLang="en-US" sz="2000" b="1" dirty="0">
                <a:latin typeface="微软雅黑" panose="020B0503020204020204" pitchFamily="34" charset="-122"/>
                <a:ea typeface="微软雅黑" panose="020B0503020204020204" pitchFamily="34" charset="-122"/>
              </a:rPr>
              <a:t>样本验证</a:t>
            </a:r>
            <a:r>
              <a:rPr lang="en-US" altLang="zh-CN" sz="2000" b="1" dirty="0">
                <a:latin typeface="微软雅黑" panose="020B0503020204020204" pitchFamily="34" charset="-122"/>
                <a:ea typeface="微软雅黑" panose="020B0503020204020204" pitchFamily="34" charset="-122"/>
              </a:rPr>
              <a:t>KALAD</a:t>
            </a:r>
            <a:r>
              <a:rPr lang="zh-CN" altLang="en-US" sz="2000" b="1" dirty="0">
                <a:latin typeface="微软雅黑" panose="020B0503020204020204" pitchFamily="34" charset="-122"/>
                <a:ea typeface="微软雅黑" panose="020B0503020204020204" pitchFamily="34" charset="-122"/>
              </a:rPr>
              <a:t>有效性，并评估性能；</a:t>
            </a:r>
            <a:endParaRPr lang="en-US" altLang="zh-CN" sz="2000" b="1" dirty="0">
              <a:latin typeface="微软雅黑" panose="020B0503020204020204" pitchFamily="34" charset="-122"/>
              <a:ea typeface="微软雅黑" panose="020B0503020204020204" pitchFamily="34" charset="-122"/>
            </a:endParaRPr>
          </a:p>
          <a:p>
            <a:pPr marR="0" lvl="0" algn="just"/>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 从</a:t>
            </a:r>
            <a:r>
              <a:rPr lang="en-US" altLang="zh-CN" sz="2000" dirty="0">
                <a:latin typeface="微软雅黑" panose="020B0503020204020204" pitchFamily="34" charset="-122"/>
                <a:ea typeface="微软雅黑" panose="020B0503020204020204" pitchFamily="34" charset="-122"/>
              </a:rPr>
              <a:t>XLDH</a:t>
            </a:r>
            <a:r>
              <a:rPr lang="zh-CN" altLang="en-US" sz="2000" dirty="0">
                <a:latin typeface="微软雅黑" panose="020B0503020204020204" pitchFamily="34" charset="-122"/>
                <a:ea typeface="微软雅黑" panose="020B0503020204020204" pitchFamily="34" charset="-122"/>
              </a:rPr>
              <a:t>数据集</a:t>
            </a:r>
            <a:r>
              <a:rPr lang="en-US" altLang="zh-CN" sz="2000" baseline="30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中下载</a:t>
            </a:r>
            <a:r>
              <a:rPr lang="en-US" altLang="zh-CN" sz="2000" b="1" dirty="0">
                <a:latin typeface="微软雅黑" panose="020B0503020204020204" pitchFamily="34" charset="-122"/>
                <a:ea typeface="微软雅黑" panose="020B0503020204020204" pitchFamily="34" charset="-122"/>
              </a:rPr>
              <a:t>971</a:t>
            </a:r>
            <a:r>
              <a:rPr lang="zh-CN" altLang="en-US" sz="2000" b="1" dirty="0">
                <a:latin typeface="微软雅黑" panose="020B0503020204020204" pitchFamily="34" charset="-122"/>
                <a:ea typeface="微软雅黑" panose="020B0503020204020204" pitchFamily="34" charset="-122"/>
              </a:rPr>
              <a:t>个</a:t>
            </a:r>
            <a:r>
              <a:rPr lang="en-US" altLang="zh-CN" sz="2000" b="1" dirty="0">
                <a:latin typeface="微软雅黑" panose="020B0503020204020204" pitchFamily="34" charset="-122"/>
                <a:ea typeface="微软雅黑" panose="020B0503020204020204" pitchFamily="34" charset="-122"/>
              </a:rPr>
              <a:t>APK</a:t>
            </a:r>
            <a:r>
              <a:rPr lang="zh-CN" altLang="en-US" sz="2000" b="1" dirty="0">
                <a:latin typeface="微软雅黑" panose="020B0503020204020204" pitchFamily="34" charset="-122"/>
                <a:ea typeface="微软雅黑" panose="020B0503020204020204" pitchFamily="34" charset="-122"/>
              </a:rPr>
              <a:t>样本，用于评估保活行为的在野特性</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0" y="4205789"/>
          <a:ext cx="4871864" cy="2647964"/>
        </p:xfrm>
        <a:graphic>
          <a:graphicData uri="http://schemas.openxmlformats.org/drawingml/2006/table">
            <a:tbl>
              <a:tblPr firstRow="1">
                <a:tableStyleId>{5C22544A-7EE6-4342-B048-85BDC9FD1C3A}</a:tableStyleId>
              </a:tblPr>
              <a:tblGrid>
                <a:gridCol w="1969477"/>
                <a:gridCol w="2902387"/>
              </a:tblGrid>
              <a:tr h="305281">
                <a:tc>
                  <a:txBody>
                    <a:bodyPr/>
                    <a:lstStyle/>
                    <a:p>
                      <a:pPr marL="0" marR="0" algn="ctr">
                        <a:lnSpc>
                          <a:spcPts val="1500"/>
                        </a:lnSpc>
                        <a:buNone/>
                      </a:pPr>
                      <a:r>
                        <a:rPr lang="zh-CN" altLang="en-US" sz="1600" kern="100" dirty="0">
                          <a:effectLst/>
                          <a:latin typeface="+mj-ea"/>
                          <a:ea typeface="+mj-ea"/>
                        </a:rPr>
                        <a:t>硬件</a:t>
                      </a:r>
                      <a:r>
                        <a:rPr lang="en-US" altLang="zh-CN" sz="1600" kern="100" dirty="0">
                          <a:effectLst/>
                          <a:latin typeface="+mj-ea"/>
                          <a:ea typeface="+mj-ea"/>
                        </a:rPr>
                        <a:t>/</a:t>
                      </a:r>
                      <a:r>
                        <a:rPr lang="zh-CN" altLang="en-US" sz="1600" kern="100" dirty="0">
                          <a:effectLst/>
                          <a:latin typeface="+mj-ea"/>
                          <a:ea typeface="+mj-ea"/>
                        </a:rPr>
                        <a:t>软件</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型号与描述信息</a:t>
                      </a:r>
                      <a:endParaRPr lang="zh-CN" altLang="en-US" sz="1600" kern="100" dirty="0">
                        <a:effectLst/>
                        <a:latin typeface="+mj-ea"/>
                        <a:ea typeface="+mj-ea"/>
                      </a:endParaRPr>
                    </a:p>
                  </a:txBody>
                  <a:tcPr marL="68580" marR="68580" anchor="ctr"/>
                </a:tc>
              </a:tr>
              <a:tr h="305281">
                <a:tc>
                  <a:txBody>
                    <a:bodyPr/>
                    <a:lstStyle/>
                    <a:p>
                      <a:pPr marL="0" marR="0" algn="ctr">
                        <a:lnSpc>
                          <a:spcPts val="1500"/>
                        </a:lnSpc>
                        <a:buNone/>
                      </a:pPr>
                      <a:r>
                        <a:rPr lang="en-US" sz="1600" kern="100">
                          <a:effectLst/>
                          <a:latin typeface="+mj-ea"/>
                          <a:ea typeface="+mj-ea"/>
                        </a:rPr>
                        <a:t>CPU</a:t>
                      </a:r>
                      <a:endParaRPr lang="en-US" sz="1600" kern="100">
                        <a:effectLst/>
                        <a:latin typeface="+mj-ea"/>
                        <a:ea typeface="+mj-ea"/>
                      </a:endParaRPr>
                    </a:p>
                  </a:txBody>
                  <a:tcPr marL="68580" marR="68580" anchor="ctr"/>
                </a:tc>
                <a:tc>
                  <a:txBody>
                    <a:bodyPr/>
                    <a:lstStyle/>
                    <a:p>
                      <a:pPr marL="0" marR="0" algn="ctr">
                        <a:lnSpc>
                          <a:spcPts val="1500"/>
                        </a:lnSpc>
                        <a:buNone/>
                      </a:pPr>
                      <a:r>
                        <a:rPr lang="en-US" sz="1600" kern="100" dirty="0">
                          <a:effectLst/>
                          <a:latin typeface="+mj-ea"/>
                          <a:ea typeface="+mj-ea"/>
                        </a:rPr>
                        <a:t>Apple M1 Pro</a:t>
                      </a:r>
                      <a:endParaRPr lang="en-US" sz="1600" kern="100" dirty="0">
                        <a:effectLst/>
                        <a:latin typeface="+mj-ea"/>
                        <a:ea typeface="+mj-ea"/>
                      </a:endParaRPr>
                    </a:p>
                  </a:txBody>
                  <a:tcPr marL="68580" marR="68580" anchor="ctr"/>
                </a:tc>
              </a:tr>
              <a:tr h="305281">
                <a:tc>
                  <a:txBody>
                    <a:bodyPr/>
                    <a:lstStyle/>
                    <a:p>
                      <a:pPr marL="0" marR="0" algn="ctr">
                        <a:lnSpc>
                          <a:spcPts val="1500"/>
                        </a:lnSpc>
                        <a:buNone/>
                      </a:pPr>
                      <a:r>
                        <a:rPr lang="en-US" sz="1600" kern="100">
                          <a:effectLst/>
                          <a:latin typeface="+mj-ea"/>
                          <a:ea typeface="+mj-ea"/>
                        </a:rPr>
                        <a:t>RAM</a:t>
                      </a:r>
                      <a:endParaRPr lang="en-US" sz="1600" kern="100">
                        <a:effectLst/>
                        <a:latin typeface="+mj-ea"/>
                        <a:ea typeface="+mj-ea"/>
                      </a:endParaRPr>
                    </a:p>
                  </a:txBody>
                  <a:tcPr marL="68580" marR="68580" anchor="ctr"/>
                </a:tc>
                <a:tc>
                  <a:txBody>
                    <a:bodyPr/>
                    <a:lstStyle/>
                    <a:p>
                      <a:pPr marL="0" marR="0" algn="ctr">
                        <a:lnSpc>
                          <a:spcPts val="1500"/>
                        </a:lnSpc>
                        <a:buNone/>
                      </a:pPr>
                      <a:r>
                        <a:rPr lang="en-US" sz="1600" kern="100" dirty="0">
                          <a:effectLst/>
                          <a:latin typeface="+mj-ea"/>
                          <a:ea typeface="+mj-ea"/>
                        </a:rPr>
                        <a:t>16GB</a:t>
                      </a:r>
                      <a:endParaRPr lang="en-US" sz="1600" kern="100" dirty="0">
                        <a:effectLst/>
                        <a:latin typeface="+mj-ea"/>
                        <a:ea typeface="+mj-ea"/>
                      </a:endParaRPr>
                    </a:p>
                  </a:txBody>
                  <a:tcPr marL="68580" marR="68580" anchor="ctr"/>
                </a:tc>
              </a:tr>
              <a:tr h="510997">
                <a:tc>
                  <a:txBody>
                    <a:bodyPr/>
                    <a:lstStyle/>
                    <a:p>
                      <a:pPr marL="0" marR="0" algn="ctr">
                        <a:lnSpc>
                          <a:spcPts val="1500"/>
                        </a:lnSpc>
                        <a:buNone/>
                      </a:pPr>
                      <a:r>
                        <a:rPr lang="en-US" sz="1600" kern="100">
                          <a:effectLst/>
                          <a:latin typeface="+mj-ea"/>
                          <a:ea typeface="+mj-ea"/>
                        </a:rPr>
                        <a:t>MacOS Version</a:t>
                      </a:r>
                      <a:endParaRPr lang="en-US" sz="1600" kern="100">
                        <a:effectLst/>
                        <a:latin typeface="+mj-ea"/>
                        <a:ea typeface="+mj-ea"/>
                      </a:endParaRPr>
                    </a:p>
                  </a:txBody>
                  <a:tcPr marL="68580" marR="68580" anchor="ctr"/>
                </a:tc>
                <a:tc>
                  <a:txBody>
                    <a:bodyPr/>
                    <a:lstStyle/>
                    <a:p>
                      <a:pPr marL="0" marR="0" algn="ctr">
                        <a:lnSpc>
                          <a:spcPts val="1500"/>
                        </a:lnSpc>
                        <a:buNone/>
                      </a:pPr>
                      <a:r>
                        <a:rPr lang="en-US" sz="1600" kern="100" dirty="0">
                          <a:effectLst/>
                          <a:latin typeface="+mj-ea"/>
                          <a:ea typeface="+mj-ea"/>
                        </a:rPr>
                        <a:t>Sequoia 15.4.1</a:t>
                      </a:r>
                      <a:endParaRPr lang="en-US" sz="1600" kern="100" dirty="0">
                        <a:effectLst/>
                        <a:latin typeface="+mj-ea"/>
                        <a:ea typeface="+mj-ea"/>
                      </a:endParaRPr>
                    </a:p>
                  </a:txBody>
                  <a:tcPr marL="68580" marR="68580" anchor="ctr"/>
                </a:tc>
              </a:tr>
              <a:tr h="305281">
                <a:tc>
                  <a:txBody>
                    <a:bodyPr/>
                    <a:lstStyle/>
                    <a:p>
                      <a:pPr marL="0" marR="0" algn="ctr">
                        <a:lnSpc>
                          <a:spcPts val="1500"/>
                        </a:lnSpc>
                        <a:buNone/>
                      </a:pPr>
                      <a:r>
                        <a:rPr lang="en-US" sz="1600" kern="100">
                          <a:effectLst/>
                          <a:latin typeface="+mj-ea"/>
                          <a:ea typeface="+mj-ea"/>
                        </a:rPr>
                        <a:t>LLM</a:t>
                      </a:r>
                      <a:endParaRPr lang="en-US" sz="1600" kern="100">
                        <a:effectLst/>
                        <a:latin typeface="+mj-ea"/>
                        <a:ea typeface="+mj-ea"/>
                      </a:endParaRPr>
                    </a:p>
                  </a:txBody>
                  <a:tcPr marL="68580" marR="68580" anchor="ctr"/>
                </a:tc>
                <a:tc>
                  <a:txBody>
                    <a:bodyPr/>
                    <a:lstStyle/>
                    <a:p>
                      <a:pPr marL="0" marR="0" algn="ctr">
                        <a:lnSpc>
                          <a:spcPts val="1500"/>
                        </a:lnSpc>
                        <a:buNone/>
                      </a:pPr>
                      <a:r>
                        <a:rPr lang="en-US" sz="1600" kern="100">
                          <a:effectLst/>
                          <a:latin typeface="+mj-ea"/>
                          <a:ea typeface="+mj-ea"/>
                        </a:rPr>
                        <a:t>GPT-3.5 turbo</a:t>
                      </a:r>
                      <a:endParaRPr lang="en-US" sz="1600" kern="100">
                        <a:effectLst/>
                        <a:latin typeface="+mj-ea"/>
                        <a:ea typeface="+mj-ea"/>
                      </a:endParaRPr>
                    </a:p>
                  </a:txBody>
                  <a:tcPr marL="68580" marR="68580" anchor="ctr"/>
                </a:tc>
              </a:tr>
              <a:tr h="305281">
                <a:tc>
                  <a:txBody>
                    <a:bodyPr/>
                    <a:lstStyle/>
                    <a:p>
                      <a:pPr marL="0" marR="0" algn="ctr">
                        <a:lnSpc>
                          <a:spcPts val="1500"/>
                        </a:lnSpc>
                        <a:buNone/>
                      </a:pPr>
                      <a:r>
                        <a:rPr lang="en-US" sz="1600" kern="100">
                          <a:effectLst/>
                          <a:latin typeface="+mj-ea"/>
                          <a:ea typeface="+mj-ea"/>
                        </a:rPr>
                        <a:t>Python</a:t>
                      </a:r>
                      <a:endParaRPr 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3.11.11</a:t>
                      </a:r>
                      <a:endParaRPr lang="zh-CN" altLang="en-US" sz="1600" kern="100">
                        <a:effectLst/>
                        <a:latin typeface="+mj-ea"/>
                        <a:ea typeface="+mj-ea"/>
                      </a:endParaRPr>
                    </a:p>
                  </a:txBody>
                  <a:tcPr marL="68580" marR="68580" anchor="ctr"/>
                </a:tc>
              </a:tr>
              <a:tr h="305281">
                <a:tc>
                  <a:txBody>
                    <a:bodyPr/>
                    <a:lstStyle/>
                    <a:p>
                      <a:pPr marL="0" marR="0" algn="ctr">
                        <a:lnSpc>
                          <a:spcPts val="1500"/>
                        </a:lnSpc>
                        <a:buNone/>
                      </a:pPr>
                      <a:r>
                        <a:rPr lang="en-US" sz="1600" kern="100">
                          <a:effectLst/>
                          <a:latin typeface="+mj-ea"/>
                          <a:ea typeface="+mj-ea"/>
                        </a:rPr>
                        <a:t>Androguard</a:t>
                      </a:r>
                      <a:endParaRPr 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4.1.2</a:t>
                      </a:r>
                      <a:endParaRPr lang="zh-CN" altLang="en-US" sz="1600" kern="100">
                        <a:effectLst/>
                        <a:latin typeface="+mj-ea"/>
                        <a:ea typeface="+mj-ea"/>
                      </a:endParaRPr>
                    </a:p>
                  </a:txBody>
                  <a:tcPr marL="68580" marR="68580" anchor="ctr"/>
                </a:tc>
              </a:tr>
              <a:tr h="305281">
                <a:tc>
                  <a:txBody>
                    <a:bodyPr/>
                    <a:lstStyle/>
                    <a:p>
                      <a:pPr marL="0" marR="0" algn="ctr">
                        <a:lnSpc>
                          <a:spcPts val="1500"/>
                        </a:lnSpc>
                        <a:buNone/>
                      </a:pPr>
                      <a:r>
                        <a:rPr lang="en-US" sz="1600" kern="100">
                          <a:effectLst/>
                          <a:latin typeface="+mj-ea"/>
                          <a:ea typeface="+mj-ea"/>
                        </a:rPr>
                        <a:t>APKTool</a:t>
                      </a:r>
                      <a:endParaRPr 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2.11.1</a:t>
                      </a:r>
                      <a:endParaRPr lang="zh-CN" altLang="en-US" sz="1600" kern="100" dirty="0">
                        <a:effectLst/>
                        <a:latin typeface="+mj-ea"/>
                        <a:ea typeface="+mj-ea"/>
                      </a:endParaRPr>
                    </a:p>
                  </a:txBody>
                  <a:tcPr marL="68580" marR="68580" anchor="ctr"/>
                </a:tc>
              </a:tr>
            </a:tbl>
          </a:graphicData>
        </a:graphic>
      </p:graphicFrame>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5447926" y="4088277"/>
              <a:ext cx="6744073" cy="2445910"/>
            </p:xfrm>
            <a:graphic>
              <a:graphicData uri="http://schemas.openxmlformats.org/drawingml/2006/table">
                <a:tbl>
                  <a:tblPr firstRow="1">
                    <a:tableStyleId>{073A0DAA-6AF3-43AB-8588-CEC1D06C72B9}</a:tableStyleId>
                  </a:tblPr>
                  <a:tblGrid>
                    <a:gridCol w="828004"/>
                    <a:gridCol w="1838258"/>
                    <a:gridCol w="2117325"/>
                    <a:gridCol w="627356"/>
                    <a:gridCol w="1333130"/>
                  </a:tblGrid>
                  <a:tr h="475774">
                    <a:tc>
                      <a:txBody>
                        <a:bodyPr/>
                        <a:lstStyle/>
                        <a:p>
                          <a:pPr algn="ctr"/>
                          <a:r>
                            <a:rPr lang="zh-CN" altLang="en-US" sz="1500" dirty="0">
                              <a:latin typeface="+mj-ea"/>
                              <a:ea typeface="+mj-ea"/>
                            </a:rPr>
                            <a:t>数据集</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数据集信息</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数据来源</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样本</a:t>
                          </a:r>
                          <a:endParaRPr lang="en-US" altLang="zh-CN" sz="1500" dirty="0">
                            <a:latin typeface="+mj-ea"/>
                            <a:ea typeface="+mj-ea"/>
                          </a:endParaRPr>
                        </a:p>
                        <a:p>
                          <a:pPr algn="ctr"/>
                          <a:r>
                            <a:rPr lang="zh-CN" altLang="en-US" sz="1500" dirty="0">
                              <a:latin typeface="+mj-ea"/>
                              <a:ea typeface="+mj-ea"/>
                            </a:rPr>
                            <a:t>数量</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目标</a:t>
                          </a:r>
                          <a:endParaRPr lang="en-US" altLang="zh-CN" sz="1500" dirty="0">
                            <a:latin typeface="+mj-ea"/>
                            <a:ea typeface="+mj-ea"/>
                          </a:endParaRPr>
                        </a:p>
                        <a:p>
                          <a:pPr algn="ctr"/>
                          <a:r>
                            <a:rPr lang="zh-CN" altLang="en-US" sz="1500" dirty="0">
                              <a:latin typeface="+mj-ea"/>
                              <a:ea typeface="+mj-ea"/>
                            </a:rPr>
                            <a:t>研究问题</a:t>
                          </a:r>
                          <a:endParaRPr lang="zh-CN" altLang="en-US" sz="1500" dirty="0">
                            <a:latin typeface="+mj-ea"/>
                            <a:ea typeface="+mj-ea"/>
                          </a:endParaRPr>
                        </a:p>
                      </a:txBody>
                      <a:tcPr marL="77702" marR="77702" marT="38851" marB="38851" anchor="ctr"/>
                    </a:tc>
                  </a:tr>
                  <a:tr h="475774">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500" b="1" i="1" smtClean="0">
                                        <a:latin typeface="Cambria Math" panose="02040503050406030204" pitchFamily="18" charset="0"/>
                                        <a:ea typeface="+mj-ea"/>
                                      </a:rPr>
                                    </m:ctrlPr>
                                  </m:sSubPr>
                                  <m:e>
                                    <m:r>
                                      <a:rPr lang="en-US" altLang="zh-CN" sz="1500" b="1" i="1" smtClean="0">
                                        <a:latin typeface="Cambria Math" panose="02040503050406030204" pitchFamily="18" charset="0"/>
                                        <a:ea typeface="+mj-ea"/>
                                      </a:rPr>
                                      <m:t>𝐃𝐚𝐭𝐚</m:t>
                                    </m:r>
                                  </m:e>
                                  <m:sub>
                                    <m:r>
                                      <a:rPr lang="en-US" altLang="zh-CN" sz="1500" b="1" i="1" smtClean="0">
                                        <a:latin typeface="Cambria Math" panose="02040503050406030204" pitchFamily="18" charset="0"/>
                                        <a:ea typeface="+mj-ea"/>
                                      </a:rPr>
                                      <m:t>𝐭𝐞𝐬𝐭</m:t>
                                    </m:r>
                                  </m:sub>
                                </m:sSub>
                              </m:oMath>
                            </m:oMathPara>
                          </a14:m>
                          <a:endParaRPr lang="en-US" sz="1500" b="1" dirty="0">
                            <a:latin typeface="+mj-ea"/>
                            <a:ea typeface="+mj-ea"/>
                          </a:endParaRPr>
                        </a:p>
                      </a:txBody>
                      <a:tcPr marL="77702" marR="77702" marT="38851" marB="38851" anchor="ctr"/>
                    </a:tc>
                    <a:tc>
                      <a:txBody>
                        <a:bodyPr/>
                        <a:lstStyle/>
                        <a:p>
                          <a:pPr algn="ctr"/>
                          <a:r>
                            <a:rPr lang="zh-CN" altLang="en-US" sz="1500" dirty="0">
                              <a:latin typeface="+mj-ea"/>
                              <a:ea typeface="+mj-ea"/>
                            </a:rPr>
                            <a:t>高度可疑保活</a:t>
                          </a:r>
                          <a:r>
                            <a:rPr lang="en-US" altLang="zh-CN" sz="1500" dirty="0">
                              <a:latin typeface="+mj-ea"/>
                              <a:ea typeface="+mj-ea"/>
                            </a:rPr>
                            <a:t>APP</a:t>
                          </a:r>
                          <a:r>
                            <a:rPr lang="zh-CN" altLang="en-US" sz="1500" dirty="0">
                              <a:latin typeface="+mj-ea"/>
                              <a:ea typeface="+mj-ea"/>
                            </a:rPr>
                            <a:t>数据集</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华为应用市场</a:t>
                          </a:r>
                          <a:endParaRPr lang="en-US" altLang="zh-CN" sz="1500" dirty="0">
                            <a:latin typeface="+mj-ea"/>
                            <a:ea typeface="+mj-ea"/>
                          </a:endParaRPr>
                        </a:p>
                        <a:p>
                          <a:pPr algn="ctr"/>
                          <a:r>
                            <a:rPr lang="zh-CN" altLang="en-US" sz="1500" dirty="0">
                              <a:latin typeface="+mj-ea"/>
                              <a:ea typeface="+mj-ea"/>
                            </a:rPr>
                            <a:t>（与华为安全部合作）</a:t>
                          </a:r>
                          <a:endParaRPr lang="zh-CN" altLang="en-US" sz="1500" dirty="0">
                            <a:latin typeface="+mj-ea"/>
                            <a:ea typeface="+mj-ea"/>
                          </a:endParaRPr>
                        </a:p>
                      </a:txBody>
                      <a:tcPr marL="77702" marR="77702" marT="38851" marB="38851" anchor="ctr"/>
                    </a:tc>
                    <a:tc>
                      <a:txBody>
                        <a:bodyPr/>
                        <a:lstStyle/>
                        <a:p>
                          <a:pPr algn="ctr"/>
                          <a:r>
                            <a:rPr lang="en-US" altLang="zh-CN" sz="1500" dirty="0">
                              <a:latin typeface="+mj-ea"/>
                              <a:ea typeface="+mj-ea"/>
                            </a:rPr>
                            <a:t>252</a:t>
                          </a:r>
                          <a:endParaRPr lang="en-US" altLang="zh-CN" sz="1500" dirty="0">
                            <a:latin typeface="+mj-ea"/>
                            <a:ea typeface="+mj-ea"/>
                          </a:endParaRPr>
                        </a:p>
                      </a:txBody>
                      <a:tcPr marL="77702" marR="77702" marT="38851" marB="38851" anchor="ctr"/>
                    </a:tc>
                    <a:tc>
                      <a:txBody>
                        <a:bodyPr/>
                        <a:lstStyle/>
                        <a:p>
                          <a:pPr algn="ctr"/>
                          <a:r>
                            <a:rPr lang="en-US" sz="1500" dirty="0">
                              <a:latin typeface="+mj-ea"/>
                              <a:ea typeface="+mj-ea"/>
                            </a:rPr>
                            <a:t>RQ1、RQ2</a:t>
                          </a:r>
                          <a:endParaRPr lang="en-US" sz="1500" dirty="0">
                            <a:latin typeface="+mj-ea"/>
                            <a:ea typeface="+mj-ea"/>
                          </a:endParaRPr>
                        </a:p>
                      </a:txBody>
                      <a:tcPr marL="77702" marR="77702" marT="38851" marB="38851" anchor="ctr"/>
                    </a:tc>
                  </a:tr>
                  <a:tr h="272443">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500" b="1" i="1" smtClean="0">
                                        <a:latin typeface="Cambria Math" panose="02040503050406030204" pitchFamily="18" charset="0"/>
                                        <a:ea typeface="+mj-ea"/>
                                      </a:rPr>
                                    </m:ctrlPr>
                                  </m:sSubPr>
                                  <m:e>
                                    <m:r>
                                      <a:rPr lang="en-US" altLang="zh-CN" sz="1500" b="1" i="1" smtClean="0">
                                        <a:latin typeface="Cambria Math" panose="02040503050406030204" pitchFamily="18" charset="0"/>
                                        <a:ea typeface="+mj-ea"/>
                                      </a:rPr>
                                      <m:t>𝐃𝐚𝐭𝐚</m:t>
                                    </m:r>
                                  </m:e>
                                  <m:sub>
                                    <m:r>
                                      <a:rPr lang="en-US" altLang="zh-CN" sz="1500" b="1" i="1" smtClean="0">
                                        <a:latin typeface="Cambria Math" panose="02040503050406030204" pitchFamily="18" charset="0"/>
                                        <a:ea typeface="+mj-ea"/>
                                      </a:rPr>
                                      <m:t>𝐰𝐢𝐥𝐝</m:t>
                                    </m:r>
                                  </m:sub>
                                </m:sSub>
                              </m:oMath>
                            </m:oMathPara>
                          </a14:m>
                          <a:endParaRPr lang="en-US" sz="1500" b="1" dirty="0">
                            <a:latin typeface="+mj-ea"/>
                            <a:ea typeface="+mj-ea"/>
                          </a:endParaRPr>
                        </a:p>
                      </a:txBody>
                      <a:tcPr marL="77702" marR="77702" marT="38851" marB="38851" anchor="ctr"/>
                    </a:tc>
                    <a:tc>
                      <a:txBody>
                        <a:bodyPr/>
                        <a:lstStyle/>
                        <a:p>
                          <a:pPr algn="ctr"/>
                          <a:r>
                            <a:rPr lang="en-US" sz="1500" dirty="0">
                              <a:latin typeface="+mj-ea"/>
                              <a:ea typeface="+mj-ea"/>
                            </a:rPr>
                            <a:t>XLDH</a:t>
                          </a:r>
                          <a:r>
                            <a:rPr lang="zh-CN" altLang="en-US" sz="1500" dirty="0">
                              <a:latin typeface="+mj-ea"/>
                              <a:ea typeface="+mj-ea"/>
                            </a:rPr>
                            <a:t>数据子集</a:t>
                          </a:r>
                          <a:endParaRPr lang="zh-CN" altLang="en-US" sz="1500" dirty="0">
                            <a:latin typeface="+mj-ea"/>
                            <a:ea typeface="+mj-ea"/>
                          </a:endParaRPr>
                        </a:p>
                      </a:txBody>
                      <a:tcPr marL="77702" marR="77702" marT="38851" marB="38851" anchor="ctr"/>
                    </a:tc>
                    <a:tc>
                      <a:txBody>
                        <a:bodyPr/>
                        <a:lstStyle/>
                        <a:p>
                          <a:pPr algn="ctr"/>
                          <a:r>
                            <a:rPr lang="en-US" sz="1500" dirty="0">
                              <a:latin typeface="+mj-ea"/>
                              <a:ea typeface="+mj-ea"/>
                            </a:rPr>
                            <a:t>XLDH</a:t>
                          </a:r>
                          <a:r>
                            <a:rPr lang="zh-CN" altLang="en-US" sz="1500" dirty="0">
                              <a:latin typeface="+mj-ea"/>
                              <a:ea typeface="+mj-ea"/>
                            </a:rPr>
                            <a:t>数据集 </a:t>
                          </a:r>
                          <a:endParaRPr lang="en-US" altLang="zh-CN" sz="1500" dirty="0">
                            <a:latin typeface="+mj-ea"/>
                            <a:ea typeface="+mj-ea"/>
                          </a:endParaRPr>
                        </a:p>
                      </a:txBody>
                      <a:tcPr marL="77702" marR="77702" marT="38851" marB="38851" anchor="ctr"/>
                    </a:tc>
                    <a:tc>
                      <a:txBody>
                        <a:bodyPr/>
                        <a:lstStyle/>
                        <a:p>
                          <a:pPr algn="ctr"/>
                          <a:r>
                            <a:rPr lang="en-US" altLang="zh-CN" sz="1500">
                              <a:latin typeface="+mj-ea"/>
                              <a:ea typeface="+mj-ea"/>
                            </a:rPr>
                            <a:t>971</a:t>
                          </a:r>
                          <a:endParaRPr lang="en-US" altLang="zh-CN" sz="1500">
                            <a:latin typeface="+mj-ea"/>
                            <a:ea typeface="+mj-ea"/>
                          </a:endParaRPr>
                        </a:p>
                      </a:txBody>
                      <a:tcPr marL="77702" marR="77702" marT="38851" marB="38851" anchor="ctr"/>
                    </a:tc>
                    <a:tc>
                      <a:txBody>
                        <a:bodyPr/>
                        <a:lstStyle/>
                        <a:p>
                          <a:pPr algn="ctr"/>
                          <a:r>
                            <a:rPr lang="en-US" sz="1500">
                              <a:latin typeface="+mj-ea"/>
                              <a:ea typeface="+mj-ea"/>
                            </a:rPr>
                            <a:t>RQ3</a:t>
                          </a:r>
                          <a:endParaRPr lang="en-US" sz="1500">
                            <a:latin typeface="+mj-ea"/>
                            <a:ea typeface="+mj-ea"/>
                          </a:endParaRPr>
                        </a:p>
                      </a:txBody>
                      <a:tcPr marL="77702" marR="77702" marT="38851" marB="38851" anchor="ctr"/>
                    </a:tc>
                  </a:tr>
                  <a:tr h="475774">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500" b="1" i="1" smtClean="0">
                                        <a:latin typeface="Cambria Math" panose="02040503050406030204" pitchFamily="18" charset="0"/>
                                        <a:ea typeface="+mj-ea"/>
                                      </a:rPr>
                                    </m:ctrlPr>
                                  </m:sSubPr>
                                  <m:e>
                                    <m:r>
                                      <a:rPr lang="en-US" altLang="zh-CN" sz="1500" b="1" i="1" smtClean="0">
                                        <a:latin typeface="Cambria Math" panose="02040503050406030204" pitchFamily="18" charset="0"/>
                                        <a:ea typeface="+mj-ea"/>
                                      </a:rPr>
                                      <m:t>𝐃𝐞𝐬𝐜</m:t>
                                    </m:r>
                                  </m:e>
                                  <m:sub>
                                    <m:r>
                                      <a:rPr lang="en-US" altLang="zh-CN" sz="1500" b="1" i="1" smtClean="0">
                                        <a:latin typeface="Cambria Math" panose="02040503050406030204" pitchFamily="18" charset="0"/>
                                        <a:ea typeface="+mj-ea"/>
                                      </a:rPr>
                                      <m:t>𝐭𝐞𝐬𝐭</m:t>
                                    </m:r>
                                  </m:sub>
                                </m:sSub>
                              </m:oMath>
                            </m:oMathPara>
                          </a14:m>
                          <a:endParaRPr lang="en-US" sz="1500" b="1" dirty="0">
                            <a:latin typeface="+mj-ea"/>
                            <a:ea typeface="+mj-ea"/>
                          </a:endParaRPr>
                        </a:p>
                      </a:txBody>
                      <a:tcPr marL="77702" marR="77702" marT="38851" marB="38851" anchor="ctr"/>
                    </a:tc>
                    <a:tc>
                      <a:txBody>
                        <a:bodyPr/>
                        <a:lstStyle/>
                        <a:p>
                          <a:pPr algn="ctr"/>
                          <a:r>
                            <a:rPr lang="zh-CN" altLang="en-US" sz="1500" dirty="0">
                              <a:latin typeface="+mj-ea"/>
                              <a:ea typeface="+mj-ea"/>
                            </a:rPr>
                            <a:t>功能描述数据集①</a:t>
                          </a:r>
                          <a:endParaRPr lang="zh-CN" altLang="en-US" sz="1500" dirty="0">
                            <a:latin typeface="+mj-ea"/>
                            <a:ea typeface="+mj-ea"/>
                          </a:endParaRPr>
                        </a:p>
                      </a:txBody>
                      <a:tcPr marL="77702" marR="77702" marT="38851" marB="38851" anchor="ctr"/>
                    </a:tc>
                    <a:tc>
                      <a:txBody>
                        <a:bodyPr/>
                        <a:lstStyle/>
                        <a:p>
                          <a:pPr algn="ctr"/>
                          <a:r>
                            <a:rPr lang="en-US" sz="1500" dirty="0" err="1">
                              <a:latin typeface="+mj-ea"/>
                              <a:ea typeface="+mj-ea"/>
                            </a:rPr>
                            <a:t>APKPure</a:t>
                          </a:r>
                          <a:endParaRPr lang="en-US" sz="1500" dirty="0">
                            <a:latin typeface="+mj-ea"/>
                            <a:ea typeface="+mj-ea"/>
                          </a:endParaRPr>
                        </a:p>
                        <a:p>
                          <a:pPr algn="ctr"/>
                          <a:r>
                            <a:rPr lang="en-US" sz="1500" dirty="0">
                              <a:latin typeface="+mj-ea"/>
                              <a:ea typeface="+mj-ea"/>
                            </a:rPr>
                            <a:t>（Python</a:t>
                          </a:r>
                          <a:r>
                            <a:rPr lang="zh-CN" altLang="en-US" sz="1500" dirty="0">
                              <a:latin typeface="+mj-ea"/>
                              <a:ea typeface="+mj-ea"/>
                            </a:rPr>
                            <a:t>爬取）</a:t>
                          </a:r>
                          <a:endParaRPr lang="zh-CN" altLang="en-US" sz="1500" dirty="0">
                            <a:latin typeface="+mj-ea"/>
                            <a:ea typeface="+mj-ea"/>
                          </a:endParaRPr>
                        </a:p>
                      </a:txBody>
                      <a:tcPr marL="77702" marR="77702" marT="38851" marB="38851" anchor="ctr"/>
                    </a:tc>
                    <a:tc>
                      <a:txBody>
                        <a:bodyPr/>
                        <a:lstStyle/>
                        <a:p>
                          <a:pPr algn="ctr"/>
                          <a:r>
                            <a:rPr lang="en-US" altLang="zh-CN" sz="1500">
                              <a:latin typeface="+mj-ea"/>
                              <a:ea typeface="+mj-ea"/>
                            </a:rPr>
                            <a:t>252</a:t>
                          </a:r>
                          <a:endParaRPr lang="en-US" altLang="zh-CN" sz="1500">
                            <a:latin typeface="+mj-ea"/>
                            <a:ea typeface="+mj-ea"/>
                          </a:endParaRPr>
                        </a:p>
                      </a:txBody>
                      <a:tcPr marL="77702" marR="77702" marT="38851" marB="388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500" kern="1200" dirty="0">
                              <a:solidFill>
                                <a:schemeClr val="dk1"/>
                              </a:solidFill>
                              <a:latin typeface="+mj-ea"/>
                              <a:ea typeface="+mj-ea"/>
                            </a:rPr>
                            <a:t>RQ1、RQ2</a:t>
                          </a:r>
                          <a:endParaRPr lang="en-US" altLang="zh-CN" sz="1500" kern="1200" dirty="0">
                            <a:solidFill>
                              <a:schemeClr val="dk1"/>
                            </a:solidFill>
                            <a:latin typeface="+mj-ea"/>
                            <a:ea typeface="+mj-ea"/>
                          </a:endParaRPr>
                        </a:p>
                      </a:txBody>
                      <a:tcPr marL="77702" marR="77702" marT="38851" marB="38851" anchor="ctr"/>
                    </a:tc>
                  </a:tr>
                  <a:tr h="475774">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500" b="1" i="1" smtClean="0">
                                        <a:latin typeface="Cambria Math" panose="02040503050406030204" pitchFamily="18" charset="0"/>
                                        <a:ea typeface="+mj-ea"/>
                                      </a:rPr>
                                    </m:ctrlPr>
                                  </m:sSubPr>
                                  <m:e>
                                    <m:r>
                                      <a:rPr lang="en-US" altLang="zh-CN" sz="1500" b="1" i="1" smtClean="0">
                                        <a:latin typeface="Cambria Math" panose="02040503050406030204" pitchFamily="18" charset="0"/>
                                        <a:ea typeface="+mj-ea"/>
                                      </a:rPr>
                                      <m:t>𝐃𝐞𝐬𝐜</m:t>
                                    </m:r>
                                  </m:e>
                                  <m:sub>
                                    <m:r>
                                      <a:rPr lang="en-US" altLang="zh-CN" sz="1500" b="1" i="1" smtClean="0">
                                        <a:latin typeface="Cambria Math" panose="02040503050406030204" pitchFamily="18" charset="0"/>
                                        <a:ea typeface="+mj-ea"/>
                                      </a:rPr>
                                      <m:t>𝐰𝐢𝐥𝐝</m:t>
                                    </m:r>
                                  </m:sub>
                                </m:sSub>
                              </m:oMath>
                            </m:oMathPara>
                          </a14:m>
                          <a:endParaRPr lang="en-US" sz="1500" b="1" dirty="0">
                            <a:latin typeface="+mj-ea"/>
                            <a:ea typeface="+mj-ea"/>
                          </a:endParaRPr>
                        </a:p>
                      </a:txBody>
                      <a:tcPr marL="77702" marR="77702" marT="38851" marB="38851" anchor="ctr"/>
                    </a:tc>
                    <a:tc>
                      <a:txBody>
                        <a:bodyPr/>
                        <a:lstStyle/>
                        <a:p>
                          <a:pPr algn="ctr"/>
                          <a:r>
                            <a:rPr lang="zh-CN" altLang="en-US" sz="1500" dirty="0">
                              <a:latin typeface="+mj-ea"/>
                              <a:ea typeface="+mj-ea"/>
                            </a:rPr>
                            <a:t>功能描述数据集②</a:t>
                          </a:r>
                          <a:endParaRPr lang="zh-CN" altLang="en-US" sz="1500" dirty="0">
                            <a:latin typeface="+mj-ea"/>
                            <a:ea typeface="+mj-ea"/>
                          </a:endParaRPr>
                        </a:p>
                      </a:txBody>
                      <a:tcPr marL="77702" marR="77702" marT="38851" marB="38851" anchor="ctr"/>
                    </a:tc>
                    <a:tc>
                      <a:txBody>
                        <a:bodyPr/>
                        <a:lstStyle/>
                        <a:p>
                          <a:pPr algn="ctr"/>
                          <a:r>
                            <a:rPr lang="en-US" sz="1500" dirty="0" err="1">
                              <a:latin typeface="+mj-ea"/>
                              <a:ea typeface="+mj-ea"/>
                            </a:rPr>
                            <a:t>APKPure</a:t>
                          </a:r>
                          <a:endParaRPr lang="en-US" sz="1500" dirty="0">
                            <a:latin typeface="+mj-ea"/>
                            <a:ea typeface="+mj-ea"/>
                          </a:endParaRPr>
                        </a:p>
                        <a:p>
                          <a:pPr algn="ctr"/>
                          <a:r>
                            <a:rPr lang="en-US" sz="1500" dirty="0">
                              <a:latin typeface="+mj-ea"/>
                              <a:ea typeface="+mj-ea"/>
                            </a:rPr>
                            <a:t>（Python</a:t>
                          </a:r>
                          <a:r>
                            <a:rPr lang="zh-CN" altLang="en-US" sz="1500" dirty="0">
                              <a:latin typeface="+mj-ea"/>
                              <a:ea typeface="+mj-ea"/>
                            </a:rPr>
                            <a:t>爬取）</a:t>
                          </a:r>
                          <a:endParaRPr lang="zh-CN" altLang="en-US" sz="1500" dirty="0">
                            <a:latin typeface="+mj-ea"/>
                            <a:ea typeface="+mj-ea"/>
                          </a:endParaRPr>
                        </a:p>
                      </a:txBody>
                      <a:tcPr marL="77702" marR="77702" marT="38851" marB="38851" anchor="ctr"/>
                    </a:tc>
                    <a:tc>
                      <a:txBody>
                        <a:bodyPr/>
                        <a:lstStyle/>
                        <a:p>
                          <a:pPr algn="ctr"/>
                          <a:r>
                            <a:rPr lang="en-US" altLang="zh-CN" sz="1500">
                              <a:latin typeface="+mj-ea"/>
                              <a:ea typeface="+mj-ea"/>
                            </a:rPr>
                            <a:t>971</a:t>
                          </a:r>
                          <a:endParaRPr lang="en-US" altLang="zh-CN" sz="1500">
                            <a:latin typeface="+mj-ea"/>
                            <a:ea typeface="+mj-ea"/>
                          </a:endParaRPr>
                        </a:p>
                      </a:txBody>
                      <a:tcPr marL="77702" marR="77702" marT="38851" marB="388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500" kern="1200" dirty="0">
                              <a:solidFill>
                                <a:schemeClr val="dk1"/>
                              </a:solidFill>
                              <a:latin typeface="+mj-ea"/>
                              <a:ea typeface="+mj-ea"/>
                            </a:rPr>
                            <a:t>RQ3</a:t>
                          </a:r>
                          <a:endParaRPr lang="en-US" altLang="zh-CN" sz="1500" kern="1200" dirty="0">
                            <a:solidFill>
                              <a:schemeClr val="dk1"/>
                            </a:solidFill>
                            <a:latin typeface="+mj-ea"/>
                            <a:ea typeface="+mj-ea"/>
                            <a:cs typeface="+mn-cs"/>
                          </a:endParaRPr>
                        </a:p>
                      </a:txBody>
                      <a:tcPr marL="77702" marR="77702" marT="38851" marB="38851" anchor="ctr"/>
                    </a:tc>
                  </a:tr>
                </a:tbl>
              </a:graphicData>
            </a:graphic>
          </p:graphicFrame>
        </mc:Choice>
        <mc:Fallback xmlns="">
          <p:graphicFrame>
            <p:nvGraphicFramePr>
              <p:cNvPr id="5" name="表格 4"/>
              <p:cNvGraphicFramePr>
                <a:graphicFrameLocks noGrp="1"/>
              </p:cNvGraphicFramePr>
              <p:nvPr/>
            </p:nvGraphicFramePr>
            <p:xfrm>
              <a:off x="5447926" y="4088277"/>
              <a:ext cx="6744073" cy="2445910"/>
            </p:xfrm>
            <a:graphic>
              <a:graphicData uri="http://schemas.openxmlformats.org/drawingml/2006/table">
                <a:tbl>
                  <a:tblPr firstRow="1">
                    <a:tableStyleId>{073A0DAA-6AF3-43AB-8588-CEC1D06C72B9}</a:tableStyleId>
                  </a:tblPr>
                  <a:tblGrid>
                    <a:gridCol w="828004"/>
                    <a:gridCol w="1838258"/>
                    <a:gridCol w="2117325"/>
                    <a:gridCol w="627356"/>
                    <a:gridCol w="1333130"/>
                  </a:tblGrid>
                  <a:tr h="475774">
                    <a:tc>
                      <a:txBody>
                        <a:bodyPr/>
                        <a:lstStyle/>
                        <a:p>
                          <a:pPr algn="ctr"/>
                          <a:r>
                            <a:rPr lang="zh-CN" altLang="en-US" sz="1500" dirty="0">
                              <a:latin typeface="+mj-ea"/>
                              <a:ea typeface="+mj-ea"/>
                            </a:rPr>
                            <a:t>数据集</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数据集信息</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数据来源</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样本</a:t>
                          </a:r>
                          <a:endParaRPr lang="en-US" altLang="zh-CN" sz="1500" dirty="0">
                            <a:latin typeface="+mj-ea"/>
                            <a:ea typeface="+mj-ea"/>
                          </a:endParaRPr>
                        </a:p>
                        <a:p>
                          <a:pPr algn="ctr"/>
                          <a:r>
                            <a:rPr lang="zh-CN" altLang="en-US" sz="1500" dirty="0">
                              <a:latin typeface="+mj-ea"/>
                              <a:ea typeface="+mj-ea"/>
                            </a:rPr>
                            <a:t>数量</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目标</a:t>
                          </a:r>
                          <a:endParaRPr lang="en-US" altLang="zh-CN" sz="1500" dirty="0">
                            <a:latin typeface="+mj-ea"/>
                            <a:ea typeface="+mj-ea"/>
                          </a:endParaRPr>
                        </a:p>
                        <a:p>
                          <a:pPr algn="ctr"/>
                          <a:r>
                            <a:rPr lang="zh-CN" altLang="en-US" sz="1500" dirty="0">
                              <a:latin typeface="+mj-ea"/>
                              <a:ea typeface="+mj-ea"/>
                            </a:rPr>
                            <a:t>研究问题</a:t>
                          </a:r>
                          <a:endParaRPr lang="zh-CN" altLang="en-US" sz="1500" dirty="0">
                            <a:latin typeface="+mj-ea"/>
                            <a:ea typeface="+mj-ea"/>
                          </a:endParaRPr>
                        </a:p>
                      </a:txBody>
                      <a:tcPr marL="77702" marR="77702" marT="38851" marB="38851" anchor="ctr"/>
                    </a:tc>
                  </a:tr>
                  <a:tr h="534670">
                    <a:tc>
                      <a:txBody>
                        <a:bodyPr/>
                        <a:lstStyle/>
                        <a:p>
                          <a:endParaRPr lang="zh-CN"/>
                        </a:p>
                      </a:txBody>
                      <a:tcPr marL="77702" marR="77702" marT="38851" marB="38851" anchor="ctr">
                        <a:blipFill>
                          <a:blip r:embed="rId1"/>
                        </a:blipFill>
                      </a:tcPr>
                    </a:tc>
                    <a:tc>
                      <a:txBody>
                        <a:bodyPr/>
                        <a:lstStyle/>
                        <a:p>
                          <a:pPr algn="ctr"/>
                          <a:r>
                            <a:rPr lang="zh-CN" altLang="en-US" sz="1500" dirty="0">
                              <a:latin typeface="+mj-ea"/>
                              <a:ea typeface="+mj-ea"/>
                            </a:rPr>
                            <a:t>高度可疑保活</a:t>
                          </a:r>
                          <a:r>
                            <a:rPr lang="en-US" altLang="zh-CN" sz="1500" dirty="0">
                              <a:latin typeface="+mj-ea"/>
                              <a:ea typeface="+mj-ea"/>
                            </a:rPr>
                            <a:t>APP</a:t>
                          </a:r>
                          <a:r>
                            <a:rPr lang="zh-CN" altLang="en-US" sz="1500" dirty="0">
                              <a:latin typeface="+mj-ea"/>
                              <a:ea typeface="+mj-ea"/>
                            </a:rPr>
                            <a:t>数据集</a:t>
                          </a:r>
                          <a:endParaRPr lang="zh-CN" altLang="en-US" sz="1500" dirty="0">
                            <a:latin typeface="+mj-ea"/>
                            <a:ea typeface="+mj-ea"/>
                          </a:endParaRPr>
                        </a:p>
                      </a:txBody>
                      <a:tcPr marL="77702" marR="77702" marT="38851" marB="38851" anchor="ctr"/>
                    </a:tc>
                    <a:tc>
                      <a:txBody>
                        <a:bodyPr/>
                        <a:lstStyle/>
                        <a:p>
                          <a:pPr algn="ctr"/>
                          <a:r>
                            <a:rPr lang="zh-CN" altLang="en-US" sz="1500" dirty="0">
                              <a:latin typeface="+mj-ea"/>
                              <a:ea typeface="+mj-ea"/>
                            </a:rPr>
                            <a:t>华为应用市场</a:t>
                          </a:r>
                          <a:endParaRPr lang="en-US" altLang="zh-CN" sz="1500" dirty="0">
                            <a:latin typeface="+mj-ea"/>
                            <a:ea typeface="+mj-ea"/>
                          </a:endParaRPr>
                        </a:p>
                        <a:p>
                          <a:pPr algn="ctr"/>
                          <a:r>
                            <a:rPr lang="zh-CN" altLang="en-US" sz="1500" dirty="0">
                              <a:latin typeface="+mj-ea"/>
                              <a:ea typeface="+mj-ea"/>
                            </a:rPr>
                            <a:t>（与华为安全部合作）</a:t>
                          </a:r>
                          <a:endParaRPr lang="zh-CN" altLang="en-US" sz="1500" dirty="0">
                            <a:latin typeface="+mj-ea"/>
                            <a:ea typeface="+mj-ea"/>
                          </a:endParaRPr>
                        </a:p>
                      </a:txBody>
                      <a:tcPr marL="77702" marR="77702" marT="38851" marB="38851" anchor="ctr"/>
                    </a:tc>
                    <a:tc>
                      <a:txBody>
                        <a:bodyPr/>
                        <a:lstStyle/>
                        <a:p>
                          <a:pPr algn="ctr"/>
                          <a:r>
                            <a:rPr lang="en-US" altLang="zh-CN" sz="1500" dirty="0">
                              <a:latin typeface="+mj-ea"/>
                              <a:ea typeface="+mj-ea"/>
                            </a:rPr>
                            <a:t>252</a:t>
                          </a:r>
                          <a:endParaRPr lang="en-US" altLang="zh-CN" sz="1500" dirty="0">
                            <a:latin typeface="+mj-ea"/>
                            <a:ea typeface="+mj-ea"/>
                          </a:endParaRPr>
                        </a:p>
                      </a:txBody>
                      <a:tcPr marL="77702" marR="77702" marT="38851" marB="38851" anchor="ctr"/>
                    </a:tc>
                    <a:tc>
                      <a:txBody>
                        <a:bodyPr/>
                        <a:lstStyle/>
                        <a:p>
                          <a:pPr algn="ctr"/>
                          <a:r>
                            <a:rPr lang="en-US" sz="1500" dirty="0">
                              <a:latin typeface="+mj-ea"/>
                              <a:ea typeface="+mj-ea"/>
                            </a:rPr>
                            <a:t>RQ1、RQ2</a:t>
                          </a:r>
                          <a:endParaRPr lang="en-US" sz="1500" dirty="0">
                            <a:latin typeface="+mj-ea"/>
                            <a:ea typeface="+mj-ea"/>
                          </a:endParaRPr>
                        </a:p>
                      </a:txBody>
                      <a:tcPr marL="77702" marR="77702" marT="38851" marB="38851" anchor="ctr"/>
                    </a:tc>
                  </a:tr>
                  <a:tr h="306070">
                    <a:tc>
                      <a:txBody>
                        <a:bodyPr/>
                        <a:lstStyle/>
                        <a:p>
                          <a:endParaRPr lang="zh-CN"/>
                        </a:p>
                      </a:txBody>
                      <a:tcPr marL="77702" marR="77702" marT="38851" marB="38851" anchor="ctr">
                        <a:blipFill>
                          <a:blip r:embed="rId1"/>
                        </a:blipFill>
                      </a:tcPr>
                    </a:tc>
                    <a:tc>
                      <a:txBody>
                        <a:bodyPr/>
                        <a:lstStyle/>
                        <a:p>
                          <a:pPr algn="ctr"/>
                          <a:r>
                            <a:rPr lang="en-US" sz="1500" dirty="0">
                              <a:latin typeface="+mj-ea"/>
                              <a:ea typeface="+mj-ea"/>
                            </a:rPr>
                            <a:t>XLDH</a:t>
                          </a:r>
                          <a:r>
                            <a:rPr lang="zh-CN" altLang="en-US" sz="1500" dirty="0">
                              <a:latin typeface="+mj-ea"/>
                              <a:ea typeface="+mj-ea"/>
                            </a:rPr>
                            <a:t>数据子集</a:t>
                          </a:r>
                          <a:endParaRPr lang="zh-CN" altLang="en-US" sz="1500" dirty="0">
                            <a:latin typeface="+mj-ea"/>
                            <a:ea typeface="+mj-ea"/>
                          </a:endParaRPr>
                        </a:p>
                      </a:txBody>
                      <a:tcPr marL="77702" marR="77702" marT="38851" marB="38851" anchor="ctr"/>
                    </a:tc>
                    <a:tc>
                      <a:txBody>
                        <a:bodyPr/>
                        <a:lstStyle/>
                        <a:p>
                          <a:pPr algn="ctr"/>
                          <a:r>
                            <a:rPr lang="en-US" sz="1500" dirty="0">
                              <a:latin typeface="+mj-ea"/>
                              <a:ea typeface="+mj-ea"/>
                            </a:rPr>
                            <a:t>XLDH</a:t>
                          </a:r>
                          <a:r>
                            <a:rPr lang="zh-CN" altLang="en-US" sz="1500" dirty="0">
                              <a:latin typeface="+mj-ea"/>
                              <a:ea typeface="+mj-ea"/>
                            </a:rPr>
                            <a:t>数据集 </a:t>
                          </a:r>
                          <a:endParaRPr lang="en-US" altLang="zh-CN" sz="1500" dirty="0">
                            <a:latin typeface="+mj-ea"/>
                            <a:ea typeface="+mj-ea"/>
                          </a:endParaRPr>
                        </a:p>
                      </a:txBody>
                      <a:tcPr marL="77702" marR="77702" marT="38851" marB="38851" anchor="ctr"/>
                    </a:tc>
                    <a:tc>
                      <a:txBody>
                        <a:bodyPr/>
                        <a:lstStyle/>
                        <a:p>
                          <a:pPr algn="ctr"/>
                          <a:r>
                            <a:rPr lang="en-US" altLang="zh-CN" sz="1500">
                              <a:latin typeface="+mj-ea"/>
                              <a:ea typeface="+mj-ea"/>
                            </a:rPr>
                            <a:t>971</a:t>
                          </a:r>
                          <a:endParaRPr lang="en-US" altLang="zh-CN" sz="1500">
                            <a:latin typeface="+mj-ea"/>
                            <a:ea typeface="+mj-ea"/>
                          </a:endParaRPr>
                        </a:p>
                      </a:txBody>
                      <a:tcPr marL="77702" marR="77702" marT="38851" marB="38851" anchor="ctr"/>
                    </a:tc>
                    <a:tc>
                      <a:txBody>
                        <a:bodyPr/>
                        <a:lstStyle/>
                        <a:p>
                          <a:pPr algn="ctr"/>
                          <a:r>
                            <a:rPr lang="en-US" sz="1500">
                              <a:latin typeface="+mj-ea"/>
                              <a:ea typeface="+mj-ea"/>
                            </a:rPr>
                            <a:t>RQ3</a:t>
                          </a:r>
                          <a:endParaRPr lang="en-US" sz="1500">
                            <a:latin typeface="+mj-ea"/>
                            <a:ea typeface="+mj-ea"/>
                          </a:endParaRPr>
                        </a:p>
                      </a:txBody>
                      <a:tcPr marL="77702" marR="77702" marT="38851" marB="38851" anchor="ctr"/>
                    </a:tc>
                  </a:tr>
                  <a:tr h="534670">
                    <a:tc>
                      <a:txBody>
                        <a:bodyPr/>
                        <a:lstStyle/>
                        <a:p>
                          <a:endParaRPr lang="zh-CN"/>
                        </a:p>
                      </a:txBody>
                      <a:tcPr marL="77702" marR="77702" marT="38851" marB="38851" anchor="ctr">
                        <a:blipFill>
                          <a:blip r:embed="rId1"/>
                        </a:blipFill>
                      </a:tcPr>
                    </a:tc>
                    <a:tc>
                      <a:txBody>
                        <a:bodyPr/>
                        <a:lstStyle/>
                        <a:p>
                          <a:pPr algn="ctr"/>
                          <a:r>
                            <a:rPr lang="zh-CN" altLang="en-US" sz="1500" dirty="0">
                              <a:latin typeface="+mj-ea"/>
                              <a:ea typeface="+mj-ea"/>
                            </a:rPr>
                            <a:t>功能描述数据集①</a:t>
                          </a:r>
                          <a:endParaRPr lang="zh-CN" altLang="en-US" sz="1500" dirty="0">
                            <a:latin typeface="+mj-ea"/>
                            <a:ea typeface="+mj-ea"/>
                          </a:endParaRPr>
                        </a:p>
                      </a:txBody>
                      <a:tcPr marL="77702" marR="77702" marT="38851" marB="38851" anchor="ctr"/>
                    </a:tc>
                    <a:tc>
                      <a:txBody>
                        <a:bodyPr/>
                        <a:lstStyle/>
                        <a:p>
                          <a:pPr algn="ctr"/>
                          <a:r>
                            <a:rPr lang="en-US" sz="1500" dirty="0" err="1">
                              <a:latin typeface="+mj-ea"/>
                              <a:ea typeface="+mj-ea"/>
                            </a:rPr>
                            <a:t>APKPure</a:t>
                          </a:r>
                          <a:endParaRPr lang="en-US" sz="1500" dirty="0">
                            <a:latin typeface="+mj-ea"/>
                            <a:ea typeface="+mj-ea"/>
                          </a:endParaRPr>
                        </a:p>
                        <a:p>
                          <a:pPr algn="ctr"/>
                          <a:r>
                            <a:rPr lang="en-US" sz="1500" dirty="0">
                              <a:latin typeface="+mj-ea"/>
                              <a:ea typeface="+mj-ea"/>
                            </a:rPr>
                            <a:t>（Python</a:t>
                          </a:r>
                          <a:r>
                            <a:rPr lang="zh-CN" altLang="en-US" sz="1500" dirty="0">
                              <a:latin typeface="+mj-ea"/>
                              <a:ea typeface="+mj-ea"/>
                            </a:rPr>
                            <a:t>爬取）</a:t>
                          </a:r>
                          <a:endParaRPr lang="zh-CN" altLang="en-US" sz="1500" dirty="0">
                            <a:latin typeface="+mj-ea"/>
                            <a:ea typeface="+mj-ea"/>
                          </a:endParaRPr>
                        </a:p>
                      </a:txBody>
                      <a:tcPr marL="77702" marR="77702" marT="38851" marB="38851" anchor="ctr"/>
                    </a:tc>
                    <a:tc>
                      <a:txBody>
                        <a:bodyPr/>
                        <a:lstStyle/>
                        <a:p>
                          <a:pPr algn="ctr"/>
                          <a:r>
                            <a:rPr lang="en-US" altLang="zh-CN" sz="1500">
                              <a:latin typeface="+mj-ea"/>
                              <a:ea typeface="+mj-ea"/>
                            </a:rPr>
                            <a:t>252</a:t>
                          </a:r>
                          <a:endParaRPr lang="en-US" altLang="zh-CN" sz="1500">
                            <a:latin typeface="+mj-ea"/>
                            <a:ea typeface="+mj-ea"/>
                          </a:endParaRPr>
                        </a:p>
                      </a:txBody>
                      <a:tcPr marL="77702" marR="77702" marT="38851" marB="388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500" kern="1200" dirty="0">
                              <a:solidFill>
                                <a:schemeClr val="dk1"/>
                              </a:solidFill>
                              <a:latin typeface="+mj-ea"/>
                              <a:ea typeface="+mj-ea"/>
                            </a:rPr>
                            <a:t>RQ1、RQ2</a:t>
                          </a:r>
                          <a:endParaRPr lang="en-US" altLang="zh-CN" sz="1500" kern="1200" dirty="0">
                            <a:solidFill>
                              <a:schemeClr val="dk1"/>
                            </a:solidFill>
                            <a:latin typeface="+mj-ea"/>
                            <a:ea typeface="+mj-ea"/>
                          </a:endParaRPr>
                        </a:p>
                      </a:txBody>
                      <a:tcPr marL="77702" marR="77702" marT="38851" marB="38851" anchor="ctr"/>
                    </a:tc>
                  </a:tr>
                  <a:tr h="534670">
                    <a:tc>
                      <a:txBody>
                        <a:bodyPr/>
                        <a:lstStyle/>
                        <a:p>
                          <a:endParaRPr lang="zh-CN"/>
                        </a:p>
                      </a:txBody>
                      <a:tcPr marL="77702" marR="77702" marT="38851" marB="38851" anchor="ctr">
                        <a:blipFill>
                          <a:blip r:embed="rId1"/>
                        </a:blipFill>
                      </a:tcPr>
                    </a:tc>
                    <a:tc>
                      <a:txBody>
                        <a:bodyPr/>
                        <a:lstStyle/>
                        <a:p>
                          <a:pPr algn="ctr"/>
                          <a:r>
                            <a:rPr lang="zh-CN" altLang="en-US" sz="1500" dirty="0">
                              <a:latin typeface="+mj-ea"/>
                              <a:ea typeface="+mj-ea"/>
                            </a:rPr>
                            <a:t>功能描述数据集②</a:t>
                          </a:r>
                          <a:endParaRPr lang="zh-CN" altLang="en-US" sz="1500" dirty="0">
                            <a:latin typeface="+mj-ea"/>
                            <a:ea typeface="+mj-ea"/>
                          </a:endParaRPr>
                        </a:p>
                      </a:txBody>
                      <a:tcPr marL="77702" marR="77702" marT="38851" marB="38851" anchor="ctr"/>
                    </a:tc>
                    <a:tc>
                      <a:txBody>
                        <a:bodyPr/>
                        <a:lstStyle/>
                        <a:p>
                          <a:pPr algn="ctr"/>
                          <a:r>
                            <a:rPr lang="en-US" sz="1500" dirty="0" err="1">
                              <a:latin typeface="+mj-ea"/>
                              <a:ea typeface="+mj-ea"/>
                            </a:rPr>
                            <a:t>APKPure</a:t>
                          </a:r>
                          <a:endParaRPr lang="en-US" sz="1500" dirty="0">
                            <a:latin typeface="+mj-ea"/>
                            <a:ea typeface="+mj-ea"/>
                          </a:endParaRPr>
                        </a:p>
                        <a:p>
                          <a:pPr algn="ctr"/>
                          <a:r>
                            <a:rPr lang="en-US" sz="1500" dirty="0">
                              <a:latin typeface="+mj-ea"/>
                              <a:ea typeface="+mj-ea"/>
                            </a:rPr>
                            <a:t>（Python</a:t>
                          </a:r>
                          <a:r>
                            <a:rPr lang="zh-CN" altLang="en-US" sz="1500" dirty="0">
                              <a:latin typeface="+mj-ea"/>
                              <a:ea typeface="+mj-ea"/>
                            </a:rPr>
                            <a:t>爬取）</a:t>
                          </a:r>
                          <a:endParaRPr lang="zh-CN" altLang="en-US" sz="1500" dirty="0">
                            <a:latin typeface="+mj-ea"/>
                            <a:ea typeface="+mj-ea"/>
                          </a:endParaRPr>
                        </a:p>
                      </a:txBody>
                      <a:tcPr marL="77702" marR="77702" marT="38851" marB="38851" anchor="ctr"/>
                    </a:tc>
                    <a:tc>
                      <a:txBody>
                        <a:bodyPr/>
                        <a:lstStyle/>
                        <a:p>
                          <a:pPr algn="ctr"/>
                          <a:r>
                            <a:rPr lang="en-US" altLang="zh-CN" sz="1500">
                              <a:latin typeface="+mj-ea"/>
                              <a:ea typeface="+mj-ea"/>
                            </a:rPr>
                            <a:t>971</a:t>
                          </a:r>
                          <a:endParaRPr lang="en-US" altLang="zh-CN" sz="1500">
                            <a:latin typeface="+mj-ea"/>
                            <a:ea typeface="+mj-ea"/>
                          </a:endParaRPr>
                        </a:p>
                      </a:txBody>
                      <a:tcPr marL="77702" marR="77702" marT="38851" marB="388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500" kern="1200" dirty="0">
                              <a:solidFill>
                                <a:schemeClr val="dk1"/>
                              </a:solidFill>
                              <a:latin typeface="+mj-ea"/>
                              <a:ea typeface="+mj-ea"/>
                            </a:rPr>
                            <a:t>RQ3</a:t>
                          </a:r>
                          <a:endParaRPr lang="en-US" altLang="zh-CN" sz="1500" kern="1200" dirty="0">
                            <a:solidFill>
                              <a:schemeClr val="dk1"/>
                            </a:solidFill>
                            <a:latin typeface="+mj-ea"/>
                            <a:ea typeface="+mj-ea"/>
                            <a:cs typeface="+mn-cs"/>
                          </a:endParaRPr>
                        </a:p>
                      </a:txBody>
                      <a:tcPr marL="77702" marR="77702" marT="38851" marB="38851" anchor="ctr"/>
                    </a:tc>
                  </a:tr>
                </a:tbl>
              </a:graphicData>
            </a:graphic>
          </p:graphicFrame>
        </mc:Fallback>
      </mc:AlternateContent>
      <p:sp>
        <p:nvSpPr>
          <p:cNvPr id="6" name="文本框 5"/>
          <p:cNvSpPr txBox="1"/>
          <p:nvPr/>
        </p:nvSpPr>
        <p:spPr>
          <a:xfrm>
            <a:off x="1294859" y="3834544"/>
            <a:ext cx="2282145" cy="430887"/>
          </a:xfrm>
          <a:prstGeom prst="rect">
            <a:avLst/>
          </a:prstGeom>
          <a:noFill/>
        </p:spPr>
        <p:txBody>
          <a:bodyPr wrap="square" rtlCol="0">
            <a:spAutoFit/>
          </a:bodyPr>
          <a:lstStyle/>
          <a:p>
            <a:pPr algn="ctr"/>
            <a:r>
              <a:rPr lang="zh-CN" altLang="en-US" sz="2200" b="1" dirty="0">
                <a:latin typeface="华文宋体" panose="02010600040101010101" pitchFamily="2" charset="-122"/>
                <a:ea typeface="华文宋体" panose="02010600040101010101" pitchFamily="2" charset="-122"/>
              </a:rPr>
              <a:t>实验软硬件环境</a:t>
            </a:r>
            <a:endParaRPr lang="zh-CN" altLang="en-US" sz="2200" b="1" dirty="0">
              <a:latin typeface="华文宋体" panose="02010600040101010101" pitchFamily="2" charset="-122"/>
              <a:ea typeface="华文宋体" panose="02010600040101010101" pitchFamily="2" charset="-122"/>
            </a:endParaRPr>
          </a:p>
        </p:txBody>
      </p:sp>
      <p:sp>
        <p:nvSpPr>
          <p:cNvPr id="7" name="文本框 6"/>
          <p:cNvSpPr txBox="1"/>
          <p:nvPr/>
        </p:nvSpPr>
        <p:spPr>
          <a:xfrm>
            <a:off x="7678891" y="3717032"/>
            <a:ext cx="2282145" cy="430887"/>
          </a:xfrm>
          <a:prstGeom prst="rect">
            <a:avLst/>
          </a:prstGeom>
          <a:noFill/>
        </p:spPr>
        <p:txBody>
          <a:bodyPr wrap="square" rtlCol="0">
            <a:spAutoFit/>
          </a:bodyPr>
          <a:lstStyle/>
          <a:p>
            <a:pPr algn="ctr"/>
            <a:r>
              <a:rPr lang="zh-CN" altLang="en-US" sz="2200" b="1" dirty="0">
                <a:latin typeface="华文宋体" panose="02010600040101010101" pitchFamily="2" charset="-122"/>
                <a:ea typeface="华文宋体" panose="02010600040101010101" pitchFamily="2" charset="-122"/>
              </a:rPr>
              <a:t>实验数据集设置</a:t>
            </a:r>
            <a:endParaRPr lang="zh-CN" altLang="en-US" sz="2200" b="1" dirty="0">
              <a:latin typeface="华文宋体" panose="02010600040101010101" pitchFamily="2" charset="-122"/>
              <a:ea typeface="华文宋体" panose="02010600040101010101" pitchFamily="2" charset="-122"/>
            </a:endParaRPr>
          </a:p>
        </p:txBody>
      </p:sp>
      <p:sp>
        <p:nvSpPr>
          <p:cNvPr id="8" name="文本框 7"/>
          <p:cNvSpPr txBox="1"/>
          <p:nvPr/>
        </p:nvSpPr>
        <p:spPr>
          <a:xfrm>
            <a:off x="4943872" y="6589779"/>
            <a:ext cx="7128792" cy="276999"/>
          </a:xfrm>
          <a:prstGeom prst="rect">
            <a:avLst/>
          </a:prstGeom>
          <a:noFill/>
        </p:spPr>
        <p:txBody>
          <a:bodyPr wrap="square" rtlCol="0">
            <a:spAutoFit/>
          </a:bodyPr>
          <a:lstStyle/>
          <a:p>
            <a:r>
              <a:rPr lang="en-US" altLang="zh-CN" sz="1200" dirty="0">
                <a:latin typeface="+mj-ea"/>
                <a:ea typeface="+mj-ea"/>
              </a:rPr>
              <a:t>[3] Wang, </a:t>
            </a:r>
            <a:r>
              <a:rPr lang="en-US" altLang="zh-CN" sz="1200" dirty="0" err="1">
                <a:latin typeface="+mj-ea"/>
                <a:ea typeface="+mj-ea"/>
              </a:rPr>
              <a:t>Jice</a:t>
            </a:r>
            <a:r>
              <a:rPr lang="en-US" altLang="zh-CN" sz="1200" dirty="0">
                <a:latin typeface="+mj-ea"/>
                <a:ea typeface="+mj-ea"/>
              </a:rPr>
              <a:t>. et al. (2021). Understanding Malicious Cross-library Data Harvesting on Android. </a:t>
            </a:r>
            <a:endParaRPr lang="zh-CN" altLang="en-US" sz="1200" dirty="0">
              <a:latin typeface="+mj-ea"/>
              <a:ea typeface="+mj-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4</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实验结果与分析</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RQ1.1</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 </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KALAD</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有效性</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保活行为识别有效性</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263352" y="1601250"/>
                <a:ext cx="11737304" cy="1884618"/>
              </a:xfrm>
              <a:prstGeom prst="rect">
                <a:avLst/>
              </a:prstGeom>
              <a:noFill/>
            </p:spPr>
            <p:txBody>
              <a:bodyPr wrap="square">
                <a:spAutoFit/>
              </a:bodyPr>
              <a:lstStyle/>
              <a:p>
                <a:pPr algn="just">
                  <a:lnSpc>
                    <a:spcPct val="150000"/>
                  </a:lnSpc>
                </a:pPr>
                <a:r>
                  <a:rPr lang="zh-CN" altLang="en-US" sz="2000" dirty="0">
                    <a:latin typeface="+mj-ea"/>
                    <a:ea typeface="+mj-ea"/>
                    <a:cs typeface="微软雅黑" panose="020B0503020204020204" pitchFamily="34" charset="-122"/>
                  </a:rPr>
                  <a:t>实验过程：</a:t>
                </a:r>
                <a:endParaRPr lang="en-US" altLang="zh-CN" sz="2000" dirty="0">
                  <a:latin typeface="+mj-ea"/>
                  <a:ea typeface="+mj-ea"/>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mj-ea"/>
                    <a:ea typeface="+mj-ea"/>
                    <a:cs typeface="微软雅黑" panose="020B0503020204020204" pitchFamily="34" charset="-122"/>
                  </a:rPr>
                  <a:t>将</a:t>
                </a:r>
                <a14:m>
                  <m:oMath xmlns:m="http://schemas.openxmlformats.org/officeDocument/2006/math">
                    <m:sSub>
                      <m:sSubPr>
                        <m:ctrlPr>
                          <a:rPr lang="en-US" altLang="zh-CN" sz="2000" i="1">
                            <a:latin typeface="Cambria Math" panose="02040503050406030204" pitchFamily="18" charset="0"/>
                            <a:ea typeface="+mj-ea"/>
                            <a:cs typeface="微软雅黑" panose="020B0503020204020204" pitchFamily="34" charset="-122"/>
                          </a:rPr>
                        </m:ctrlPr>
                      </m:sSubPr>
                      <m:e>
                        <m:r>
                          <m:rPr>
                            <m:sty m:val="p"/>
                          </m:rPr>
                          <a:rPr lang="en-US" altLang="zh-CN" sz="2000" b="0" i="1">
                            <a:latin typeface="Cambria Math" panose="02040503050406030204" pitchFamily="18" charset="0"/>
                            <a:ea typeface="+mj-ea"/>
                            <a:cs typeface="微软雅黑" panose="020B0503020204020204" pitchFamily="34" charset="-122"/>
                          </a:rPr>
                          <m:t>Data</m:t>
                        </m:r>
                      </m:e>
                      <m:sub>
                        <m:r>
                          <m:rPr>
                            <m:sty m:val="p"/>
                          </m:rPr>
                          <a:rPr lang="en-US" altLang="zh-CN" sz="2000" b="0" i="1">
                            <a:latin typeface="Cambria Math" panose="02040503050406030204" pitchFamily="18" charset="0"/>
                            <a:ea typeface="+mj-ea"/>
                            <a:cs typeface="微软雅黑" panose="020B0503020204020204" pitchFamily="34" charset="-122"/>
                          </a:rPr>
                          <m:t>test</m:t>
                        </m:r>
                      </m:sub>
                    </m:sSub>
                  </m:oMath>
                </a14:m>
                <a:r>
                  <a:rPr lang="zh-CN" altLang="en-US" sz="2000" dirty="0">
                    <a:latin typeface="+mj-ea"/>
                    <a:ea typeface="+mj-ea"/>
                    <a:cs typeface="微软雅黑" panose="020B0503020204020204" pitchFamily="34" charset="-122"/>
                  </a:rPr>
                  <a:t>的</a:t>
                </a:r>
                <a:r>
                  <a:rPr lang="en-US" altLang="zh-CN" sz="2000" dirty="0">
                    <a:latin typeface="+mj-ea"/>
                    <a:ea typeface="+mj-ea"/>
                    <a:cs typeface="微软雅黑" panose="020B0503020204020204" pitchFamily="34" charset="-122"/>
                  </a:rPr>
                  <a:t>252</a:t>
                </a:r>
                <a:r>
                  <a:rPr lang="zh-CN" altLang="en-US" sz="2000" dirty="0">
                    <a:latin typeface="+mj-ea"/>
                    <a:ea typeface="+mj-ea"/>
                    <a:cs typeface="微软雅黑" panose="020B0503020204020204" pitchFamily="34" charset="-122"/>
                  </a:rPr>
                  <a:t>个</a:t>
                </a:r>
                <a:r>
                  <a:rPr lang="en-US" altLang="zh-CN" sz="2000" dirty="0">
                    <a:latin typeface="+mj-ea"/>
                    <a:ea typeface="+mj-ea"/>
                    <a:cs typeface="微软雅黑" panose="020B0503020204020204" pitchFamily="34" charset="-122"/>
                  </a:rPr>
                  <a:t>APK</a:t>
                </a:r>
                <a:r>
                  <a:rPr lang="zh-CN" altLang="en-US" sz="2000" dirty="0">
                    <a:latin typeface="+mj-ea"/>
                    <a:ea typeface="+mj-ea"/>
                    <a:cs typeface="微软雅黑" panose="020B0503020204020204" pitchFamily="34" charset="-122"/>
                  </a:rPr>
                  <a:t>样本输入</a:t>
                </a:r>
                <a:r>
                  <a:rPr lang="en-US" altLang="zh-CN" sz="2000" dirty="0">
                    <a:latin typeface="+mj-ea"/>
                    <a:ea typeface="+mj-ea"/>
                    <a:cs typeface="微软雅黑" panose="020B0503020204020204" pitchFamily="34" charset="-122"/>
                  </a:rPr>
                  <a:t>KALAD</a:t>
                </a:r>
                <a:r>
                  <a:rPr lang="zh-CN" altLang="en-US" sz="2000" dirty="0">
                    <a:latin typeface="+mj-ea"/>
                    <a:ea typeface="+mj-ea"/>
                    <a:cs typeface="微软雅黑" panose="020B0503020204020204" pitchFamily="34" charset="-122"/>
                  </a:rPr>
                  <a:t>中执行静态分析</a:t>
                </a:r>
                <a:endParaRPr lang="en-US" altLang="zh-CN" sz="2000" dirty="0">
                  <a:latin typeface="+mj-ea"/>
                  <a:ea typeface="+mj-ea"/>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mj-ea"/>
                    <a:ea typeface="+mj-ea"/>
                    <a:cs typeface="微软雅黑" panose="020B0503020204020204" pitchFamily="34" charset="-122"/>
                  </a:rPr>
                  <a:t>完成后依次进行手动检查</a:t>
                </a:r>
                <a:endParaRPr lang="en-US" altLang="zh-CN" sz="2000" dirty="0">
                  <a:latin typeface="+mj-ea"/>
                  <a:ea typeface="+mj-ea"/>
                  <a:cs typeface="微软雅黑" panose="020B0503020204020204" pitchFamily="34" charset="-122"/>
                </a:endParaRPr>
              </a:p>
              <a:p>
                <a:pPr algn="just">
                  <a:lnSpc>
                    <a:spcPct val="150000"/>
                  </a:lnSpc>
                </a:pPr>
                <a:r>
                  <a:rPr lang="zh-CN" altLang="en-US" sz="2000" dirty="0">
                    <a:latin typeface="+mj-ea"/>
                    <a:ea typeface="+mj-ea"/>
                    <a:cs typeface="微软雅黑" panose="020B0503020204020204" pitchFamily="34" charset="-122"/>
                  </a:rPr>
                  <a:t>经过检查，在</a:t>
                </a:r>
                <a:r>
                  <a:rPr lang="en-US" altLang="zh-CN" sz="2000" dirty="0">
                    <a:latin typeface="+mj-ea"/>
                    <a:ea typeface="+mj-ea"/>
                    <a:cs typeface="微软雅黑" panose="020B0503020204020204" pitchFamily="34" charset="-122"/>
                  </a:rPr>
                  <a:t>252</a:t>
                </a:r>
                <a:r>
                  <a:rPr lang="zh-CN" altLang="en-US" sz="2000" dirty="0">
                    <a:latin typeface="+mj-ea"/>
                    <a:ea typeface="+mj-ea"/>
                    <a:cs typeface="微软雅黑" panose="020B0503020204020204" pitchFamily="34" charset="-122"/>
                  </a:rPr>
                  <a:t>个</a:t>
                </a:r>
                <a:r>
                  <a:rPr lang="en-US" altLang="zh-CN" sz="2000" dirty="0">
                    <a:latin typeface="+mj-ea"/>
                    <a:ea typeface="+mj-ea"/>
                    <a:cs typeface="微软雅黑" panose="020B0503020204020204" pitchFamily="34" charset="-122"/>
                  </a:rPr>
                  <a:t>APK</a:t>
                </a:r>
                <a:r>
                  <a:rPr lang="zh-CN" altLang="en-US" sz="2000" dirty="0">
                    <a:latin typeface="+mj-ea"/>
                    <a:ea typeface="+mj-ea"/>
                    <a:cs typeface="微软雅黑" panose="020B0503020204020204" pitchFamily="34" charset="-122"/>
                  </a:rPr>
                  <a:t>样本中，一共检测出</a:t>
                </a:r>
                <a:r>
                  <a:rPr lang="en-US" altLang="zh-CN" sz="2000" dirty="0">
                    <a:latin typeface="+mj-ea"/>
                    <a:ea typeface="+mj-ea"/>
                    <a:cs typeface="微软雅黑" panose="020B0503020204020204" pitchFamily="34" charset="-122"/>
                  </a:rPr>
                  <a:t>239</a:t>
                </a:r>
                <a:r>
                  <a:rPr lang="zh-CN" altLang="en-US" sz="2000" dirty="0">
                    <a:latin typeface="+mj-ea"/>
                    <a:ea typeface="+mj-ea"/>
                    <a:cs typeface="微软雅黑" panose="020B0503020204020204" pitchFamily="34" charset="-122"/>
                  </a:rPr>
                  <a:t>个</a:t>
                </a:r>
                <a:r>
                  <a:rPr lang="en-US" altLang="zh-CN" sz="2000" dirty="0">
                    <a:latin typeface="+mj-ea"/>
                    <a:ea typeface="+mj-ea"/>
                    <a:cs typeface="微软雅黑" panose="020B0503020204020204" pitchFamily="34" charset="-122"/>
                  </a:rPr>
                  <a:t>APK</a:t>
                </a:r>
                <a:r>
                  <a:rPr lang="zh-CN" altLang="en-US" sz="2000" dirty="0">
                    <a:latin typeface="+mj-ea"/>
                    <a:ea typeface="+mj-ea"/>
                    <a:cs typeface="微软雅黑" panose="020B0503020204020204" pitchFamily="34" charset="-122"/>
                  </a:rPr>
                  <a:t>存在</a:t>
                </a:r>
                <a:r>
                  <a:rPr lang="en-US" altLang="zh-CN" sz="2000" dirty="0">
                    <a:latin typeface="+mj-ea"/>
                    <a:ea typeface="+mj-ea"/>
                    <a:cs typeface="微软雅黑" panose="020B0503020204020204" pitchFamily="34" charset="-122"/>
                  </a:rPr>
                  <a:t>353</a:t>
                </a:r>
                <a:r>
                  <a:rPr lang="zh-CN" altLang="en-US" sz="2000" dirty="0">
                    <a:latin typeface="+mj-ea"/>
                    <a:ea typeface="+mj-ea"/>
                    <a:cs typeface="微软雅黑" panose="020B0503020204020204" pitchFamily="34" charset="-122"/>
                  </a:rPr>
                  <a:t>处保活行为，准确率结果如下：</a:t>
                </a:r>
                <a:endParaRPr lang="en-US" altLang="zh-CN" sz="2000" dirty="0">
                  <a:latin typeface="+mj-ea"/>
                  <a:ea typeface="+mj-ea"/>
                  <a:cs typeface="微软雅黑" panose="020B0503020204020204" pitchFamily="34"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263352" y="1601250"/>
                <a:ext cx="11737304" cy="1884618"/>
              </a:xfrm>
              <a:prstGeom prst="rect">
                <a:avLst/>
              </a:prstGeom>
              <a:blipFill rotWithShape="1">
                <a:blip r:embed="rId1"/>
                <a:stretch>
                  <a:fillRect l="-4" t="-22" r="4" b="19"/>
                </a:stretch>
              </a:blipFill>
            </p:spPr>
            <p:txBody>
              <a:bodyPr/>
              <a:lstStyle/>
              <a:p>
                <a:r>
                  <a:rPr lang="zh-CN" altLang="en-US">
                    <a:noFill/>
                  </a:rPr>
                  <a:t> </a:t>
                </a:r>
              </a:p>
            </p:txBody>
          </p:sp>
        </mc:Fallback>
      </mc:AlternateContent>
      <p:graphicFrame>
        <p:nvGraphicFramePr>
          <p:cNvPr id="6" name="表格 5"/>
          <p:cNvGraphicFramePr>
            <a:graphicFrameLocks noGrp="1"/>
          </p:cNvGraphicFramePr>
          <p:nvPr/>
        </p:nvGraphicFramePr>
        <p:xfrm>
          <a:off x="2207568" y="3687028"/>
          <a:ext cx="7776864" cy="1470164"/>
        </p:xfrm>
        <a:graphic>
          <a:graphicData uri="http://schemas.openxmlformats.org/drawingml/2006/table">
            <a:tbl>
              <a:tblPr firstRow="1">
                <a:tableStyleId>{5C22544A-7EE6-4342-B048-85BDC9FD1C3A}</a:tableStyleId>
              </a:tblPr>
              <a:tblGrid>
                <a:gridCol w="1714792"/>
                <a:gridCol w="1736462"/>
                <a:gridCol w="1614919"/>
                <a:gridCol w="1640359"/>
                <a:gridCol w="1070332"/>
              </a:tblGrid>
              <a:tr h="367541">
                <a:tc>
                  <a:txBody>
                    <a:bodyPr/>
                    <a:lstStyle/>
                    <a:p>
                      <a:pPr marL="0" marR="0" algn="ctr">
                        <a:lnSpc>
                          <a:spcPts val="1500"/>
                        </a:lnSpc>
                        <a:buNone/>
                      </a:pPr>
                      <a:r>
                        <a:rPr lang="zh-CN" altLang="en-US" sz="1600" kern="100" dirty="0">
                          <a:effectLst/>
                          <a:latin typeface="+mj-ea"/>
                          <a:ea typeface="+mj-ea"/>
                        </a:rPr>
                        <a:t>保活行为</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sz="1600" kern="100" dirty="0">
                          <a:effectLst/>
                          <a:latin typeface="+mj-ea"/>
                          <a:ea typeface="+mj-ea"/>
                        </a:rPr>
                        <a:t>KALAD</a:t>
                      </a:r>
                      <a:r>
                        <a:rPr lang="zh-CN" altLang="en-US" sz="1600" kern="100" dirty="0">
                          <a:effectLst/>
                          <a:latin typeface="+mj-ea"/>
                          <a:ea typeface="+mj-ea"/>
                        </a:rPr>
                        <a:t>检测结果</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手动检查结果</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差值</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准确率</a:t>
                      </a:r>
                      <a:endParaRPr lang="zh-CN" altLang="en-US" sz="1600" kern="100">
                        <a:effectLst/>
                        <a:latin typeface="+mj-ea"/>
                        <a:ea typeface="+mj-ea"/>
                      </a:endParaRPr>
                    </a:p>
                  </a:txBody>
                  <a:tcPr marL="68580" marR="68580" anchor="ctr"/>
                </a:tc>
              </a:tr>
              <a:tr h="367541">
                <a:tc>
                  <a:txBody>
                    <a:bodyPr/>
                    <a:lstStyle/>
                    <a:p>
                      <a:pPr marL="0" marR="0" algn="ctr">
                        <a:lnSpc>
                          <a:spcPts val="1500"/>
                        </a:lnSpc>
                        <a:buNone/>
                      </a:pPr>
                      <a:r>
                        <a:rPr lang="zh-CN" altLang="en-US" sz="1600" kern="100">
                          <a:effectLst/>
                          <a:latin typeface="+mj-ea"/>
                          <a:ea typeface="+mj-ea"/>
                        </a:rPr>
                        <a:t>无声音频</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28</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28</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0</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100%</a:t>
                      </a:r>
                      <a:endParaRPr lang="zh-CN" altLang="en-US" sz="1600" kern="100">
                        <a:effectLst/>
                        <a:latin typeface="+mj-ea"/>
                        <a:ea typeface="+mj-ea"/>
                      </a:endParaRPr>
                    </a:p>
                  </a:txBody>
                  <a:tcPr marL="68580" marR="68580" anchor="ctr"/>
                </a:tc>
              </a:tr>
              <a:tr h="367541">
                <a:tc>
                  <a:txBody>
                    <a:bodyPr/>
                    <a:lstStyle/>
                    <a:p>
                      <a:pPr marL="0" marR="0" algn="ctr">
                        <a:lnSpc>
                          <a:spcPts val="1500"/>
                        </a:lnSpc>
                        <a:buNone/>
                      </a:pPr>
                      <a:r>
                        <a:rPr lang="zh-CN" altLang="en-US" sz="1600" kern="100">
                          <a:effectLst/>
                          <a:latin typeface="+mj-ea"/>
                          <a:ea typeface="+mj-ea"/>
                        </a:rPr>
                        <a:t>单像素</a:t>
                      </a:r>
                      <a:r>
                        <a:rPr lang="en-US" sz="1600" kern="100">
                          <a:effectLst/>
                          <a:latin typeface="+mj-ea"/>
                          <a:ea typeface="+mj-ea"/>
                        </a:rPr>
                        <a:t>Activity</a:t>
                      </a:r>
                      <a:endParaRPr 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195</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195</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0</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100%</a:t>
                      </a:r>
                      <a:endParaRPr lang="zh-CN" altLang="en-US" sz="1600" kern="100" dirty="0">
                        <a:effectLst/>
                        <a:latin typeface="+mj-ea"/>
                        <a:ea typeface="+mj-ea"/>
                      </a:endParaRPr>
                    </a:p>
                  </a:txBody>
                  <a:tcPr marL="68580" marR="68580" anchor="ctr"/>
                </a:tc>
              </a:tr>
              <a:tr h="367541">
                <a:tc>
                  <a:txBody>
                    <a:bodyPr/>
                    <a:lstStyle/>
                    <a:p>
                      <a:pPr marL="0" marR="0" algn="ctr">
                        <a:lnSpc>
                          <a:spcPts val="1500"/>
                        </a:lnSpc>
                        <a:buNone/>
                      </a:pPr>
                      <a:r>
                        <a:rPr lang="zh-CN" altLang="en-US" sz="1600" kern="100">
                          <a:effectLst/>
                          <a:latin typeface="+mj-ea"/>
                          <a:ea typeface="+mj-ea"/>
                        </a:rPr>
                        <a:t>灰色前台</a:t>
                      </a:r>
                      <a:r>
                        <a:rPr lang="en-US" sz="1600" kern="100">
                          <a:effectLst/>
                          <a:latin typeface="+mj-ea"/>
                          <a:ea typeface="+mj-ea"/>
                        </a:rPr>
                        <a:t>Service</a:t>
                      </a:r>
                      <a:endParaRPr 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84</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86</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漏检</a:t>
                      </a:r>
                      <a:r>
                        <a:rPr lang="en-US" altLang="zh-CN" sz="1600" kern="100">
                          <a:effectLst/>
                          <a:latin typeface="+mj-ea"/>
                          <a:ea typeface="+mj-ea"/>
                        </a:rPr>
                        <a:t>2</a:t>
                      </a:r>
                      <a:r>
                        <a:rPr lang="zh-CN" altLang="en-US" sz="1600" kern="100">
                          <a:effectLst/>
                          <a:latin typeface="+mj-ea"/>
                          <a:ea typeface="+mj-ea"/>
                        </a:rPr>
                        <a:t>个</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99.21%</a:t>
                      </a:r>
                      <a:endParaRPr lang="zh-CN" altLang="en-US" sz="1600" kern="100" dirty="0">
                        <a:effectLst/>
                        <a:latin typeface="+mj-ea"/>
                        <a:ea typeface="+mj-ea"/>
                      </a:endParaRPr>
                    </a:p>
                  </a:txBody>
                  <a:tcPr marL="68580" marR="68580" anchor="ctr"/>
                </a:tc>
              </a:tr>
            </a:tbl>
          </a:graphicData>
        </a:graphic>
      </p:graphicFrame>
      <p:sp>
        <p:nvSpPr>
          <p:cNvPr id="7" name="文本框 6"/>
          <p:cNvSpPr txBox="1"/>
          <p:nvPr/>
        </p:nvSpPr>
        <p:spPr>
          <a:xfrm>
            <a:off x="767408" y="5235439"/>
            <a:ext cx="10657184" cy="1289905"/>
          </a:xfrm>
          <a:prstGeom prst="rect">
            <a:avLst/>
          </a:prstGeom>
          <a:noFill/>
        </p:spPr>
        <p:txBody>
          <a:bodyPr wrap="square" rtlCol="0">
            <a:spAutoFit/>
          </a:bodyPr>
          <a:lstStyle/>
          <a:p>
            <a:pPr>
              <a:lnSpc>
                <a:spcPct val="150000"/>
              </a:lnSpc>
            </a:pPr>
            <a:r>
              <a:rPr lang="zh-CN" altLang="en-US" dirty="0">
                <a:latin typeface="+mj-ea"/>
                <a:ea typeface="+mj-ea"/>
              </a:rPr>
              <a:t>漏检的</a:t>
            </a:r>
            <a:r>
              <a:rPr lang="en-US" altLang="zh-CN" dirty="0">
                <a:latin typeface="+mj-ea"/>
                <a:ea typeface="+mj-ea"/>
              </a:rPr>
              <a:t>2</a:t>
            </a:r>
            <a:r>
              <a:rPr lang="zh-CN" altLang="en-US" dirty="0">
                <a:latin typeface="+mj-ea"/>
                <a:ea typeface="+mj-ea"/>
              </a:rPr>
              <a:t>个样本均使用了</a:t>
            </a:r>
            <a:r>
              <a:rPr lang="zh-CN" altLang="en-US" sz="1800" b="1" kern="100" dirty="0">
                <a:effectLst/>
                <a:latin typeface="+mj-ea"/>
                <a:ea typeface="+mj-ea"/>
                <a:cs typeface="Times New Roman" panose="02020603050405020304" pitchFamily="18" charset="0"/>
              </a:rPr>
              <a:t>字节跳动</a:t>
            </a:r>
            <a:r>
              <a:rPr lang="en-US" altLang="zh-CN" sz="1800" b="1" kern="100" dirty="0">
                <a:effectLst/>
                <a:latin typeface="+mj-ea"/>
                <a:ea typeface="+mj-ea"/>
                <a:cs typeface="Times New Roman" panose="02020603050405020304" pitchFamily="18" charset="0"/>
              </a:rPr>
              <a:t>SDK</a:t>
            </a:r>
            <a:r>
              <a:rPr lang="zh-CN" altLang="en-US" sz="1800" b="1" kern="100" dirty="0">
                <a:effectLst/>
                <a:latin typeface="+mj-ea"/>
                <a:ea typeface="+mj-ea"/>
                <a:cs typeface="Times New Roman" panose="02020603050405020304" pitchFamily="18" charset="0"/>
              </a:rPr>
              <a:t>的保活实现类（类名为</a:t>
            </a:r>
            <a:r>
              <a:rPr lang="en-US" altLang="zh-CN" sz="1800" b="1" kern="100" dirty="0" err="1">
                <a:effectLst/>
                <a:latin typeface="+mj-ea"/>
                <a:ea typeface="+mj-ea"/>
                <a:cs typeface="Times New Roman" panose="02020603050405020304" pitchFamily="18" charset="0"/>
              </a:rPr>
              <a:t>com.bytedance.mira.am.KeepAlive</a:t>
            </a:r>
            <a:r>
              <a:rPr lang="zh-CN" altLang="en-US" sz="1800" b="1" kern="100" dirty="0">
                <a:effectLst/>
                <a:latin typeface="+mj-ea"/>
                <a:ea typeface="+mj-ea"/>
                <a:cs typeface="Times New Roman" panose="02020603050405020304" pitchFamily="18" charset="0"/>
              </a:rPr>
              <a:t>）</a:t>
            </a:r>
            <a:r>
              <a:rPr lang="zh-CN" altLang="en-US" sz="1800" kern="100" dirty="0">
                <a:effectLst/>
                <a:latin typeface="+mj-ea"/>
                <a:ea typeface="+mj-ea"/>
                <a:cs typeface="Times New Roman" panose="02020603050405020304" pitchFamily="18" charset="0"/>
              </a:rPr>
              <a:t>其保活实现代码经过了</a:t>
            </a:r>
            <a:r>
              <a:rPr lang="zh-CN" altLang="en-US" sz="1800" b="1" kern="100" dirty="0">
                <a:effectLst/>
                <a:latin typeface="+mj-ea"/>
                <a:ea typeface="+mj-ea"/>
                <a:cs typeface="Times New Roman" panose="02020603050405020304" pitchFamily="18" charset="0"/>
              </a:rPr>
              <a:t>多轮逻辑跳转与代码混淆</a:t>
            </a:r>
            <a:r>
              <a:rPr lang="zh-CN" altLang="en-US" sz="1800" kern="100" dirty="0">
                <a:effectLst/>
                <a:latin typeface="+mj-ea"/>
                <a:ea typeface="+mj-ea"/>
                <a:cs typeface="Times New Roman" panose="02020603050405020304" pitchFamily="18" charset="0"/>
              </a:rPr>
              <a:t>，故而逃过了</a:t>
            </a:r>
            <a:r>
              <a:rPr lang="en-US" altLang="zh-CN" sz="1800" kern="100" dirty="0">
                <a:effectLst/>
                <a:latin typeface="+mj-ea"/>
                <a:ea typeface="+mj-ea"/>
                <a:cs typeface="Times New Roman" panose="02020603050405020304" pitchFamily="18" charset="0"/>
              </a:rPr>
              <a:t>KALAD</a:t>
            </a:r>
            <a:r>
              <a:rPr lang="zh-CN" altLang="en-US" sz="1800" kern="100" dirty="0">
                <a:effectLst/>
                <a:latin typeface="+mj-ea"/>
                <a:ea typeface="+mj-ea"/>
                <a:cs typeface="Times New Roman" panose="02020603050405020304" pitchFamily="18" charset="0"/>
              </a:rPr>
              <a:t>的检测。</a:t>
            </a:r>
            <a:endParaRPr lang="en-US" altLang="zh-CN" sz="1800" kern="100" dirty="0">
              <a:effectLst/>
              <a:latin typeface="+mj-ea"/>
              <a:ea typeface="+mj-ea"/>
              <a:cs typeface="Times New Roman" panose="02020603050405020304" pitchFamily="18" charset="0"/>
            </a:endParaRPr>
          </a:p>
          <a:p>
            <a:pPr>
              <a:lnSpc>
                <a:spcPct val="150000"/>
              </a:lnSpc>
            </a:pPr>
            <a:r>
              <a:rPr lang="zh-CN" altLang="en-US" dirty="0">
                <a:latin typeface="+mj-ea"/>
                <a:ea typeface="+mj-ea"/>
              </a:rPr>
              <a:t>但总体而言，</a:t>
            </a:r>
            <a:r>
              <a:rPr lang="en-US" altLang="zh-CN" dirty="0">
                <a:latin typeface="+mj-ea"/>
                <a:ea typeface="+mj-ea"/>
              </a:rPr>
              <a:t>KALAD</a:t>
            </a:r>
            <a:r>
              <a:rPr lang="zh-CN" altLang="en-US" dirty="0">
                <a:latin typeface="+mj-ea"/>
                <a:ea typeface="+mj-ea"/>
              </a:rPr>
              <a:t>对这三种保活行为的识别</a:t>
            </a:r>
            <a:r>
              <a:rPr lang="zh-CN" altLang="en-US" dirty="0">
                <a:solidFill>
                  <a:srgbClr val="FF0000"/>
                </a:solidFill>
                <a:latin typeface="+mj-ea"/>
                <a:ea typeface="+mj-ea"/>
              </a:rPr>
              <a:t>均达到了近乎</a:t>
            </a:r>
            <a:r>
              <a:rPr lang="en-US" altLang="zh-CN" dirty="0">
                <a:solidFill>
                  <a:srgbClr val="FF0000"/>
                </a:solidFill>
                <a:latin typeface="+mj-ea"/>
                <a:ea typeface="+mj-ea"/>
              </a:rPr>
              <a:t>100%</a:t>
            </a:r>
            <a:r>
              <a:rPr lang="zh-CN" altLang="en-US" dirty="0">
                <a:solidFill>
                  <a:srgbClr val="FF0000"/>
                </a:solidFill>
                <a:latin typeface="+mj-ea"/>
                <a:ea typeface="+mj-ea"/>
              </a:rPr>
              <a:t>的识别准确率。</a:t>
            </a:r>
            <a:endParaRPr lang="zh-CN" altLang="en-US" dirty="0">
              <a:solidFill>
                <a:srgbClr val="FF0000"/>
              </a:solidFill>
              <a:latin typeface="+mj-ea"/>
              <a:ea typeface="+mj-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4</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实验结果与分析</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dirty="0">
                <a:solidFill>
                  <a:schemeClr val="accent1"/>
                </a:solidFill>
                <a:latin typeface="华文楷体" panose="02010600040101010101" pitchFamily="2" charset="-122"/>
                <a:ea typeface="华文楷体" panose="02010600040101010101" pitchFamily="2" charset="-122"/>
                <a:cs typeface="JetBrains Mono" panose="02000009000000000000" pitchFamily="49" charset="0"/>
                <a:sym typeface="思源黑体 CN Bold" panose="02010600030101010101" pitchFamily="34" charset="-122"/>
              </a:rPr>
              <a:t>RQ1.2</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 </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KALAD</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有效性</a:t>
            </a: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大模型理解意图有效性</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263352" y="1601250"/>
                <a:ext cx="11737304" cy="1884618"/>
              </a:xfrm>
              <a:prstGeom prst="rect">
                <a:avLst/>
              </a:prstGeom>
              <a:noFill/>
            </p:spPr>
            <p:txBody>
              <a:bodyPr wrap="square">
                <a:sp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实验过程：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a:t>
                </a:r>
                <a14:m>
                  <m:oMath xmlns:m="http://schemas.openxmlformats.org/officeDocument/2006/math">
                    <m:sSub>
                      <m:sSubPr>
                        <m:ctrlPr>
                          <a:rPr lang="en-US" altLang="zh-CN" sz="2000" i="1" smtClean="0">
                            <a:latin typeface="Cambria Math" panose="02040503050406030204" pitchFamily="18" charset="0"/>
                            <a:ea typeface="+mj-ea"/>
                            <a:cs typeface="微软雅黑" panose="020B0503020204020204" pitchFamily="34" charset="-122"/>
                          </a:rPr>
                        </m:ctrlPr>
                      </m:sSubPr>
                      <m:e>
                        <m:r>
                          <m:rPr>
                            <m:sty m:val="p"/>
                          </m:rPr>
                          <a:rPr lang="en-US" altLang="zh-CN" sz="2000" b="0" i="1">
                            <a:latin typeface="Cambria Math" panose="02040503050406030204" pitchFamily="18" charset="0"/>
                            <a:ea typeface="+mj-ea"/>
                            <a:cs typeface="微软雅黑" panose="020B0503020204020204" pitchFamily="34" charset="-122"/>
                          </a:rPr>
                          <m:t>Data</m:t>
                        </m:r>
                      </m:e>
                      <m:sub>
                        <m:r>
                          <m:rPr>
                            <m:sty m:val="p"/>
                          </m:rPr>
                          <a:rPr lang="en-US" altLang="zh-CN" sz="2000" b="0" i="1">
                            <a:latin typeface="Cambria Math" panose="02040503050406030204" pitchFamily="18" charset="0"/>
                            <a:ea typeface="+mj-ea"/>
                            <a:cs typeface="微软雅黑" panose="020B0503020204020204" pitchFamily="34" charset="-122"/>
                          </a:rPr>
                          <m:t>test</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数据集中检出的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353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处保活行为</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经过</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次函数调用子图扩展后</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使用大模型处理分析</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完成后，对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353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处保活行为全部进行</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手动检查以确定它们的良恶性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实验结果：经过手动检查，一共存在</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317</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处良性保活行为和</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36</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处可能的恶意保活行为</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263352" y="1601250"/>
                <a:ext cx="11737304" cy="1884618"/>
              </a:xfrm>
              <a:prstGeom prst="rect">
                <a:avLst/>
              </a:prstGeom>
              <a:blipFill rotWithShape="1">
                <a:blip r:embed="rId1"/>
                <a:stretch>
                  <a:fillRect l="-4" t="-22" r="4" b="19"/>
                </a:stretch>
              </a:blipFill>
            </p:spPr>
            <p:txBody>
              <a:bodyPr/>
              <a:lstStyle/>
              <a:p>
                <a:r>
                  <a:rPr lang="zh-CN" altLang="en-US">
                    <a:noFill/>
                  </a:rPr>
                  <a:t> </a:t>
                </a:r>
              </a:p>
            </p:txBody>
          </p:sp>
        </mc:Fallback>
      </mc:AlternateContent>
      <p:graphicFrame>
        <p:nvGraphicFramePr>
          <p:cNvPr id="5" name="表格 4"/>
          <p:cNvGraphicFramePr>
            <a:graphicFrameLocks noGrp="1"/>
          </p:cNvGraphicFramePr>
          <p:nvPr/>
        </p:nvGraphicFramePr>
        <p:xfrm>
          <a:off x="1991545" y="3573016"/>
          <a:ext cx="8208909" cy="1720058"/>
        </p:xfrm>
        <a:graphic>
          <a:graphicData uri="http://schemas.openxmlformats.org/drawingml/2006/table">
            <a:tbl>
              <a:tblPr firstRow="1">
                <a:tableStyleId>{5C22544A-7EE6-4342-B048-85BDC9FD1C3A}</a:tableStyleId>
              </a:tblPr>
              <a:tblGrid>
                <a:gridCol w="1112175"/>
                <a:gridCol w="1112175"/>
                <a:gridCol w="1112175"/>
                <a:gridCol w="1112175"/>
                <a:gridCol w="1112175"/>
                <a:gridCol w="882678"/>
                <a:gridCol w="882678"/>
                <a:gridCol w="882678"/>
              </a:tblGrid>
              <a:tr h="495182">
                <a:tc>
                  <a:txBody>
                    <a:bodyPr/>
                    <a:lstStyle/>
                    <a:p>
                      <a:pPr marL="0" marR="0" algn="ctr">
                        <a:lnSpc>
                          <a:spcPts val="1500"/>
                        </a:lnSpc>
                        <a:buNone/>
                      </a:pPr>
                      <a:r>
                        <a:rPr lang="zh-CN" altLang="en-US" sz="1600" kern="100">
                          <a:effectLst/>
                          <a:latin typeface="+mj-ea"/>
                          <a:ea typeface="+mj-ea"/>
                        </a:rPr>
                        <a:t>扩展层数</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判良实良</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判良实恶</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dirty="0">
                          <a:effectLst/>
                          <a:latin typeface="+mj-ea"/>
                          <a:ea typeface="+mj-ea"/>
                        </a:rPr>
                        <a:t>判恶实良</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判恶实恶</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实良</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实恶</a:t>
                      </a:r>
                      <a:endParaRPr lang="zh-CN" altLang="en-US" sz="1600" kern="100">
                        <a:effectLst/>
                        <a:latin typeface="+mj-ea"/>
                        <a:ea typeface="+mj-ea"/>
                      </a:endParaRPr>
                    </a:p>
                  </a:txBody>
                  <a:tcPr marL="68580" marR="68580" anchor="ctr"/>
                </a:tc>
                <a:tc>
                  <a:txBody>
                    <a:bodyPr/>
                    <a:lstStyle/>
                    <a:p>
                      <a:pPr marL="0" marR="0" algn="ctr">
                        <a:lnSpc>
                          <a:spcPts val="1500"/>
                        </a:lnSpc>
                        <a:buNone/>
                      </a:pPr>
                      <a:r>
                        <a:rPr lang="zh-CN" altLang="en-US" sz="1600" kern="100">
                          <a:effectLst/>
                          <a:latin typeface="+mj-ea"/>
                          <a:ea typeface="+mj-ea"/>
                        </a:rPr>
                        <a:t>准确率</a:t>
                      </a:r>
                      <a:endParaRPr lang="zh-CN" altLang="en-US" sz="1600" kern="100">
                        <a:effectLst/>
                        <a:latin typeface="+mj-ea"/>
                        <a:ea typeface="+mj-ea"/>
                      </a:endParaRPr>
                    </a:p>
                  </a:txBody>
                  <a:tcPr marL="68580" marR="68580" anchor="ctr"/>
                </a:tc>
              </a:tr>
              <a:tr h="408292">
                <a:tc>
                  <a:txBody>
                    <a:bodyPr/>
                    <a:lstStyle/>
                    <a:p>
                      <a:pPr marL="0" marR="0" algn="ctr">
                        <a:lnSpc>
                          <a:spcPts val="1500"/>
                        </a:lnSpc>
                        <a:buNone/>
                      </a:pPr>
                      <a:r>
                        <a:rPr lang="en-US" altLang="zh-CN" sz="1600" kern="100" dirty="0">
                          <a:effectLst/>
                          <a:latin typeface="+mj-ea"/>
                          <a:ea typeface="+mj-ea"/>
                        </a:rPr>
                        <a:t>0</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283</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22</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34</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14</a:t>
                      </a:r>
                      <a:endParaRPr lang="zh-CN" altLang="en-US" sz="1600" kern="100" dirty="0">
                        <a:effectLst/>
                        <a:latin typeface="+mj-ea"/>
                        <a:ea typeface="+mj-ea"/>
                      </a:endParaRPr>
                    </a:p>
                  </a:txBody>
                  <a:tcPr marL="68580" marR="68580" anchor="ctr"/>
                </a:tc>
                <a:tc rowSpan="3">
                  <a:txBody>
                    <a:bodyPr/>
                    <a:lstStyle/>
                    <a:p>
                      <a:pPr marL="0" marR="0" algn="ctr">
                        <a:lnSpc>
                          <a:spcPts val="1500"/>
                        </a:lnSpc>
                        <a:buNone/>
                      </a:pPr>
                      <a:r>
                        <a:rPr lang="en-US" altLang="zh-CN" sz="1600" kern="100" dirty="0">
                          <a:effectLst/>
                          <a:latin typeface="+mj-ea"/>
                          <a:ea typeface="+mj-ea"/>
                        </a:rPr>
                        <a:t>317</a:t>
                      </a:r>
                      <a:endParaRPr lang="en-US" altLang="zh-CN" sz="1600" kern="100" dirty="0">
                        <a:effectLst/>
                        <a:latin typeface="+mj-ea"/>
                        <a:ea typeface="+mj-ea"/>
                      </a:endParaRPr>
                    </a:p>
                  </a:txBody>
                  <a:tcPr marL="68580" marR="68580" anchor="ctr"/>
                </a:tc>
                <a:tc rowSpan="3">
                  <a:txBody>
                    <a:bodyPr/>
                    <a:lstStyle/>
                    <a:p>
                      <a:pPr marL="0" marR="0" algn="ctr">
                        <a:lnSpc>
                          <a:spcPts val="1500"/>
                        </a:lnSpc>
                        <a:buNone/>
                      </a:pPr>
                      <a:r>
                        <a:rPr lang="en-US" altLang="zh-CN" sz="1600" kern="100" dirty="0">
                          <a:effectLst/>
                          <a:latin typeface="+mj-ea"/>
                          <a:ea typeface="+mj-ea"/>
                        </a:rPr>
                        <a:t>36</a:t>
                      </a:r>
                      <a:endParaRPr lang="en-US" altLang="zh-CN" sz="1600" kern="100" dirty="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84.14%</a:t>
                      </a:r>
                      <a:endParaRPr lang="zh-CN" altLang="en-US" sz="1600" kern="100">
                        <a:effectLst/>
                        <a:latin typeface="+mj-ea"/>
                        <a:ea typeface="+mj-ea"/>
                      </a:endParaRPr>
                    </a:p>
                  </a:txBody>
                  <a:tcPr marL="68580" marR="68580" anchor="ctr"/>
                </a:tc>
              </a:tr>
              <a:tr h="408292">
                <a:tc>
                  <a:txBody>
                    <a:bodyPr/>
                    <a:lstStyle/>
                    <a:p>
                      <a:pPr marL="0" marR="0" algn="ctr">
                        <a:lnSpc>
                          <a:spcPts val="1500"/>
                        </a:lnSpc>
                        <a:buNone/>
                      </a:pPr>
                      <a:r>
                        <a:rPr lang="en-US" altLang="zh-CN" sz="1600" kern="100">
                          <a:effectLst/>
                          <a:latin typeface="+mj-ea"/>
                          <a:ea typeface="+mj-ea"/>
                        </a:rPr>
                        <a:t>1</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292</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18</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25</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18</a:t>
                      </a:r>
                      <a:endParaRPr lang="zh-CN" altLang="en-US" sz="1600" kern="100" dirty="0">
                        <a:effectLst/>
                        <a:latin typeface="+mj-ea"/>
                        <a:ea typeface="+mj-ea"/>
                      </a:endParaRPr>
                    </a:p>
                  </a:txBody>
                  <a:tcPr marL="68580" marR="68580" anchor="ctr"/>
                </a:tc>
                <a:tc vMerge="1">
                  <a:tcPr marL="68580" marR="68580" anchor="ctr"/>
                </a:tc>
                <a:tc vMerge="1">
                  <a:tcPr marL="68580" marR="68580" anchor="ctr"/>
                </a:tc>
                <a:tc>
                  <a:txBody>
                    <a:bodyPr/>
                    <a:lstStyle/>
                    <a:p>
                      <a:pPr marL="0" marR="0" algn="ctr">
                        <a:lnSpc>
                          <a:spcPts val="1500"/>
                        </a:lnSpc>
                        <a:buNone/>
                      </a:pPr>
                      <a:r>
                        <a:rPr lang="en-US" altLang="zh-CN" sz="1600" kern="100">
                          <a:effectLst/>
                          <a:latin typeface="+mj-ea"/>
                          <a:ea typeface="+mj-ea"/>
                        </a:rPr>
                        <a:t>87.72%</a:t>
                      </a:r>
                      <a:endParaRPr lang="zh-CN" altLang="en-US" sz="1600" kern="100">
                        <a:effectLst/>
                        <a:latin typeface="+mj-ea"/>
                        <a:ea typeface="+mj-ea"/>
                      </a:endParaRPr>
                    </a:p>
                  </a:txBody>
                  <a:tcPr marL="68580" marR="68580" anchor="ctr"/>
                </a:tc>
              </a:tr>
              <a:tr h="408292">
                <a:tc>
                  <a:txBody>
                    <a:bodyPr/>
                    <a:lstStyle/>
                    <a:p>
                      <a:pPr marL="0" marR="0" algn="ctr">
                        <a:lnSpc>
                          <a:spcPts val="1500"/>
                        </a:lnSpc>
                        <a:buNone/>
                      </a:pPr>
                      <a:r>
                        <a:rPr lang="en-US" altLang="zh-CN" sz="1600" kern="100">
                          <a:effectLst/>
                          <a:latin typeface="+mj-ea"/>
                          <a:ea typeface="+mj-ea"/>
                        </a:rPr>
                        <a:t>2</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294</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a:effectLst/>
                          <a:latin typeface="+mj-ea"/>
                          <a:ea typeface="+mj-ea"/>
                        </a:rPr>
                        <a:t>18</a:t>
                      </a:r>
                      <a:endParaRPr lang="zh-CN" altLang="en-US" sz="1600" kern="10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23</a:t>
                      </a:r>
                      <a:endParaRPr lang="zh-CN" altLang="en-US" sz="1600" kern="100" dirty="0">
                        <a:effectLst/>
                        <a:latin typeface="+mj-ea"/>
                        <a:ea typeface="+mj-ea"/>
                      </a:endParaRPr>
                    </a:p>
                  </a:txBody>
                  <a:tcPr marL="68580" marR="68580" anchor="ctr"/>
                </a:tc>
                <a:tc>
                  <a:txBody>
                    <a:bodyPr/>
                    <a:lstStyle/>
                    <a:p>
                      <a:pPr marL="0" marR="0" algn="ctr">
                        <a:lnSpc>
                          <a:spcPts val="1500"/>
                        </a:lnSpc>
                        <a:buNone/>
                      </a:pPr>
                      <a:r>
                        <a:rPr lang="en-US" altLang="zh-CN" sz="1600" kern="100" dirty="0">
                          <a:effectLst/>
                          <a:latin typeface="+mj-ea"/>
                          <a:ea typeface="+mj-ea"/>
                        </a:rPr>
                        <a:t>18</a:t>
                      </a:r>
                      <a:endParaRPr lang="zh-CN" altLang="en-US" sz="1600" kern="100" dirty="0">
                        <a:effectLst/>
                        <a:latin typeface="+mj-ea"/>
                        <a:ea typeface="+mj-ea"/>
                      </a:endParaRPr>
                    </a:p>
                  </a:txBody>
                  <a:tcPr marL="68580" marR="68580" anchor="ctr"/>
                </a:tc>
                <a:tc vMerge="1">
                  <a:tcPr marL="68580" marR="68580" anchor="ctr"/>
                </a:tc>
                <a:tc vMerge="1">
                  <a:tcPr marL="68580" marR="68580" anchor="ctr"/>
                </a:tc>
                <a:tc>
                  <a:txBody>
                    <a:bodyPr/>
                    <a:lstStyle/>
                    <a:p>
                      <a:pPr marL="0" marR="0" algn="ctr">
                        <a:lnSpc>
                          <a:spcPts val="1500"/>
                        </a:lnSpc>
                        <a:buNone/>
                      </a:pPr>
                      <a:r>
                        <a:rPr lang="en-US" altLang="zh-CN" sz="1600" kern="100" dirty="0">
                          <a:effectLst/>
                          <a:latin typeface="+mj-ea"/>
                          <a:ea typeface="+mj-ea"/>
                        </a:rPr>
                        <a:t>88.39%</a:t>
                      </a:r>
                      <a:endParaRPr lang="zh-CN" altLang="en-US" sz="1600" kern="100" dirty="0">
                        <a:effectLst/>
                        <a:latin typeface="+mj-ea"/>
                        <a:ea typeface="+mj-ea"/>
                      </a:endParaRPr>
                    </a:p>
                  </a:txBody>
                  <a:tcPr marL="68580" marR="68580" anchor="ctr"/>
                </a:tc>
              </a:tr>
            </a:tbl>
          </a:graphicData>
        </a:graphic>
      </p:graphicFrame>
      <p:sp>
        <p:nvSpPr>
          <p:cNvPr id="6" name="文本框 5"/>
          <p:cNvSpPr txBox="1"/>
          <p:nvPr/>
        </p:nvSpPr>
        <p:spPr>
          <a:xfrm>
            <a:off x="263351" y="5434913"/>
            <a:ext cx="11737304" cy="8744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mj-ea"/>
                <a:ea typeface="+mj-ea"/>
              </a:rPr>
              <a:t>在使用不同扩展层数（</a:t>
            </a:r>
            <a:r>
              <a:rPr lang="en-US" altLang="zh-CN" dirty="0">
                <a:latin typeface="+mj-ea"/>
                <a:ea typeface="+mj-ea"/>
              </a:rPr>
              <a:t>0~2</a:t>
            </a:r>
            <a:r>
              <a:rPr lang="zh-CN" altLang="en-US" dirty="0">
                <a:latin typeface="+mj-ea"/>
                <a:ea typeface="+mj-ea"/>
              </a:rPr>
              <a:t>）进行函数调用子图扩展的情况下，</a:t>
            </a:r>
            <a:r>
              <a:rPr lang="en-US" altLang="zh-CN" dirty="0">
                <a:solidFill>
                  <a:srgbClr val="FF0000"/>
                </a:solidFill>
                <a:latin typeface="+mj-ea"/>
                <a:ea typeface="+mj-ea"/>
              </a:rPr>
              <a:t>KALAD</a:t>
            </a:r>
            <a:r>
              <a:rPr lang="zh-CN" altLang="en-US" dirty="0">
                <a:solidFill>
                  <a:srgbClr val="FF0000"/>
                </a:solidFill>
                <a:latin typeface="+mj-ea"/>
                <a:ea typeface="+mj-ea"/>
              </a:rPr>
              <a:t>均具有超过</a:t>
            </a:r>
            <a:r>
              <a:rPr lang="en-US" altLang="zh-CN" dirty="0">
                <a:solidFill>
                  <a:srgbClr val="FF0000"/>
                </a:solidFill>
                <a:latin typeface="+mj-ea"/>
                <a:ea typeface="+mj-ea"/>
              </a:rPr>
              <a:t>80%</a:t>
            </a:r>
            <a:r>
              <a:rPr lang="zh-CN" altLang="en-US" dirty="0">
                <a:solidFill>
                  <a:srgbClr val="FF0000"/>
                </a:solidFill>
                <a:latin typeface="+mj-ea"/>
                <a:ea typeface="+mj-ea"/>
              </a:rPr>
              <a:t>的准确率</a:t>
            </a:r>
            <a:r>
              <a:rPr lang="zh-CN" altLang="en-US" dirty="0">
                <a:latin typeface="+mj-ea"/>
                <a:ea typeface="+mj-ea"/>
              </a:rPr>
              <a:t>，</a:t>
            </a:r>
            <a:endParaRPr lang="en-US" altLang="zh-CN" dirty="0">
              <a:latin typeface="+mj-ea"/>
              <a:ea typeface="+mj-ea"/>
            </a:endParaRPr>
          </a:p>
          <a:p>
            <a:pPr marL="285750" indent="-285750">
              <a:lnSpc>
                <a:spcPct val="150000"/>
              </a:lnSpc>
              <a:buFont typeface="Arial" panose="020B0604020202020204" pitchFamily="34" charset="0"/>
              <a:buChar char="•"/>
            </a:pPr>
            <a:r>
              <a:rPr lang="zh-CN" altLang="en-US" dirty="0">
                <a:latin typeface="+mj-ea"/>
                <a:ea typeface="+mj-ea"/>
              </a:rPr>
              <a:t>且</a:t>
            </a:r>
            <a:r>
              <a:rPr lang="zh-CN" altLang="en-US" b="1" dirty="0">
                <a:latin typeface="+mj-ea"/>
                <a:ea typeface="+mj-ea"/>
              </a:rPr>
              <a:t>随着扩展层数上升，准确率稳步上升，</a:t>
            </a:r>
            <a:r>
              <a:rPr lang="zh-CN" altLang="en-US" dirty="0">
                <a:latin typeface="+mj-ea"/>
                <a:ea typeface="+mj-ea"/>
              </a:rPr>
              <a:t>表明大模型的理解能力在一定程度上随扩展层数的增加而增强。</a:t>
            </a:r>
            <a:endParaRPr lang="en-US" altLang="zh-CN" dirty="0">
              <a:latin typeface="+mj-ea"/>
              <a:ea typeface="+mj-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4</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实验结果与分析</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RQ2. KALAD</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性能</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性能与影响因素</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pic>
        <p:nvPicPr>
          <p:cNvPr id="4" name="图片 3" descr="img_v3_02m0_c38076d3-85ae-46c3-8f39-ed18f660903g"/>
          <p:cNvPicPr>
            <a:picLocks noChangeAspect="1"/>
          </p:cNvPicPr>
          <p:nvPr/>
        </p:nvPicPr>
        <p:blipFill>
          <a:blip r:embed="rId1"/>
          <a:stretch>
            <a:fillRect/>
          </a:stretch>
        </p:blipFill>
        <p:spPr>
          <a:xfrm>
            <a:off x="0" y="3717032"/>
            <a:ext cx="5452240" cy="3133247"/>
          </a:xfrm>
          <a:prstGeom prst="rect">
            <a:avLst/>
          </a:prstGeom>
          <a:solidFill>
            <a:srgbClr val="FFFFFF">
              <a:shade val="85000"/>
            </a:srgbClr>
          </a:solidFill>
          <a:ln w="88900" cap="sq">
            <a:no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图片 4" descr="20250505-142516"/>
          <p:cNvPicPr>
            <a:picLocks noChangeAspect="1"/>
          </p:cNvPicPr>
          <p:nvPr/>
        </p:nvPicPr>
        <p:blipFill>
          <a:blip r:embed="rId2"/>
          <a:srcRect t="2758" b="2052"/>
          <a:stretch>
            <a:fillRect/>
          </a:stretch>
        </p:blipFill>
        <p:spPr>
          <a:xfrm>
            <a:off x="5453117" y="3140968"/>
            <a:ext cx="6738883" cy="2577447"/>
          </a:xfrm>
          <a:prstGeom prst="rect">
            <a:avLst/>
          </a:prstGeom>
          <a:solidFill>
            <a:srgbClr val="000000">
              <a:shade val="95000"/>
            </a:srgbClr>
          </a:solidFill>
          <a:ln w="444500" cap="sq">
            <a:noFill/>
            <a:miter lim="800000"/>
            <a:headEnd/>
            <a:tailEnd/>
          </a:ln>
          <a:effectLst>
            <a:outerShdw blurRad="254000" dist="190500" dir="2700000" sy="90000" algn="bl" rotWithShape="0">
              <a:srgbClr val="000000">
                <a:alpha val="40000"/>
              </a:srgbClr>
            </a:outerShdw>
          </a:effectLst>
        </p:spPr>
      </p:pic>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nvGraphicFramePr>
            <p:xfrm>
              <a:off x="5447928" y="5718415"/>
              <a:ext cx="6744017" cy="1127760"/>
            </p:xfrm>
            <a:graphic>
              <a:graphicData uri="http://schemas.openxmlformats.org/drawingml/2006/table">
                <a:tbl>
                  <a:tblPr firstRow="1">
                    <a:tableStyleId>{5C22544A-7EE6-4342-B048-85BDC9FD1C3A}</a:tableStyleId>
                  </a:tblPr>
                  <a:tblGrid>
                    <a:gridCol w="1023189"/>
                    <a:gridCol w="2834479"/>
                    <a:gridCol w="2886349"/>
                  </a:tblGrid>
                  <a:tr h="239938">
                    <a:tc>
                      <a:txBody>
                        <a:bodyPr/>
                        <a:lstStyle/>
                        <a:p>
                          <a:pPr marL="0" marR="0" algn="ctr">
                            <a:lnSpc>
                              <a:spcPts val="1500"/>
                            </a:lnSpc>
                            <a:buNone/>
                          </a:pP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sz="1300" kern="100" dirty="0">
                              <a:effectLst/>
                              <a:latin typeface="+mj-ea"/>
                              <a:ea typeface="+mj-ea"/>
                            </a:rPr>
                            <a:t>APK</a:t>
                          </a:r>
                          <a:r>
                            <a:rPr lang="zh-CN" altLang="en-US" sz="1300" kern="100" dirty="0">
                              <a:effectLst/>
                              <a:latin typeface="+mj-ea"/>
                              <a:ea typeface="+mj-ea"/>
                            </a:rPr>
                            <a:t>文件大小</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a:effectLst/>
                              <a:latin typeface="+mj-ea"/>
                              <a:ea typeface="+mj-ea"/>
                            </a:rPr>
                            <a:t>APK</a:t>
                          </a:r>
                          <a:r>
                            <a:rPr lang="zh-CN" altLang="en-US" sz="1300" kern="100">
                              <a:effectLst/>
                              <a:latin typeface="+mj-ea"/>
                              <a:ea typeface="+mj-ea"/>
                            </a:rPr>
                            <a:t>包含函数数量</a:t>
                          </a:r>
                          <a:endParaRPr lang="zh-CN" altLang="en-US" sz="1300" kern="100">
                            <a:effectLst/>
                            <a:latin typeface="+mj-ea"/>
                            <a:ea typeface="+mj-ea"/>
                          </a:endParaRPr>
                        </a:p>
                      </a:txBody>
                      <a:tcPr marL="68580" marR="68580" anchor="ctr"/>
                    </a:tc>
                  </a:tr>
                  <a:tr h="239938">
                    <a:tc>
                      <a:txBody>
                        <a:bodyPr/>
                        <a:lstStyle/>
                        <a:p>
                          <a:pPr marL="0" marR="0" algn="ctr">
                            <a:lnSpc>
                              <a:spcPts val="1500"/>
                            </a:lnSpc>
                            <a:buNone/>
                          </a:pPr>
                          <a:r>
                            <a:rPr lang="zh-CN" altLang="en-US" sz="1300" kern="100">
                              <a:effectLst/>
                              <a:latin typeface="+mj-ea"/>
                              <a:ea typeface="+mj-ea"/>
                            </a:rPr>
                            <a:t>拟合曲线</a:t>
                          </a:r>
                          <a:endParaRPr lang="zh-CN" altLang="en-US" sz="1300" kern="100">
                            <a:effectLst/>
                            <a:latin typeface="+mj-ea"/>
                            <a:ea typeface="+mj-ea"/>
                          </a:endParaRPr>
                        </a:p>
                      </a:txBody>
                      <a:tcPr marL="68580" marR="68580" anchor="ctr"/>
                    </a:tc>
                    <a:tc>
                      <a:txBody>
                        <a:bodyPr/>
                        <a:lstStyle/>
                        <a:p>
                          <a:pPr marL="0" marR="0" algn="ctr">
                            <a:lnSpc>
                              <a:spcPts val="1500"/>
                            </a:lnSpc>
                            <a:buNone/>
                          </a:pPr>
                          <a14:m>
                            <m:oMathPara xmlns:m="http://schemas.openxmlformats.org/officeDocument/2006/math">
                              <m:oMathParaPr>
                                <m:jc m:val="centerGroup"/>
                              </m:oMathParaPr>
                              <m:oMath xmlns:m="http://schemas.openxmlformats.org/officeDocument/2006/math">
                                <m:r>
                                  <m:rPr>
                                    <m:sty m:val="p"/>
                                  </m:rPr>
                                  <a:rPr lang="en-US" altLang="zh-CN" sz="1300" i="1" kern="100" smtClean="0">
                                    <a:effectLst/>
                                    <a:latin typeface="Cambria Math" panose="02040503050406030204" pitchFamily="18" charset="0"/>
                                    <a:ea typeface="+mj-ea"/>
                                  </a:rPr>
                                  <m:t>Time</m:t>
                                </m:r>
                                <m:r>
                                  <a:rPr lang="en-US" altLang="zh-CN" sz="1300" b="0" i="1" kern="100" smtClean="0">
                                    <a:effectLst/>
                                    <a:latin typeface="Cambria Math" panose="02040503050406030204" pitchFamily="18" charset="0"/>
                                    <a:ea typeface="+mj-ea"/>
                                  </a:rPr>
                                  <m:t>=</m:t>
                                </m:r>
                                <m:r>
                                  <a:rPr lang="en-US" altLang="zh-CN" sz="1300" b="0" i="1" kern="100" smtClean="0">
                                    <a:effectLst/>
                                    <a:latin typeface="Cambria Math" panose="02040503050406030204" pitchFamily="18" charset="0"/>
                                    <a:ea typeface="+mj-ea"/>
                                  </a:rPr>
                                  <m:t>0</m:t>
                                </m:r>
                                <m:r>
                                  <a:rPr lang="en-US" altLang="zh-CN" sz="1300" b="0" i="1" kern="100" smtClean="0">
                                    <a:effectLst/>
                                    <a:latin typeface="Cambria Math" panose="02040503050406030204" pitchFamily="18" charset="0"/>
                                    <a:ea typeface="+mj-ea"/>
                                  </a:rPr>
                                  <m:t>.</m:t>
                                </m:r>
                                <m:r>
                                  <a:rPr lang="en-US" altLang="zh-CN" sz="1300" b="0" i="1" kern="100" smtClean="0">
                                    <a:effectLst/>
                                    <a:latin typeface="Cambria Math" panose="02040503050406030204" pitchFamily="18" charset="0"/>
                                    <a:ea typeface="+mj-ea"/>
                                  </a:rPr>
                                  <m:t>56</m:t>
                                </m:r>
                                <m:r>
                                  <a:rPr lang="en-US" altLang="zh-CN" sz="1300" b="0" i="1" kern="100" smtClean="0">
                                    <a:effectLst/>
                                    <a:latin typeface="Cambria Math" panose="02040503050406030204" pitchFamily="18" charset="0"/>
                                    <a:ea typeface="+mj-ea"/>
                                  </a:rPr>
                                  <m:t>×</m:t>
                                </m:r>
                                <m:r>
                                  <a:rPr lang="en-US" altLang="zh-CN" sz="1300" b="0" i="1" kern="100" smtClean="0">
                                    <a:effectLst/>
                                    <a:latin typeface="Cambria Math" panose="02040503050406030204" pitchFamily="18" charset="0"/>
                                    <a:ea typeface="+mj-ea"/>
                                  </a:rPr>
                                  <m:t>𝐴𝑃𝐾𝑆𝑖𝑧𝑒</m:t>
                                </m:r>
                                <m:r>
                                  <a:rPr lang="en-US" altLang="zh-CN" sz="1300" b="0" i="1" kern="100" smtClean="0">
                                    <a:effectLst/>
                                    <a:latin typeface="Cambria Math" panose="02040503050406030204" pitchFamily="18" charset="0"/>
                                    <a:ea typeface="+mj-ea"/>
                                  </a:rPr>
                                  <m:t>+</m:t>
                                </m:r>
                                <m:r>
                                  <a:rPr lang="en-US" altLang="zh-CN" sz="1300" b="0" i="1" kern="100" smtClean="0">
                                    <a:effectLst/>
                                    <a:latin typeface="Cambria Math" panose="02040503050406030204" pitchFamily="18" charset="0"/>
                                    <a:ea typeface="+mj-ea"/>
                                  </a:rPr>
                                  <m:t>140</m:t>
                                </m:r>
                                <m:r>
                                  <a:rPr lang="en-US" altLang="zh-CN" sz="1300" b="0" i="1" kern="100" smtClean="0">
                                    <a:effectLst/>
                                    <a:latin typeface="Cambria Math" panose="02040503050406030204" pitchFamily="18" charset="0"/>
                                    <a:ea typeface="+mj-ea"/>
                                  </a:rPr>
                                  <m:t>.</m:t>
                                </m:r>
                                <m:r>
                                  <a:rPr lang="en-US" altLang="zh-CN" sz="1300" b="0" i="1" kern="100" smtClean="0">
                                    <a:effectLst/>
                                    <a:latin typeface="Cambria Math" panose="02040503050406030204" pitchFamily="18" charset="0"/>
                                    <a:ea typeface="+mj-ea"/>
                                  </a:rPr>
                                  <m:t>36</m:t>
                                </m:r>
                              </m:oMath>
                            </m:oMathPara>
                          </a14:m>
                          <a:endParaRPr lang="zh-CN" altLang="en-US" sz="1300" kern="100" dirty="0">
                            <a:effectLst/>
                            <a:latin typeface="+mj-ea"/>
                            <a:ea typeface="+mj-ea"/>
                          </a:endParaRPr>
                        </a:p>
                      </a:txBody>
                      <a:tcPr marL="68580" marR="68580" anchor="ctr"/>
                    </a:tc>
                    <a:tc>
                      <a:txBody>
                        <a:bodyPr/>
                        <a:lstStyle/>
                        <a:p>
                          <a:pPr marL="0" marR="0" lvl="0" indent="0" algn="ctr" defTabSz="914400" rtl="0" eaLnBrk="1" fontAlgn="auto" latinLnBrk="0" hangingPunct="1">
                            <a:lnSpc>
                              <a:spcPts val="1500"/>
                            </a:lnSpc>
                            <a:spcBef>
                              <a:spcPts val="0"/>
                            </a:spcBef>
                            <a:spcAft>
                              <a:spcPts val="0"/>
                            </a:spcAft>
                            <a:buClrTx/>
                            <a:buSzTx/>
                            <a:buFontTx/>
                            <a:buNone/>
                            <a:defRPr/>
                          </a:pPr>
                          <a:r>
                            <a:rPr lang="zh-CN" altLang="en-US" sz="1300" kern="100" dirty="0">
                              <a:effectLst/>
                              <a:latin typeface="+mj-ea"/>
                              <a:ea typeface="+mj-ea"/>
                            </a:rPr>
                            <a:t> </a:t>
                          </a:r>
                          <a14:m>
                            <m:oMath xmlns:m="http://schemas.openxmlformats.org/officeDocument/2006/math">
                              <m:r>
                                <m:rPr>
                                  <m:sty m:val="p"/>
                                </m:rP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Time</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0</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69</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𝐹𝑢𝑛𝑐𝑁𝑢𝑚</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14</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m:t>
                              </m:r>
                              <m:r>
                                <a:rPr kumimoji="0" lang="en-US" altLang="zh-CN" sz="1300" b="0" i="1" u="none" strike="noStrike" kern="100" cap="none" spc="0" normalizeH="0" baseline="0" noProof="0" smtClean="0">
                                  <a:ln>
                                    <a:noFill/>
                                  </a:ln>
                                  <a:solidFill>
                                    <a:srgbClr val="20517C"/>
                                  </a:solidFill>
                                  <a:effectLst/>
                                  <a:uLnTx/>
                                  <a:uFillTx/>
                                  <a:latin typeface="Cambria Math" panose="02040503050406030204" pitchFamily="18" charset="0"/>
                                  <a:ea typeface="+mj-ea"/>
                                  <a:cs typeface="+mn-cs"/>
                                </a:rPr>
                                <m:t>64</m:t>
                              </m:r>
                            </m:oMath>
                          </a14:m>
                          <a:endParaRPr kumimoji="0" lang="zh-CN" altLang="en-US" sz="1300" b="0" i="0" u="none" strike="noStrike" kern="100" cap="none" spc="0" normalizeH="0" baseline="0" noProof="0" dirty="0">
                            <a:ln>
                              <a:noFill/>
                            </a:ln>
                            <a:solidFill>
                              <a:srgbClr val="20517C"/>
                            </a:solidFill>
                            <a:effectLst/>
                            <a:uLnTx/>
                            <a:uFillTx/>
                            <a:latin typeface="+mj-ea"/>
                            <a:ea typeface="+mj-ea"/>
                            <a:cs typeface="+mn-cs"/>
                          </a:endParaRPr>
                        </a:p>
                      </a:txBody>
                      <a:tcPr marL="68580" marR="68580" anchor="ctr"/>
                    </a:tc>
                  </a:tr>
                  <a:tr h="239938">
                    <a:tc>
                      <a:txBody>
                        <a:bodyPr/>
                        <a:lstStyle/>
                        <a:p>
                          <a:pPr marL="0" marR="0" algn="ctr">
                            <a:lnSpc>
                              <a:spcPts val="1500"/>
                            </a:lnSpc>
                            <a:buNone/>
                          </a:pPr>
                          <a14:m>
                            <m:oMath xmlns:m="http://schemas.openxmlformats.org/officeDocument/2006/math">
                              <m:sSup>
                                <m:sSupPr>
                                  <m:ctrlPr>
                                    <a:rPr lang="en-US" altLang="zh-CN" sz="1300" i="1" kern="100" smtClean="0">
                                      <a:effectLst/>
                                      <a:latin typeface="Cambria Math" panose="02040503050406030204" pitchFamily="18" charset="0"/>
                                      <a:ea typeface="+mj-ea"/>
                                    </a:rPr>
                                  </m:ctrlPr>
                                </m:sSupPr>
                                <m:e>
                                  <m:r>
                                    <a:rPr lang="en-US" altLang="zh-CN" sz="1300" b="0" i="1" kern="100" smtClean="0">
                                      <a:effectLst/>
                                      <a:latin typeface="Cambria Math" panose="02040503050406030204" pitchFamily="18" charset="0"/>
                                      <a:ea typeface="+mj-ea"/>
                                    </a:rPr>
                                    <m:t>𝑅</m:t>
                                  </m:r>
                                </m:e>
                                <m:sup>
                                  <m:r>
                                    <a:rPr lang="en-US" altLang="zh-CN" sz="1300" b="0" i="1" kern="100" smtClean="0">
                                      <a:effectLst/>
                                      <a:latin typeface="Cambria Math" panose="02040503050406030204" pitchFamily="18" charset="0"/>
                                      <a:ea typeface="+mj-ea"/>
                                    </a:rPr>
                                    <m:t>2</m:t>
                                  </m:r>
                                </m:sup>
                              </m:sSup>
                            </m:oMath>
                          </a14:m>
                          <a:r>
                            <a:rPr lang="zh-CN" altLang="en-US" sz="1300" kern="100" dirty="0">
                              <a:effectLst/>
                              <a:latin typeface="+mj-ea"/>
                              <a:ea typeface="+mj-ea"/>
                            </a:rPr>
                            <a:t> </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0.0831</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0.8984</a:t>
                          </a:r>
                          <a:endParaRPr lang="zh-CN" altLang="en-US" sz="1300" kern="100" dirty="0">
                            <a:effectLst/>
                            <a:latin typeface="+mj-ea"/>
                            <a:ea typeface="+mj-ea"/>
                          </a:endParaRPr>
                        </a:p>
                      </a:txBody>
                      <a:tcPr marL="68580" marR="68580" anchor="ctr"/>
                    </a:tc>
                  </a:tr>
                  <a:tr h="239938">
                    <a:tc>
                      <a:txBody>
                        <a:bodyPr/>
                        <a:lstStyle/>
                        <a:p>
                          <a:pPr marL="0" marR="0" algn="ctr">
                            <a:lnSpc>
                              <a:spcPts val="1500"/>
                            </a:lnSpc>
                            <a:buNone/>
                          </a:pPr>
                          <a:r>
                            <a:rPr lang="en-US" sz="1300" kern="100" dirty="0">
                              <a:effectLst/>
                              <a:latin typeface="+mj-ea"/>
                              <a:ea typeface="+mj-ea"/>
                            </a:rPr>
                            <a:t>MSE</a:t>
                          </a:r>
                          <a:endParaRPr 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13005.97</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1440.7</a:t>
                          </a:r>
                          <a:endParaRPr lang="zh-CN" altLang="en-US" sz="1300" kern="100" dirty="0">
                            <a:effectLst/>
                            <a:latin typeface="+mj-ea"/>
                            <a:ea typeface="+mj-ea"/>
                          </a:endParaRPr>
                        </a:p>
                      </a:txBody>
                      <a:tcPr marL="68580" marR="68580" anchor="ctr"/>
                    </a:tc>
                  </a:tr>
                </a:tbl>
              </a:graphicData>
            </a:graphic>
          </p:graphicFrame>
        </mc:Choice>
        <mc:Fallback xmlns="">
          <p:graphicFrame>
            <p:nvGraphicFramePr>
              <p:cNvPr id="6" name="表格 5"/>
              <p:cNvGraphicFramePr>
                <a:graphicFrameLocks noGrp="1"/>
              </p:cNvGraphicFramePr>
              <p:nvPr/>
            </p:nvGraphicFramePr>
            <p:xfrm>
              <a:off x="5447928" y="5718415"/>
              <a:ext cx="6744017" cy="1127760"/>
            </p:xfrm>
            <a:graphic>
              <a:graphicData uri="http://schemas.openxmlformats.org/drawingml/2006/table">
                <a:tbl>
                  <a:tblPr firstRow="1">
                    <a:tableStyleId>{5C22544A-7EE6-4342-B048-85BDC9FD1C3A}</a:tableStyleId>
                  </a:tblPr>
                  <a:tblGrid>
                    <a:gridCol w="1023189"/>
                    <a:gridCol w="2834479"/>
                    <a:gridCol w="2886349"/>
                  </a:tblGrid>
                  <a:tr h="239938">
                    <a:tc>
                      <a:txBody>
                        <a:bodyPr/>
                        <a:lstStyle/>
                        <a:p>
                          <a:pPr marL="0" marR="0" algn="ctr">
                            <a:lnSpc>
                              <a:spcPts val="1500"/>
                            </a:lnSpc>
                            <a:buNone/>
                          </a:pP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sz="1300" kern="100" dirty="0">
                              <a:effectLst/>
                              <a:latin typeface="+mj-ea"/>
                              <a:ea typeface="+mj-ea"/>
                            </a:rPr>
                            <a:t>APK</a:t>
                          </a:r>
                          <a:r>
                            <a:rPr lang="zh-CN" altLang="en-US" sz="1300" kern="100" dirty="0">
                              <a:effectLst/>
                              <a:latin typeface="+mj-ea"/>
                              <a:ea typeface="+mj-ea"/>
                            </a:rPr>
                            <a:t>文件大小</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a:effectLst/>
                              <a:latin typeface="+mj-ea"/>
                              <a:ea typeface="+mj-ea"/>
                            </a:rPr>
                            <a:t>APK</a:t>
                          </a:r>
                          <a:r>
                            <a:rPr lang="zh-CN" altLang="en-US" sz="1300" kern="100">
                              <a:effectLst/>
                              <a:latin typeface="+mj-ea"/>
                              <a:ea typeface="+mj-ea"/>
                            </a:rPr>
                            <a:t>包含函数数量</a:t>
                          </a:r>
                          <a:endParaRPr lang="zh-CN" altLang="en-US" sz="1300" kern="100">
                            <a:effectLst/>
                            <a:latin typeface="+mj-ea"/>
                            <a:ea typeface="+mj-ea"/>
                          </a:endParaRPr>
                        </a:p>
                      </a:txBody>
                      <a:tcPr marL="68580" marR="68580" anchor="ctr"/>
                    </a:tc>
                  </a:tr>
                  <a:tr h="281940">
                    <a:tc>
                      <a:txBody>
                        <a:bodyPr/>
                        <a:lstStyle/>
                        <a:p>
                          <a:pPr marL="0" marR="0" algn="ctr">
                            <a:lnSpc>
                              <a:spcPts val="1500"/>
                            </a:lnSpc>
                            <a:buNone/>
                          </a:pPr>
                          <a:r>
                            <a:rPr lang="zh-CN" altLang="en-US" sz="1300" kern="100">
                              <a:effectLst/>
                              <a:latin typeface="+mj-ea"/>
                              <a:ea typeface="+mj-ea"/>
                            </a:rPr>
                            <a:t>拟合曲线</a:t>
                          </a:r>
                          <a:endParaRPr lang="zh-CN" altLang="en-US" sz="1300" kern="100">
                            <a:effectLst/>
                            <a:latin typeface="+mj-ea"/>
                            <a:ea typeface="+mj-ea"/>
                          </a:endParaRPr>
                        </a:p>
                      </a:txBody>
                      <a:tcPr marL="68580" marR="68580" anchor="ctr"/>
                    </a:tc>
                    <a:tc>
                      <a:txBody>
                        <a:bodyPr/>
                        <a:lstStyle/>
                        <a:p>
                          <a:endParaRPr lang="zh-CN"/>
                        </a:p>
                      </a:txBody>
                      <a:tcPr marL="68580" marR="68580" anchor="ctr">
                        <a:blipFill>
                          <a:blip r:embed="rId3"/>
                        </a:blipFill>
                      </a:tcPr>
                    </a:tc>
                    <a:tc>
                      <a:txBody>
                        <a:bodyPr/>
                        <a:lstStyle/>
                        <a:p>
                          <a:endParaRPr lang="zh-CN"/>
                        </a:p>
                      </a:txBody>
                      <a:tcPr marL="68580" marR="68580" anchor="ctr">
                        <a:blipFill>
                          <a:blip r:embed="rId3"/>
                        </a:blipFill>
                      </a:tcPr>
                    </a:tc>
                  </a:tr>
                  <a:tr h="281940">
                    <a:tc>
                      <a:txBody>
                        <a:bodyPr/>
                        <a:lstStyle/>
                        <a:p>
                          <a:endParaRPr lang="zh-CN"/>
                        </a:p>
                      </a:txBody>
                      <a:tcPr marL="68580" marR="68580" anchor="ctr">
                        <a:blipFill>
                          <a:blip r:embed="rId3"/>
                        </a:blipFill>
                      </a:tcPr>
                    </a:tc>
                    <a:tc>
                      <a:txBody>
                        <a:bodyPr/>
                        <a:lstStyle/>
                        <a:p>
                          <a:pPr marL="0" marR="0" algn="ctr">
                            <a:lnSpc>
                              <a:spcPts val="1500"/>
                            </a:lnSpc>
                            <a:buNone/>
                          </a:pPr>
                          <a:r>
                            <a:rPr lang="en-US" altLang="zh-CN" sz="1300" kern="100" dirty="0">
                              <a:effectLst/>
                              <a:latin typeface="+mj-ea"/>
                              <a:ea typeface="+mj-ea"/>
                            </a:rPr>
                            <a:t>0.0831</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0.8984</a:t>
                          </a:r>
                          <a:endParaRPr lang="zh-CN" altLang="en-US" sz="1300" kern="100" dirty="0">
                            <a:effectLst/>
                            <a:latin typeface="+mj-ea"/>
                            <a:ea typeface="+mj-ea"/>
                          </a:endParaRPr>
                        </a:p>
                      </a:txBody>
                      <a:tcPr marL="68580" marR="68580" anchor="ctr"/>
                    </a:tc>
                  </a:tr>
                  <a:tr h="239938">
                    <a:tc>
                      <a:txBody>
                        <a:bodyPr/>
                        <a:lstStyle/>
                        <a:p>
                          <a:pPr marL="0" marR="0" algn="ctr">
                            <a:lnSpc>
                              <a:spcPts val="1500"/>
                            </a:lnSpc>
                            <a:buNone/>
                          </a:pPr>
                          <a:r>
                            <a:rPr lang="en-US" sz="1300" kern="100" dirty="0">
                              <a:effectLst/>
                              <a:latin typeface="+mj-ea"/>
                              <a:ea typeface="+mj-ea"/>
                            </a:rPr>
                            <a:t>MSE</a:t>
                          </a:r>
                          <a:endParaRPr 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13005.97</a:t>
                          </a:r>
                          <a:endParaRPr lang="zh-CN" altLang="en-US" sz="1300" kern="100" dirty="0">
                            <a:effectLst/>
                            <a:latin typeface="+mj-ea"/>
                            <a:ea typeface="+mj-ea"/>
                          </a:endParaRPr>
                        </a:p>
                      </a:txBody>
                      <a:tcPr marL="68580" marR="68580" anchor="ctr"/>
                    </a:tc>
                    <a:tc>
                      <a:txBody>
                        <a:bodyPr/>
                        <a:lstStyle/>
                        <a:p>
                          <a:pPr marL="0" marR="0" algn="ctr">
                            <a:lnSpc>
                              <a:spcPts val="1500"/>
                            </a:lnSpc>
                            <a:buNone/>
                          </a:pPr>
                          <a:r>
                            <a:rPr lang="en-US" altLang="zh-CN" sz="1300" kern="100" dirty="0">
                              <a:effectLst/>
                              <a:latin typeface="+mj-ea"/>
                              <a:ea typeface="+mj-ea"/>
                            </a:rPr>
                            <a:t>1440.7</a:t>
                          </a:r>
                          <a:endParaRPr lang="zh-CN" altLang="en-US" sz="1300" kern="100" dirty="0">
                            <a:effectLst/>
                            <a:latin typeface="+mj-ea"/>
                            <a:ea typeface="+mj-ea"/>
                          </a:endParaRPr>
                        </a:p>
                      </a:txBody>
                      <a:tcPr marL="68580" marR="68580" anchor="ctr"/>
                    </a:tc>
                  </a:tr>
                </a:tbl>
              </a:graphicData>
            </a:graphic>
          </p:graphicFrame>
        </mc:Fallback>
      </mc:AlternateContent>
      <mc:AlternateContent xmlns:mc="http://schemas.openxmlformats.org/markup-compatibility/2006">
        <mc:Choice xmlns:a14="http://schemas.microsoft.com/office/drawing/2010/main" Requires="a14">
          <p:sp>
            <p:nvSpPr>
              <p:cNvPr id="16" name="文本框 15"/>
              <p:cNvSpPr txBox="1"/>
              <p:nvPr/>
            </p:nvSpPr>
            <p:spPr>
              <a:xfrm>
                <a:off x="263351" y="1601250"/>
                <a:ext cx="11928593" cy="2031325"/>
              </a:xfrm>
              <a:prstGeom prst="rect">
                <a:avLst/>
              </a:prstGeom>
              <a:noFill/>
            </p:spPr>
            <p:txBody>
              <a:bodyPr wrap="square">
                <a:spAutoFit/>
              </a:bodyPr>
              <a:lstStyle/>
              <a:p>
                <a:pPr algn="just"/>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实验过程：</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在代码中增加插桩计时部分，对运行检测数据集</a:t>
                </a:r>
                <a14:m>
                  <m:oMath xmlns:m="http://schemas.openxmlformats.org/officeDocument/2006/math">
                    <m:sSub>
                      <m:sSubPr>
                        <m:ctrlPr>
                          <a:rPr lang="en-US" altLang="zh-CN" i="1" smtClean="0">
                            <a:latin typeface="Cambria Math" panose="02040503050406030204" pitchFamily="18" charset="0"/>
                            <a:ea typeface="+mj-ea"/>
                            <a:cs typeface="微软雅黑" panose="020B0503020204020204" pitchFamily="34" charset="-122"/>
                          </a:rPr>
                        </m:ctrlPr>
                      </m:sSubPr>
                      <m:e>
                        <m:r>
                          <m:rPr>
                            <m:sty m:val="p"/>
                          </m:rPr>
                          <a:rPr lang="en-US" altLang="zh-CN" b="0" i="1">
                            <a:latin typeface="Cambria Math" panose="02040503050406030204" pitchFamily="18" charset="0"/>
                            <a:ea typeface="+mj-ea"/>
                            <a:cs typeface="微软雅黑" panose="020B0503020204020204" pitchFamily="34" charset="-122"/>
                          </a:rPr>
                          <m:t>Data</m:t>
                        </m:r>
                      </m:e>
                      <m:sub>
                        <m:r>
                          <m:rPr>
                            <m:sty m:val="p"/>
                          </m:rPr>
                          <a:rPr lang="en-US" altLang="zh-CN" b="0" i="1">
                            <a:latin typeface="Cambria Math" panose="02040503050406030204" pitchFamily="18" charset="0"/>
                            <a:ea typeface="+mj-ea"/>
                            <a:cs typeface="微软雅黑" panose="020B0503020204020204" pitchFamily="34" charset="-122"/>
                          </a:rPr>
                          <m:t>test</m:t>
                        </m:r>
                      </m:sub>
                    </m:sSub>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的性能进行分析</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为探究预处理部分的关键函数</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AnalysisAPK</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用时影响因素，统计</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大小和</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函数数量与函数运行时间的关系</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实验结果：</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KALAD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分析</a:t>
                </a:r>
                <a14:m>
                  <m:oMath xmlns:m="http://schemas.openxmlformats.org/officeDocument/2006/math">
                    <m:sSub>
                      <m:sSubPr>
                        <m:ctrlPr>
                          <a:rPr lang="en-US" altLang="zh-CN" i="1" smtClean="0">
                            <a:latin typeface="Cambria Math" panose="02040503050406030204" pitchFamily="18" charset="0"/>
                            <a:ea typeface="+mj-ea"/>
                            <a:cs typeface="微软雅黑" panose="020B0503020204020204" pitchFamily="34" charset="-122"/>
                          </a:rPr>
                        </m:ctrlPr>
                      </m:sSubPr>
                      <m:e>
                        <m:r>
                          <m:rPr>
                            <m:sty m:val="p"/>
                          </m:rPr>
                          <a:rPr lang="en-US" altLang="zh-CN" b="0" i="1">
                            <a:latin typeface="Cambria Math" panose="02040503050406030204" pitchFamily="18" charset="0"/>
                            <a:ea typeface="+mj-ea"/>
                            <a:cs typeface="微软雅黑" panose="020B0503020204020204" pitchFamily="34" charset="-122"/>
                          </a:rPr>
                          <m:t>Data</m:t>
                        </m:r>
                      </m:e>
                      <m:sub>
                        <m:r>
                          <m:rPr>
                            <m:sty m:val="p"/>
                          </m:rPr>
                          <a:rPr lang="en-US" altLang="zh-CN" b="0" i="1">
                            <a:latin typeface="Cambria Math" panose="02040503050406030204" pitchFamily="18" charset="0"/>
                            <a:ea typeface="+mj-ea"/>
                            <a:cs typeface="微软雅黑" panose="020B0503020204020204" pitchFamily="34" charset="-122"/>
                          </a:rPr>
                          <m:t>test</m:t>
                        </m:r>
                      </m:sub>
                    </m:sSub>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252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个样本</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处理平均用时为</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437.51s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保活行为数量的增加对分析时间有显著正相关影响</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基于</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函数数量</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的线性拟合展现出更高的拟合优度</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说明其对</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AnalysisAPK</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函数的用时影响更大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263351" y="1601250"/>
                <a:ext cx="11928593" cy="2031325"/>
              </a:xfrm>
              <a:prstGeom prst="rect">
                <a:avLst/>
              </a:prstGeom>
              <a:blipFill rotWithShape="1">
                <a:blip r:embed="rId4"/>
                <a:stretch>
                  <a:fillRect l="-4" t="-20" r="5" b="18"/>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4</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实验结果与分析</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en-US" altLang="zh-CN"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RQ3</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 </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在野行为特征</a:t>
            </a:r>
            <a:r>
              <a:rPr kumimoji="1" lang="en-US" altLang="zh-CN"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a:t>
            </a: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三种保活行为的在野特征</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263352" y="1601250"/>
                <a:ext cx="11737304" cy="1015663"/>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实验过程：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Arial" panose="020B0604020202020204" pitchFamily="34" charset="0"/>
                  <a:buChar char="•"/>
                </a:pPr>
                <a:r>
                  <a:rPr lang="zh-CN" altLang="en-US" sz="2000" dirty="0">
                    <a:latin typeface="+mj-ea"/>
                    <a:ea typeface="+mj-ea"/>
                    <a:cs typeface="微软雅黑" panose="020B0503020204020204" pitchFamily="34" charset="-122"/>
                  </a:rPr>
                  <a:t>将</a:t>
                </a:r>
                <a14:m>
                  <m:oMath xmlns:m="http://schemas.openxmlformats.org/officeDocument/2006/math">
                    <m:sSub>
                      <m:sSubPr>
                        <m:ctrlPr>
                          <a:rPr lang="en-US" altLang="zh-CN" sz="2000" i="1">
                            <a:latin typeface="Cambria Math" panose="02040503050406030204" pitchFamily="18" charset="0"/>
                            <a:ea typeface="+mj-ea"/>
                            <a:cs typeface="微软雅黑" panose="020B0503020204020204" pitchFamily="34" charset="-122"/>
                          </a:rPr>
                        </m:ctrlPr>
                      </m:sSubPr>
                      <m:e>
                        <m:r>
                          <m:rPr>
                            <m:sty m:val="p"/>
                          </m:rPr>
                          <a:rPr lang="en-US" altLang="zh-CN" sz="2000" b="0" i="1">
                            <a:latin typeface="Cambria Math" panose="02040503050406030204" pitchFamily="18" charset="0"/>
                            <a:ea typeface="+mj-ea"/>
                            <a:cs typeface="微软雅黑" panose="020B0503020204020204" pitchFamily="34" charset="-122"/>
                          </a:rPr>
                          <m:t>Data</m:t>
                        </m:r>
                      </m:e>
                      <m:sub>
                        <m:r>
                          <m:rPr>
                            <m:sty m:val="p"/>
                          </m:rPr>
                          <a:rPr lang="en-US" altLang="zh-CN" sz="2000" i="1">
                            <a:latin typeface="Cambria Math" panose="02040503050406030204" pitchFamily="18" charset="0"/>
                            <a:ea typeface="+mj-ea"/>
                            <a:cs typeface="微软雅黑" panose="020B0503020204020204" pitchFamily="34" charset="-122"/>
                          </a:rPr>
                          <m:t>wild</m:t>
                        </m:r>
                      </m:sub>
                    </m:sSub>
                  </m:oMath>
                </a14:m>
                <a:r>
                  <a:rPr lang="zh-CN" altLang="en-US" sz="2000" dirty="0">
                    <a:latin typeface="+mj-ea"/>
                    <a:ea typeface="+mj-ea"/>
                    <a:cs typeface="微软雅黑" panose="020B0503020204020204" pitchFamily="34" charset="-122"/>
                  </a:rPr>
                  <a:t>的</a:t>
                </a:r>
                <a:r>
                  <a:rPr lang="en-US" altLang="zh-CN" sz="2000" dirty="0">
                    <a:latin typeface="+mj-ea"/>
                    <a:ea typeface="+mj-ea"/>
                    <a:cs typeface="微软雅黑" panose="020B0503020204020204" pitchFamily="34" charset="-122"/>
                  </a:rPr>
                  <a:t>971</a:t>
                </a:r>
                <a:r>
                  <a:rPr lang="zh-CN" altLang="en-US" sz="2000" dirty="0">
                    <a:latin typeface="+mj-ea"/>
                    <a:ea typeface="+mj-ea"/>
                    <a:cs typeface="微软雅黑" panose="020B0503020204020204" pitchFamily="34" charset="-122"/>
                  </a:rPr>
                  <a:t>个</a:t>
                </a:r>
                <a:r>
                  <a:rPr lang="en-US" altLang="zh-CN" sz="2000" dirty="0">
                    <a:latin typeface="+mj-ea"/>
                    <a:ea typeface="+mj-ea"/>
                    <a:cs typeface="微软雅黑" panose="020B0503020204020204" pitchFamily="34" charset="-122"/>
                  </a:rPr>
                  <a:t>APK</a:t>
                </a:r>
                <a:r>
                  <a:rPr lang="zh-CN" altLang="en-US" sz="2000" dirty="0">
                    <a:latin typeface="+mj-ea"/>
                    <a:ea typeface="+mj-ea"/>
                    <a:cs typeface="微软雅黑" panose="020B0503020204020204" pitchFamily="34" charset="-122"/>
                  </a:rPr>
                  <a:t>样本输入</a:t>
                </a:r>
                <a:r>
                  <a:rPr lang="en-US" altLang="zh-CN" sz="2000" dirty="0">
                    <a:latin typeface="+mj-ea"/>
                    <a:ea typeface="+mj-ea"/>
                    <a:cs typeface="微软雅黑" panose="020B0503020204020204" pitchFamily="34" charset="-122"/>
                  </a:rPr>
                  <a:t>KALAD</a:t>
                </a:r>
                <a:r>
                  <a:rPr lang="zh-CN" altLang="en-US" sz="2000" dirty="0">
                    <a:latin typeface="+mj-ea"/>
                    <a:ea typeface="+mj-ea"/>
                    <a:cs typeface="微软雅黑" panose="020B0503020204020204" pitchFamily="34" charset="-122"/>
                  </a:rPr>
                  <a:t>中执行分析处理</a:t>
                </a:r>
                <a:endParaRPr lang="en-US" altLang="zh-CN" sz="2000" dirty="0">
                  <a:latin typeface="+mj-ea"/>
                  <a:ea typeface="+mj-ea"/>
                  <a:cs typeface="微软雅黑" panose="020B0503020204020204" pitchFamily="34" charset="-122"/>
                </a:endParaRPr>
              </a:p>
              <a:p>
                <a:pPr marL="342900" indent="-342900" algn="just">
                  <a:buFont typeface="Arial" panose="020B0604020202020204" pitchFamily="34" charset="0"/>
                  <a:buChar char="•"/>
                </a:pPr>
                <a:r>
                  <a:rPr lang="zh-CN" altLang="en-US" sz="2000" dirty="0">
                    <a:latin typeface="+mj-ea"/>
                    <a:ea typeface="+mj-ea"/>
                    <a:cs typeface="微软雅黑" panose="020B0503020204020204" pitchFamily="34" charset="-122"/>
                  </a:rPr>
                  <a:t>由于检测出的保活行为样本较少，故对这些样本进行手动分析</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263352" y="1601250"/>
                <a:ext cx="11737304" cy="1015663"/>
              </a:xfrm>
              <a:prstGeom prst="rect">
                <a:avLst/>
              </a:prstGeom>
              <a:blipFill rotWithShape="1">
                <a:blip r:embed="rId1"/>
                <a:stretch>
                  <a:fillRect l="-4" t="-41" r="4" b="8"/>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494185" y="2616913"/>
          <a:ext cx="11161240" cy="3383280"/>
        </p:xfrm>
        <a:graphic>
          <a:graphicData uri="http://schemas.openxmlformats.org/drawingml/2006/table">
            <a:tbl>
              <a:tblPr firstRow="1">
                <a:tableStyleId>{073A0DAA-6AF3-43AB-8588-CEC1D06C72B9}</a:tableStyleId>
              </a:tblPr>
              <a:tblGrid>
                <a:gridCol w="2103120"/>
                <a:gridCol w="1210464"/>
                <a:gridCol w="2995776"/>
                <a:gridCol w="3196912"/>
                <a:gridCol w="1654968"/>
              </a:tblGrid>
              <a:tr h="0">
                <a:tc>
                  <a:txBody>
                    <a:bodyPr/>
                    <a:lstStyle/>
                    <a:p>
                      <a:pPr algn="ctr"/>
                      <a:r>
                        <a:rPr lang="zh-CN" altLang="en-US" dirty="0">
                          <a:latin typeface="+mj-ea"/>
                          <a:ea typeface="+mj-ea"/>
                        </a:rPr>
                        <a:t>保活行为</a:t>
                      </a:r>
                      <a:endParaRPr lang="zh-CN" altLang="en-US" dirty="0">
                        <a:latin typeface="+mj-ea"/>
                        <a:ea typeface="+mj-ea"/>
                      </a:endParaRPr>
                    </a:p>
                  </a:txBody>
                  <a:tcPr anchor="ctr"/>
                </a:tc>
                <a:tc>
                  <a:txBody>
                    <a:bodyPr/>
                    <a:lstStyle/>
                    <a:p>
                      <a:pPr algn="ctr"/>
                      <a:r>
                        <a:rPr lang="en-US" dirty="0">
                          <a:latin typeface="+mj-ea"/>
                          <a:ea typeface="+mj-ea"/>
                        </a:rPr>
                        <a:t>APK</a:t>
                      </a:r>
                      <a:r>
                        <a:rPr lang="zh-CN" altLang="en-US" dirty="0">
                          <a:latin typeface="+mj-ea"/>
                          <a:ea typeface="+mj-ea"/>
                        </a:rPr>
                        <a:t>数量</a:t>
                      </a:r>
                      <a:endParaRPr lang="zh-CN" altLang="en-US" dirty="0">
                        <a:latin typeface="+mj-ea"/>
                        <a:ea typeface="+mj-ea"/>
                      </a:endParaRPr>
                    </a:p>
                  </a:txBody>
                  <a:tcPr anchor="ctr"/>
                </a:tc>
                <a:tc>
                  <a:txBody>
                    <a:bodyPr/>
                    <a:lstStyle/>
                    <a:p>
                      <a:pPr algn="ctr"/>
                      <a:r>
                        <a:rPr lang="en-US" dirty="0">
                          <a:latin typeface="+mj-ea"/>
                          <a:ea typeface="+mj-ea"/>
                        </a:rPr>
                        <a:t>APP</a:t>
                      </a:r>
                      <a:r>
                        <a:rPr lang="zh-CN" altLang="en-US" dirty="0">
                          <a:latin typeface="+mj-ea"/>
                          <a:ea typeface="+mj-ea"/>
                        </a:rPr>
                        <a:t>类型示例</a:t>
                      </a:r>
                      <a:endParaRPr lang="zh-CN" altLang="en-US" dirty="0">
                        <a:latin typeface="+mj-ea"/>
                        <a:ea typeface="+mj-ea"/>
                      </a:endParaRPr>
                    </a:p>
                  </a:txBody>
                  <a:tcPr anchor="ctr"/>
                </a:tc>
                <a:tc>
                  <a:txBody>
                    <a:bodyPr/>
                    <a:lstStyle/>
                    <a:p>
                      <a:pPr algn="ctr"/>
                      <a:r>
                        <a:rPr lang="zh-CN" altLang="en-US" dirty="0">
                          <a:latin typeface="+mj-ea"/>
                          <a:ea typeface="+mj-ea"/>
                        </a:rPr>
                        <a:t>典型用途说明</a:t>
                      </a:r>
                      <a:endParaRPr lang="zh-CN" altLang="en-US" dirty="0">
                        <a:latin typeface="+mj-ea"/>
                        <a:ea typeface="+mj-ea"/>
                      </a:endParaRPr>
                    </a:p>
                  </a:txBody>
                  <a:tcPr anchor="ctr"/>
                </a:tc>
                <a:tc>
                  <a:txBody>
                    <a:bodyPr/>
                    <a:lstStyle/>
                    <a:p>
                      <a:pPr algn="ctr"/>
                      <a:r>
                        <a:rPr lang="zh-CN" altLang="en-US" dirty="0">
                          <a:latin typeface="+mj-ea"/>
                          <a:ea typeface="+mj-ea"/>
                        </a:rPr>
                        <a:t>是否存在</a:t>
                      </a:r>
                      <a:endParaRPr lang="en-US" altLang="zh-CN" dirty="0">
                        <a:latin typeface="+mj-ea"/>
                        <a:ea typeface="+mj-ea"/>
                      </a:endParaRPr>
                    </a:p>
                    <a:p>
                      <a:pPr algn="ctr"/>
                      <a:r>
                        <a:rPr lang="zh-CN" altLang="en-US" dirty="0">
                          <a:latin typeface="+mj-ea"/>
                          <a:ea typeface="+mj-ea"/>
                        </a:rPr>
                        <a:t>恶意行为</a:t>
                      </a:r>
                      <a:endParaRPr lang="zh-CN" altLang="en-US" dirty="0">
                        <a:latin typeface="+mj-ea"/>
                        <a:ea typeface="+mj-ea"/>
                      </a:endParaRPr>
                    </a:p>
                  </a:txBody>
                  <a:tcPr anchor="ctr"/>
                </a:tc>
              </a:tr>
              <a:tr h="0">
                <a:tc>
                  <a:txBody>
                    <a:bodyPr/>
                    <a:lstStyle/>
                    <a:p>
                      <a:pPr algn="ctr"/>
                      <a:r>
                        <a:rPr lang="zh-CN" altLang="en-US" dirty="0">
                          <a:latin typeface="+mj-ea"/>
                          <a:ea typeface="+mj-ea"/>
                        </a:rPr>
                        <a:t>无声音频</a:t>
                      </a:r>
                      <a:endParaRPr lang="zh-CN" altLang="en-US" dirty="0">
                        <a:latin typeface="+mj-ea"/>
                        <a:ea typeface="+mj-ea"/>
                      </a:endParaRPr>
                    </a:p>
                  </a:txBody>
                  <a:tcPr anchor="ctr"/>
                </a:tc>
                <a:tc>
                  <a:txBody>
                    <a:bodyPr/>
                    <a:lstStyle/>
                    <a:p>
                      <a:pPr algn="ctr"/>
                      <a:r>
                        <a:rPr lang="en-US" altLang="zh-CN" dirty="0">
                          <a:latin typeface="+mj-ea"/>
                          <a:ea typeface="+mj-ea"/>
                        </a:rPr>
                        <a:t>4</a:t>
                      </a:r>
                      <a:endParaRPr lang="en-US" altLang="zh-CN" dirty="0">
                        <a:latin typeface="+mj-ea"/>
                        <a:ea typeface="+mj-ea"/>
                      </a:endParaRPr>
                    </a:p>
                  </a:txBody>
                  <a:tcPr anchor="ctr"/>
                </a:tc>
                <a:tc>
                  <a:txBody>
                    <a:bodyPr/>
                    <a:lstStyle/>
                    <a:p>
                      <a:pPr algn="ctr"/>
                      <a:r>
                        <a:rPr lang="zh-CN" altLang="en-US" dirty="0">
                          <a:latin typeface="+mj-ea"/>
                          <a:ea typeface="+mj-ea"/>
                        </a:rPr>
                        <a:t>运动健康记录</a:t>
                      </a:r>
                      <a:r>
                        <a:rPr lang="en-US" altLang="zh-CN" dirty="0">
                          <a:latin typeface="+mj-ea"/>
                          <a:ea typeface="+mj-ea"/>
                        </a:rPr>
                        <a:t>APP</a:t>
                      </a:r>
                      <a:r>
                        <a:rPr lang="zh-CN" altLang="en-US" dirty="0">
                          <a:latin typeface="+mj-ea"/>
                          <a:ea typeface="+mj-ea"/>
                        </a:rPr>
                        <a:t>（</a:t>
                      </a:r>
                      <a:r>
                        <a:rPr lang="en-US" altLang="zh-CN" dirty="0">
                          <a:latin typeface="+mj-ea"/>
                          <a:ea typeface="+mj-ea"/>
                        </a:rPr>
                        <a:t>2</a:t>
                      </a:r>
                      <a:r>
                        <a:rPr lang="zh-CN" altLang="en-US" dirty="0">
                          <a:latin typeface="+mj-ea"/>
                          <a:ea typeface="+mj-ea"/>
                        </a:rPr>
                        <a:t>个）视频剪辑</a:t>
                      </a:r>
                      <a:r>
                        <a:rPr lang="en-US" altLang="zh-CN" dirty="0">
                          <a:latin typeface="+mj-ea"/>
                          <a:ea typeface="+mj-ea"/>
                        </a:rPr>
                        <a:t>APP</a:t>
                      </a:r>
                      <a:r>
                        <a:rPr lang="zh-CN" altLang="en-US" dirty="0">
                          <a:latin typeface="+mj-ea"/>
                          <a:ea typeface="+mj-ea"/>
                        </a:rPr>
                        <a:t>（</a:t>
                      </a:r>
                      <a:r>
                        <a:rPr lang="en-US" altLang="zh-CN" dirty="0">
                          <a:latin typeface="+mj-ea"/>
                          <a:ea typeface="+mj-ea"/>
                        </a:rPr>
                        <a:t>2</a:t>
                      </a:r>
                      <a:r>
                        <a:rPr lang="zh-CN" altLang="en-US" dirty="0">
                          <a:latin typeface="+mj-ea"/>
                          <a:ea typeface="+mj-ea"/>
                        </a:rPr>
                        <a:t>个）</a:t>
                      </a:r>
                      <a:endParaRPr lang="zh-CN" altLang="en-US" dirty="0">
                        <a:latin typeface="+mj-ea"/>
                        <a:ea typeface="+mj-ea"/>
                      </a:endParaRPr>
                    </a:p>
                  </a:txBody>
                  <a:tcPr anchor="ctr"/>
                </a:tc>
                <a:tc>
                  <a:txBody>
                    <a:bodyPr/>
                    <a:lstStyle/>
                    <a:p>
                      <a:pPr algn="ctr"/>
                      <a:r>
                        <a:rPr lang="zh-CN" altLang="en-US" dirty="0">
                          <a:latin typeface="+mj-ea"/>
                          <a:ea typeface="+mj-ea"/>
                        </a:rPr>
                        <a:t>持续记录运动状态或地理位置、后台处理视频编辑</a:t>
                      </a:r>
                      <a:endParaRPr lang="zh-CN" altLang="en-US" dirty="0">
                        <a:latin typeface="+mj-ea"/>
                        <a:ea typeface="+mj-ea"/>
                      </a:endParaRPr>
                    </a:p>
                  </a:txBody>
                  <a:tcPr anchor="ctr"/>
                </a:tc>
                <a:tc>
                  <a:txBody>
                    <a:bodyPr/>
                    <a:lstStyle/>
                    <a:p>
                      <a:pPr algn="ctr"/>
                      <a:r>
                        <a:rPr lang="zh-CN" altLang="en-US" dirty="0">
                          <a:latin typeface="+mj-ea"/>
                          <a:ea typeface="+mj-ea"/>
                        </a:rPr>
                        <a:t>否</a:t>
                      </a:r>
                      <a:endParaRPr lang="zh-CN" altLang="en-US" dirty="0">
                        <a:latin typeface="+mj-ea"/>
                        <a:ea typeface="+mj-ea"/>
                      </a:endParaRPr>
                    </a:p>
                  </a:txBody>
                  <a:tcPr anchor="ctr"/>
                </a:tc>
              </a:tr>
              <a:tr h="0">
                <a:tc>
                  <a:txBody>
                    <a:bodyPr/>
                    <a:lstStyle/>
                    <a:p>
                      <a:pPr algn="ctr"/>
                      <a:r>
                        <a:rPr lang="zh-CN" altLang="en-US" dirty="0">
                          <a:latin typeface="+mj-ea"/>
                          <a:ea typeface="+mj-ea"/>
                        </a:rPr>
                        <a:t>单像素</a:t>
                      </a:r>
                      <a:r>
                        <a:rPr lang="en-US" dirty="0">
                          <a:latin typeface="+mj-ea"/>
                          <a:ea typeface="+mj-ea"/>
                        </a:rPr>
                        <a:t>Activity</a:t>
                      </a:r>
                      <a:endParaRPr lang="zh-CN" altLang="en-US" dirty="0">
                        <a:latin typeface="+mj-ea"/>
                        <a:ea typeface="+mj-ea"/>
                      </a:endParaRPr>
                    </a:p>
                  </a:txBody>
                  <a:tcPr anchor="ctr"/>
                </a:tc>
                <a:tc>
                  <a:txBody>
                    <a:bodyPr/>
                    <a:lstStyle/>
                    <a:p>
                      <a:pPr algn="ctr"/>
                      <a:r>
                        <a:rPr lang="en-US" altLang="zh-CN">
                          <a:latin typeface="+mj-ea"/>
                          <a:ea typeface="+mj-ea"/>
                        </a:rPr>
                        <a:t>4</a:t>
                      </a:r>
                      <a:endParaRPr lang="en-US" altLang="zh-CN">
                        <a:latin typeface="+mj-ea"/>
                        <a:ea typeface="+mj-ea"/>
                      </a:endParaRPr>
                    </a:p>
                  </a:txBody>
                  <a:tcPr anchor="ctr"/>
                </a:tc>
                <a:tc>
                  <a:txBody>
                    <a:bodyPr/>
                    <a:lstStyle/>
                    <a:p>
                      <a:pPr algn="ctr"/>
                      <a:r>
                        <a:rPr lang="zh-CN" altLang="en-US" dirty="0">
                          <a:latin typeface="+mj-ea"/>
                          <a:ea typeface="+mj-ea"/>
                        </a:rPr>
                        <a:t>运动健康记录</a:t>
                      </a:r>
                      <a:r>
                        <a:rPr lang="en-US" altLang="zh-CN" dirty="0">
                          <a:latin typeface="+mj-ea"/>
                          <a:ea typeface="+mj-ea"/>
                        </a:rPr>
                        <a:t>APP</a:t>
                      </a:r>
                      <a:endParaRPr lang="en-US" altLang="zh-CN" dirty="0">
                        <a:latin typeface="+mj-ea"/>
                        <a:ea typeface="+mj-ea"/>
                      </a:endParaRPr>
                    </a:p>
                    <a:p>
                      <a:pPr algn="ctr"/>
                      <a:r>
                        <a:rPr lang="zh-CN" altLang="en-US" dirty="0">
                          <a:latin typeface="+mj-ea"/>
                          <a:ea typeface="+mj-ea"/>
                        </a:rPr>
                        <a:t>（</a:t>
                      </a:r>
                      <a:r>
                        <a:rPr lang="en-US" altLang="zh-CN" dirty="0">
                          <a:latin typeface="+mj-ea"/>
                          <a:ea typeface="+mj-ea"/>
                        </a:rPr>
                        <a:t>2</a:t>
                      </a:r>
                      <a:r>
                        <a:rPr lang="zh-CN" altLang="en-US" dirty="0">
                          <a:latin typeface="+mj-ea"/>
                          <a:ea typeface="+mj-ea"/>
                        </a:rPr>
                        <a:t>个，</a:t>
                      </a:r>
                      <a:r>
                        <a:rPr lang="en-US" altLang="zh-CN" dirty="0">
                          <a:latin typeface="+mj-ea"/>
                          <a:ea typeface="+mj-ea"/>
                        </a:rPr>
                        <a:t>1</a:t>
                      </a:r>
                      <a:r>
                        <a:rPr lang="zh-CN" altLang="en-US" dirty="0">
                          <a:latin typeface="+mj-ea"/>
                          <a:ea typeface="+mj-ea"/>
                        </a:rPr>
                        <a:t>个与上类重合）</a:t>
                      </a:r>
                      <a:endParaRPr lang="en-US" altLang="zh-CN" dirty="0">
                        <a:latin typeface="+mj-ea"/>
                        <a:ea typeface="+mj-ea"/>
                      </a:endParaRPr>
                    </a:p>
                    <a:p>
                      <a:pPr algn="ctr"/>
                      <a:r>
                        <a:rPr lang="zh-CN" altLang="en-US" dirty="0">
                          <a:latin typeface="+mj-ea"/>
                          <a:ea typeface="+mj-ea"/>
                        </a:rPr>
                        <a:t>手相工具</a:t>
                      </a:r>
                      <a:r>
                        <a:rPr lang="en-US" altLang="zh-CN" dirty="0">
                          <a:latin typeface="+mj-ea"/>
                          <a:ea typeface="+mj-ea"/>
                        </a:rPr>
                        <a:t>APP</a:t>
                      </a:r>
                      <a:r>
                        <a:rPr lang="zh-CN" altLang="en-US" dirty="0">
                          <a:latin typeface="+mj-ea"/>
                          <a:ea typeface="+mj-ea"/>
                        </a:rPr>
                        <a:t>（</a:t>
                      </a:r>
                      <a:r>
                        <a:rPr lang="en-US" altLang="zh-CN" dirty="0">
                          <a:latin typeface="+mj-ea"/>
                          <a:ea typeface="+mj-ea"/>
                        </a:rPr>
                        <a:t>1</a:t>
                      </a:r>
                      <a:r>
                        <a:rPr lang="zh-CN" altLang="en-US" dirty="0">
                          <a:latin typeface="+mj-ea"/>
                          <a:ea typeface="+mj-ea"/>
                        </a:rPr>
                        <a:t>个）</a:t>
                      </a:r>
                      <a:endParaRPr lang="en-US" altLang="zh-CN" dirty="0">
                        <a:latin typeface="+mj-ea"/>
                        <a:ea typeface="+mj-ea"/>
                      </a:endParaRPr>
                    </a:p>
                    <a:p>
                      <a:pPr algn="ctr"/>
                      <a:r>
                        <a:rPr lang="zh-CN" altLang="en-US" dirty="0">
                          <a:latin typeface="+mj-ea"/>
                          <a:ea typeface="+mj-ea"/>
                        </a:rPr>
                        <a:t>跨境访问</a:t>
                      </a:r>
                      <a:r>
                        <a:rPr lang="en-US" altLang="zh-CN" dirty="0">
                          <a:latin typeface="+mj-ea"/>
                          <a:ea typeface="+mj-ea"/>
                        </a:rPr>
                        <a:t>APP</a:t>
                      </a:r>
                      <a:r>
                        <a:rPr lang="zh-CN" altLang="en-US" dirty="0">
                          <a:latin typeface="+mj-ea"/>
                          <a:ea typeface="+mj-ea"/>
                        </a:rPr>
                        <a:t>（</a:t>
                      </a:r>
                      <a:r>
                        <a:rPr lang="en-US" altLang="zh-CN" dirty="0">
                          <a:latin typeface="+mj-ea"/>
                          <a:ea typeface="+mj-ea"/>
                        </a:rPr>
                        <a:t>1</a:t>
                      </a:r>
                      <a:r>
                        <a:rPr lang="zh-CN" altLang="en-US" dirty="0">
                          <a:latin typeface="+mj-ea"/>
                          <a:ea typeface="+mj-ea"/>
                        </a:rPr>
                        <a:t>个）</a:t>
                      </a:r>
                      <a:endParaRPr lang="zh-CN" altLang="en-US" dirty="0">
                        <a:latin typeface="+mj-ea"/>
                        <a:ea typeface="+mj-ea"/>
                      </a:endParaRPr>
                    </a:p>
                  </a:txBody>
                  <a:tcPr anchor="ctr"/>
                </a:tc>
                <a:tc>
                  <a:txBody>
                    <a:bodyPr/>
                    <a:lstStyle/>
                    <a:p>
                      <a:pPr algn="ctr"/>
                      <a:r>
                        <a:rPr lang="zh-CN" altLang="en-US" dirty="0">
                          <a:latin typeface="+mj-ea"/>
                          <a:ea typeface="+mj-ea"/>
                        </a:rPr>
                        <a:t>记录运动状态、</a:t>
                      </a:r>
                      <a:endParaRPr lang="en-US" altLang="zh-CN" dirty="0">
                        <a:latin typeface="+mj-ea"/>
                        <a:ea typeface="+mj-ea"/>
                      </a:endParaRPr>
                    </a:p>
                    <a:p>
                      <a:pPr algn="ctr"/>
                      <a:r>
                        <a:rPr lang="zh-CN" altLang="en-US" dirty="0">
                          <a:latin typeface="+mj-ea"/>
                          <a:ea typeface="+mj-ea"/>
                        </a:rPr>
                        <a:t>推送服务通知（如友盟</a:t>
                      </a:r>
                      <a:r>
                        <a:rPr lang="en-US" altLang="zh-CN" dirty="0">
                          <a:latin typeface="+mj-ea"/>
                          <a:ea typeface="+mj-ea"/>
                        </a:rPr>
                        <a:t>SDK</a:t>
                      </a:r>
                      <a:r>
                        <a:rPr lang="zh-CN" altLang="en-US" dirty="0">
                          <a:latin typeface="+mj-ea"/>
                          <a:ea typeface="+mj-ea"/>
                        </a:rPr>
                        <a:t>）、渠道分析（如</a:t>
                      </a:r>
                      <a:r>
                        <a:rPr lang="en-US" altLang="zh-CN" dirty="0" err="1">
                          <a:latin typeface="+mj-ea"/>
                          <a:ea typeface="+mj-ea"/>
                        </a:rPr>
                        <a:t>Xinstall</a:t>
                      </a:r>
                      <a:r>
                        <a:rPr lang="en-US" altLang="zh-CN" dirty="0">
                          <a:latin typeface="+mj-ea"/>
                          <a:ea typeface="+mj-ea"/>
                        </a:rPr>
                        <a:t> SDK</a:t>
                      </a:r>
                      <a:r>
                        <a:rPr lang="zh-CN" altLang="en-US" dirty="0">
                          <a:latin typeface="+mj-ea"/>
                          <a:ea typeface="+mj-ea"/>
                        </a:rPr>
                        <a:t>）</a:t>
                      </a:r>
                      <a:endParaRPr lang="zh-CN" altLang="en-US" dirty="0">
                        <a:latin typeface="+mj-ea"/>
                        <a:ea typeface="+mj-ea"/>
                      </a:endParaRPr>
                    </a:p>
                  </a:txBody>
                  <a:tcPr anchor="ctr"/>
                </a:tc>
                <a:tc>
                  <a:txBody>
                    <a:bodyPr/>
                    <a:lstStyle/>
                    <a:p>
                      <a:pPr algn="ctr"/>
                      <a:r>
                        <a:rPr lang="zh-CN" altLang="en-US">
                          <a:latin typeface="+mj-ea"/>
                          <a:ea typeface="+mj-ea"/>
                        </a:rPr>
                        <a:t>疑似</a:t>
                      </a:r>
                      <a:r>
                        <a:rPr lang="en-US" altLang="zh-CN">
                          <a:latin typeface="+mj-ea"/>
                          <a:ea typeface="+mj-ea"/>
                        </a:rPr>
                        <a:t>1</a:t>
                      </a:r>
                      <a:r>
                        <a:rPr lang="zh-CN" altLang="en-US">
                          <a:latin typeface="+mj-ea"/>
                          <a:ea typeface="+mj-ea"/>
                        </a:rPr>
                        <a:t>个存在恶意行为</a:t>
                      </a:r>
                      <a:endParaRPr lang="zh-CN" altLang="en-US">
                        <a:latin typeface="+mj-ea"/>
                        <a:ea typeface="+mj-ea"/>
                      </a:endParaRPr>
                    </a:p>
                  </a:txBody>
                  <a:tcPr anchor="ctr"/>
                </a:tc>
              </a:tr>
              <a:tr h="0">
                <a:tc>
                  <a:txBody>
                    <a:bodyPr/>
                    <a:lstStyle/>
                    <a:p>
                      <a:pPr algn="ctr"/>
                      <a:r>
                        <a:rPr lang="zh-CN" altLang="en-US" dirty="0">
                          <a:latin typeface="+mj-ea"/>
                          <a:ea typeface="+mj-ea"/>
                        </a:rPr>
                        <a:t>灰色前台</a:t>
                      </a:r>
                      <a:r>
                        <a:rPr lang="en-US" dirty="0">
                          <a:latin typeface="+mj-ea"/>
                          <a:ea typeface="+mj-ea"/>
                        </a:rPr>
                        <a:t>Service</a:t>
                      </a:r>
                      <a:endParaRPr lang="zh-CN" altLang="en-US" dirty="0">
                        <a:latin typeface="+mj-ea"/>
                        <a:ea typeface="+mj-ea"/>
                      </a:endParaRPr>
                    </a:p>
                  </a:txBody>
                  <a:tcPr anchor="ctr"/>
                </a:tc>
                <a:tc>
                  <a:txBody>
                    <a:bodyPr/>
                    <a:lstStyle/>
                    <a:p>
                      <a:pPr algn="ctr"/>
                      <a:r>
                        <a:rPr lang="en-US" altLang="zh-CN">
                          <a:latin typeface="+mj-ea"/>
                          <a:ea typeface="+mj-ea"/>
                        </a:rPr>
                        <a:t>5</a:t>
                      </a:r>
                      <a:endParaRPr lang="en-US" altLang="zh-CN">
                        <a:latin typeface="+mj-ea"/>
                        <a:ea typeface="+mj-ea"/>
                      </a:endParaRPr>
                    </a:p>
                  </a:txBody>
                  <a:tcPr anchor="ctr"/>
                </a:tc>
                <a:tc>
                  <a:txBody>
                    <a:bodyPr/>
                    <a:lstStyle/>
                    <a:p>
                      <a:pPr algn="ctr"/>
                      <a:r>
                        <a:rPr lang="zh-CN" altLang="en-US" dirty="0">
                          <a:latin typeface="+mj-ea"/>
                          <a:ea typeface="+mj-ea"/>
                        </a:rPr>
                        <a:t>监控</a:t>
                      </a:r>
                      <a:r>
                        <a:rPr lang="en-US" altLang="zh-CN" dirty="0">
                          <a:latin typeface="+mj-ea"/>
                          <a:ea typeface="+mj-ea"/>
                        </a:rPr>
                        <a:t>APP</a:t>
                      </a:r>
                      <a:r>
                        <a:rPr lang="zh-CN" altLang="en-US" dirty="0">
                          <a:latin typeface="+mj-ea"/>
                          <a:ea typeface="+mj-ea"/>
                        </a:rPr>
                        <a:t>、外卖</a:t>
                      </a:r>
                      <a:r>
                        <a:rPr lang="en-US" altLang="zh-CN" dirty="0">
                          <a:latin typeface="+mj-ea"/>
                          <a:ea typeface="+mj-ea"/>
                        </a:rPr>
                        <a:t>APP</a:t>
                      </a:r>
                      <a:r>
                        <a:rPr lang="zh-CN" altLang="en-US" dirty="0">
                          <a:latin typeface="+mj-ea"/>
                          <a:ea typeface="+mj-ea"/>
                        </a:rPr>
                        <a:t>、</a:t>
                      </a:r>
                      <a:endParaRPr lang="en-US" altLang="zh-CN" dirty="0">
                        <a:latin typeface="+mj-ea"/>
                        <a:ea typeface="+mj-ea"/>
                      </a:endParaRPr>
                    </a:p>
                    <a:p>
                      <a:pPr algn="ctr"/>
                      <a:r>
                        <a:rPr lang="zh-CN" altLang="en-US" dirty="0">
                          <a:latin typeface="+mj-ea"/>
                          <a:ea typeface="+mj-ea"/>
                        </a:rPr>
                        <a:t>锁屏</a:t>
                      </a:r>
                      <a:r>
                        <a:rPr lang="en-US" altLang="zh-CN" dirty="0">
                          <a:latin typeface="+mj-ea"/>
                          <a:ea typeface="+mj-ea"/>
                        </a:rPr>
                        <a:t>APP</a:t>
                      </a:r>
                      <a:r>
                        <a:rPr lang="zh-CN" altLang="en-US" dirty="0">
                          <a:latin typeface="+mj-ea"/>
                          <a:ea typeface="+mj-ea"/>
                        </a:rPr>
                        <a:t>、应用克隆</a:t>
                      </a:r>
                      <a:r>
                        <a:rPr lang="en-US" altLang="zh-CN" dirty="0">
                          <a:latin typeface="+mj-ea"/>
                          <a:ea typeface="+mj-ea"/>
                        </a:rPr>
                        <a:t>APP</a:t>
                      </a:r>
                      <a:r>
                        <a:rPr lang="zh-CN" altLang="en-US" dirty="0">
                          <a:latin typeface="+mj-ea"/>
                          <a:ea typeface="+mj-ea"/>
                        </a:rPr>
                        <a:t>、找物</a:t>
                      </a:r>
                      <a:r>
                        <a:rPr lang="en-US" altLang="zh-CN" dirty="0">
                          <a:latin typeface="+mj-ea"/>
                          <a:ea typeface="+mj-ea"/>
                        </a:rPr>
                        <a:t>APP</a:t>
                      </a:r>
                      <a:endParaRPr lang="en-US" altLang="zh-CN" dirty="0">
                        <a:latin typeface="+mj-ea"/>
                        <a:ea typeface="+mj-ea"/>
                      </a:endParaRPr>
                    </a:p>
                  </a:txBody>
                  <a:tcPr anchor="ctr"/>
                </a:tc>
                <a:tc>
                  <a:txBody>
                    <a:bodyPr/>
                    <a:lstStyle/>
                    <a:p>
                      <a:pPr algn="ctr"/>
                      <a:r>
                        <a:rPr lang="zh-CN" altLang="en-US" dirty="0">
                          <a:latin typeface="+mj-ea"/>
                          <a:ea typeface="+mj-ea"/>
                        </a:rPr>
                        <a:t>推送安防告警、支持热更新、壁纸更换、虚拟环境维持、蓝牙近场导航</a:t>
                      </a:r>
                      <a:endParaRPr lang="zh-CN" altLang="en-US" dirty="0">
                        <a:latin typeface="+mj-ea"/>
                        <a:ea typeface="+mj-ea"/>
                      </a:endParaRPr>
                    </a:p>
                  </a:txBody>
                  <a:tcPr anchor="ctr"/>
                </a:tc>
                <a:tc>
                  <a:txBody>
                    <a:bodyPr/>
                    <a:lstStyle/>
                    <a:p>
                      <a:pPr algn="ctr"/>
                      <a:r>
                        <a:rPr lang="zh-CN" altLang="en-US" dirty="0">
                          <a:latin typeface="+mj-ea"/>
                          <a:ea typeface="+mj-ea"/>
                        </a:rPr>
                        <a:t>否</a:t>
                      </a:r>
                      <a:endParaRPr lang="zh-CN" altLang="en-US" dirty="0">
                        <a:latin typeface="+mj-ea"/>
                        <a:ea typeface="+mj-ea"/>
                      </a:endParaRPr>
                    </a:p>
                  </a:txBody>
                  <a:tcPr anchor="ctr"/>
                </a:tc>
              </a:tr>
            </a:tbl>
          </a:graphicData>
        </a:graphic>
      </p:graphicFrame>
      <p:sp>
        <p:nvSpPr>
          <p:cNvPr id="6" name="文本框 5"/>
          <p:cNvSpPr txBox="1"/>
          <p:nvPr/>
        </p:nvSpPr>
        <p:spPr>
          <a:xfrm>
            <a:off x="1847528" y="5914472"/>
            <a:ext cx="8496944" cy="943528"/>
          </a:xfrm>
          <a:prstGeom prst="rect">
            <a:avLst/>
          </a:prstGeom>
          <a:noFill/>
        </p:spPr>
        <p:txBody>
          <a:bodyPr wrap="square">
            <a:spAutoFit/>
          </a:bodyPr>
          <a:lstStyle/>
          <a:p>
            <a:pPr marL="0" marR="0" algn="just">
              <a:lnSpc>
                <a:spcPct val="150000"/>
              </a:lnSpc>
            </a:pPr>
            <a:r>
              <a:rPr lang="zh-CN" altLang="en-US" sz="2000" b="1" kern="100" dirty="0">
                <a:effectLst/>
                <a:latin typeface="仿宋" panose="02010609060101010101" pitchFamily="49" charset="-122"/>
                <a:ea typeface="仿宋" panose="02010609060101010101" pitchFamily="49" charset="-122"/>
                <a:cs typeface="Times New Roman" panose="02020603050405020304" pitchFamily="18" charset="0"/>
              </a:rPr>
              <a:t>总体而言，在野的</a:t>
            </a:r>
            <a:r>
              <a:rPr lang="en-US" altLang="zh-CN" sz="2000" b="1" kern="100" dirty="0">
                <a:effectLst/>
                <a:latin typeface="仿宋" panose="02010609060101010101" pitchFamily="49" charset="-122"/>
                <a:ea typeface="仿宋" panose="02010609060101010101" pitchFamily="49" charset="-122"/>
                <a:cs typeface="Times New Roman" panose="02020603050405020304" pitchFamily="18" charset="0"/>
              </a:rPr>
              <a:t>APP</a:t>
            </a:r>
            <a:r>
              <a:rPr lang="zh-CN" altLang="en-US" sz="2000" b="1" kern="100" dirty="0">
                <a:effectLst/>
                <a:latin typeface="仿宋" panose="02010609060101010101" pitchFamily="49" charset="-122"/>
                <a:ea typeface="仿宋" panose="02010609060101010101" pitchFamily="49" charset="-122"/>
                <a:cs typeface="Times New Roman" panose="02020603050405020304" pitchFamily="18" charset="0"/>
              </a:rPr>
              <a:t>使用保活行为，大部分都是在业务范围内的合理使用，个别可能存在恶意行为，需要进行更加严格的合规性审查。</a:t>
            </a:r>
            <a:endParaRPr lang="zh-CN" altLang="en-US" sz="2000" b="1" kern="100" dirty="0">
              <a:effectLst/>
              <a:latin typeface="仿宋" panose="02010609060101010101" pitchFamily="49" charset="-122"/>
              <a:ea typeface="仿宋"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9944" y="269411"/>
            <a:ext cx="864096" cy="1008063"/>
          </a:xfrm>
        </p:spPr>
        <p:txBody>
          <a:bodyPr/>
          <a:lstStyle/>
          <a:p>
            <a:r>
              <a:rPr lang="en-US" altLang="zh-CN" dirty="0"/>
              <a:t>5</a:t>
            </a:r>
            <a:endParaRPr lang="zh-CN" altLang="en-US" dirty="0"/>
          </a:p>
        </p:txBody>
      </p:sp>
      <p:sp>
        <p:nvSpPr>
          <p:cNvPr id="3" name="文本占位符 2"/>
          <p:cNvSpPr>
            <a:spLocks noGrp="1"/>
          </p:cNvSpPr>
          <p:nvPr>
            <p:ph type="body" sz="quarter" idx="12"/>
          </p:nvPr>
        </p:nvSpPr>
        <p:spPr>
          <a:xfrm>
            <a:off x="1437591" y="348250"/>
            <a:ext cx="9468473" cy="496824"/>
          </a:xfrm>
        </p:spPr>
        <p:txBody>
          <a:bodyPr/>
          <a:lstStyle/>
          <a:p>
            <a:pPr fontAlgn="base"/>
            <a:r>
              <a:rPr lang="zh-CN" altLang="en-US" b="1" dirty="0"/>
              <a:t>总结与展望</a:t>
            </a:r>
            <a:endParaRPr lang="en-US" altLang="zh-CN" b="1" dirty="0"/>
          </a:p>
        </p:txBody>
      </p:sp>
      <p:sp>
        <p:nvSpPr>
          <p:cNvPr id="10" name="文本框 9"/>
          <p:cNvSpPr txBox="1"/>
          <p:nvPr/>
        </p:nvSpPr>
        <p:spPr>
          <a:xfrm>
            <a:off x="541327" y="1139585"/>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rPr>
              <a:t>创新与贡献</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11" name="不完整圆 10"/>
          <p:cNvSpPr/>
          <p:nvPr/>
        </p:nvSpPr>
        <p:spPr>
          <a:xfrm>
            <a:off x="263352" y="1285779"/>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16" name="文本框 15"/>
          <p:cNvSpPr txBox="1"/>
          <p:nvPr/>
        </p:nvSpPr>
        <p:spPr>
          <a:xfrm>
            <a:off x="263352" y="1601250"/>
            <a:ext cx="11737304" cy="2346283"/>
          </a:xfrm>
          <a:prstGeom prst="rect">
            <a:avLst/>
          </a:prstGeom>
          <a:noFill/>
        </p:spPr>
        <p:txBody>
          <a:bodyPr wrap="square">
            <a:sp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本课题创新与贡献如下：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构建了一个</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基于层级函数调用图的保活行为检测与分析理解框架</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，对三种保活行为进行规模化的实证研究，为行业监管提供参考；</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提出了一种以类名（</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ClassName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）为层级的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函数调用图抽取算法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，能从庞大的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函数调用图中精确定位特定行为相关代码及其上下文。</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541327" y="4024809"/>
            <a:ext cx="987515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1" lang="zh-CN" altLang="en-US" sz="2800" b="1" dirty="0">
                <a:solidFill>
                  <a:schemeClr val="accent1"/>
                </a:solidFill>
                <a:latin typeface="华文楷体" panose="02010600040101010101" pitchFamily="2" charset="-122"/>
                <a:ea typeface="华文楷体" panose="02010600040101010101" pitchFamily="2" charset="-122"/>
                <a:sym typeface="思源黑体 CN Bold" panose="02010600030101010101" pitchFamily="34" charset="-122"/>
              </a:rPr>
              <a:t>不足与展望</a:t>
            </a:r>
            <a:endParaRPr kumimoji="1" lang="zh-CN" altLang="en-US" sz="2800" b="1" noProof="0" dirty="0">
              <a:ln>
                <a:noFill/>
              </a:ln>
              <a:solidFill>
                <a:schemeClr val="accent1"/>
              </a:solidFill>
              <a:effectLst/>
              <a:uLnTx/>
              <a:uFillTx/>
              <a:latin typeface="华文楷体" panose="02010600040101010101" pitchFamily="2" charset="-122"/>
              <a:ea typeface="华文楷体" panose="02010600040101010101" pitchFamily="2" charset="-122"/>
              <a:sym typeface="思源黑体 CN Bold" panose="02010600030101010101" pitchFamily="34" charset="-122"/>
            </a:endParaRPr>
          </a:p>
        </p:txBody>
      </p:sp>
      <p:sp>
        <p:nvSpPr>
          <p:cNvPr id="7" name="不完整圆 6"/>
          <p:cNvSpPr/>
          <p:nvPr/>
        </p:nvSpPr>
        <p:spPr>
          <a:xfrm>
            <a:off x="263352" y="4171003"/>
            <a:ext cx="230833" cy="230833"/>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latin typeface="思源黑体 CN Bold" panose="02010600030101010101" pitchFamily="34" charset="-122"/>
              <a:ea typeface="思源黑体 CN Bold" panose="02010600030101010101" pitchFamily="34" charset="-122"/>
              <a:sym typeface="思源黑体 CN Bold" panose="02010600030101010101" pitchFamily="34" charset="-122"/>
            </a:endParaRPr>
          </a:p>
        </p:txBody>
      </p:sp>
      <p:sp>
        <p:nvSpPr>
          <p:cNvPr id="4" name="文本框 3"/>
          <p:cNvSpPr txBox="1"/>
          <p:nvPr/>
        </p:nvSpPr>
        <p:spPr>
          <a:xfrm>
            <a:off x="263352" y="4553833"/>
            <a:ext cx="11737304" cy="1884618"/>
          </a:xfrm>
          <a:prstGeom prst="rect">
            <a:avLst/>
          </a:prstGeom>
          <a:noFill/>
        </p:spPr>
        <p:txBody>
          <a:bodyPr wrap="square">
            <a:sp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本课题仍然存在一定不足，并期望在课题后续的深入研究中进行完善：</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无法分析带壳</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APK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，未来期望可以研究加入对抗加壳技术的方法，以提升对加壳应用的检测能力；</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检测</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范围覆盖有一定局限性</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未来期望持续跟踪新型保活手段，以扩展可检测保活行为范围；</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大模型理解能力需要优化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，未来需要探索更多的方法以优化大模型的理解能力。提升检测精度。</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39416" y="260648"/>
            <a:ext cx="1019048" cy="771429"/>
          </a:xfrm>
          <a:prstGeom prst="rect">
            <a:avLst/>
          </a:prstGeom>
        </p:spPr>
      </p:pic>
      <p:sp>
        <p:nvSpPr>
          <p:cNvPr id="5" name="文本框 4"/>
          <p:cNvSpPr txBox="1"/>
          <p:nvPr/>
        </p:nvSpPr>
        <p:spPr>
          <a:xfrm>
            <a:off x="1703512" y="2708920"/>
            <a:ext cx="8784976" cy="2308324"/>
          </a:xfrm>
          <a:prstGeom prst="rect">
            <a:avLst/>
          </a:prstGeom>
          <a:noFill/>
        </p:spPr>
        <p:txBody>
          <a:bodyPr wrap="square" rtlCol="0">
            <a:spAutoFit/>
          </a:bodyPr>
          <a:lstStyle/>
          <a:p>
            <a:pPr algn="ctr"/>
            <a:r>
              <a:rPr lang="zh-CN" altLang="en-US" sz="7200" dirty="0">
                <a:latin typeface="+mj-ea"/>
                <a:ea typeface="+mj-ea"/>
              </a:rPr>
              <a:t>汇报结束</a:t>
            </a:r>
            <a:endParaRPr lang="en-US" altLang="zh-CN" sz="7200" dirty="0">
              <a:latin typeface="+mj-ea"/>
              <a:ea typeface="+mj-ea"/>
            </a:endParaRPr>
          </a:p>
          <a:p>
            <a:pPr algn="ctr"/>
            <a:r>
              <a:rPr lang="zh-CN" altLang="en-US" sz="7200" dirty="0">
                <a:latin typeface="+mj-ea"/>
                <a:ea typeface="+mj-ea"/>
              </a:rPr>
              <a:t>请各位老师批评指正！</a:t>
            </a:r>
            <a:endParaRPr lang="zh-CN" altLang="en-US" sz="7200" dirty="0">
              <a:latin typeface="+mj-ea"/>
              <a:ea typeface="+mj-ea"/>
            </a:endParaRPr>
          </a:p>
        </p:txBody>
      </p:sp>
    </p:spTree>
  </p:cSld>
  <p:clrMapOvr>
    <a:masterClrMapping/>
  </p:clrMapOvr>
</p:sld>
</file>

<file path=ppt/theme/theme1.xml><?xml version="1.0" encoding="utf-8"?>
<a:theme xmlns:a="http://schemas.openxmlformats.org/drawingml/2006/main" name="Office 主题">
  <a:themeElements>
    <a:clrScheme name="自定义 2">
      <a:dk1>
        <a:srgbClr val="20517C"/>
      </a:dk1>
      <a:lt1>
        <a:srgbClr val="FFFFFF"/>
      </a:lt1>
      <a:dk2>
        <a:srgbClr val="20517C"/>
      </a:dk2>
      <a:lt2>
        <a:srgbClr val="FFFFFF"/>
      </a:lt2>
      <a:accent1>
        <a:srgbClr val="20517C"/>
      </a:accent1>
      <a:accent2>
        <a:srgbClr val="FFFFFF"/>
      </a:accent2>
      <a:accent3>
        <a:srgbClr val="A5A5A5"/>
      </a:accent3>
      <a:accent4>
        <a:srgbClr val="FFC000"/>
      </a:accent4>
      <a:accent5>
        <a:srgbClr val="4472C4"/>
      </a:accent5>
      <a:accent6>
        <a:srgbClr val="70AD47"/>
      </a:accent6>
      <a:hlink>
        <a:srgbClr val="0563C1"/>
      </a:hlink>
      <a:folHlink>
        <a:srgbClr val="954F72"/>
      </a:folHlink>
    </a:clrScheme>
    <a:fontScheme name="论文答辩主题字体">
      <a:majorFont>
        <a:latin typeface="华文细黑"/>
        <a:ea typeface="微软雅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7203</Words>
  <Application>WPS 演示</Application>
  <PresentationFormat>宽屏</PresentationFormat>
  <Paragraphs>692</Paragraphs>
  <Slides>23</Slides>
  <Notes>23</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23</vt:i4>
      </vt:variant>
    </vt:vector>
  </HeadingPairs>
  <TitlesOfParts>
    <vt:vector size="44" baseType="lpstr">
      <vt:lpstr>Arial</vt:lpstr>
      <vt:lpstr>宋体</vt:lpstr>
      <vt:lpstr>Wingdings</vt:lpstr>
      <vt:lpstr>微软雅黑</vt:lpstr>
      <vt:lpstr>华文细黑</vt:lpstr>
      <vt:lpstr>华文楷体</vt:lpstr>
      <vt:lpstr>Verdana</vt:lpstr>
      <vt:lpstr>楷体</vt:lpstr>
      <vt:lpstr>黑体</vt:lpstr>
      <vt:lpstr>思源黑体 CN Bold</vt:lpstr>
      <vt:lpstr>华文隶书</vt:lpstr>
      <vt:lpstr>仿宋</vt:lpstr>
      <vt:lpstr>华文仿宋</vt:lpstr>
      <vt:lpstr>Times New Roman</vt:lpstr>
      <vt:lpstr>Arial Unicode MS</vt:lpstr>
      <vt:lpstr>Calibri</vt:lpstr>
      <vt:lpstr>JetBrains Mono</vt:lpstr>
      <vt:lpstr>Cambria Math</vt:lpstr>
      <vt:lpstr>华文宋体</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@小川PPT</dc:creator>
  <cp:lastModifiedBy>畅想未来</cp:lastModifiedBy>
  <cp:revision>97</cp:revision>
  <dcterms:created xsi:type="dcterms:W3CDTF">2024-11-14T13:02:00Z</dcterms:created>
  <dcterms:modified xsi:type="dcterms:W3CDTF">2025-05-20T03:24:14Z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2052-11.8.2.11718</vt:lpwstr>
  </property>
  <property fmtid="{D5CDD505-2E9C-101B-9397-08002B2CF9AE}" pid="3" name="ICV">
    <vt:lpwstr>3A67B16B44F742C4B99DE2924A7641E8</vt:lpwstr>
  </property>
</Properties>
</file>